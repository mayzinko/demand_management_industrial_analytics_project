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275" r:id="rId2"/>
    <p:sldId id="298" r:id="rId3"/>
    <p:sldId id="299" r:id="rId4"/>
    <p:sldId id="306" r:id="rId5"/>
    <p:sldId id="258" r:id="rId6"/>
    <p:sldId id="259" r:id="rId7"/>
    <p:sldId id="260" r:id="rId8"/>
    <p:sldId id="300" r:id="rId9"/>
    <p:sldId id="261" r:id="rId10"/>
    <p:sldId id="262" r:id="rId11"/>
    <p:sldId id="310" r:id="rId12"/>
    <p:sldId id="277" r:id="rId13"/>
    <p:sldId id="278" r:id="rId14"/>
    <p:sldId id="311" r:id="rId15"/>
    <p:sldId id="312" r:id="rId16"/>
    <p:sldId id="313" r:id="rId17"/>
    <p:sldId id="263" r:id="rId18"/>
    <p:sldId id="305" r:id="rId19"/>
    <p:sldId id="264" r:id="rId20"/>
    <p:sldId id="279" r:id="rId21"/>
    <p:sldId id="280" r:id="rId22"/>
    <p:sldId id="265" r:id="rId23"/>
    <p:sldId id="281" r:id="rId24"/>
    <p:sldId id="282" r:id="rId25"/>
    <p:sldId id="283" r:id="rId26"/>
    <p:sldId id="284" r:id="rId27"/>
    <p:sldId id="285" r:id="rId28"/>
    <p:sldId id="286" r:id="rId29"/>
    <p:sldId id="301" r:id="rId30"/>
    <p:sldId id="266" r:id="rId31"/>
    <p:sldId id="289" r:id="rId32"/>
    <p:sldId id="307" r:id="rId33"/>
    <p:sldId id="288" r:id="rId34"/>
    <p:sldId id="268" r:id="rId35"/>
    <p:sldId id="269" r:id="rId36"/>
    <p:sldId id="292" r:id="rId37"/>
    <p:sldId id="294" r:id="rId38"/>
    <p:sldId id="293" r:id="rId39"/>
    <p:sldId id="295" r:id="rId40"/>
    <p:sldId id="302" r:id="rId41"/>
    <p:sldId id="270" r:id="rId42"/>
    <p:sldId id="271" r:id="rId43"/>
    <p:sldId id="296" r:id="rId44"/>
    <p:sldId id="303" r:id="rId45"/>
    <p:sldId id="272" r:id="rId46"/>
    <p:sldId id="304" r:id="rId4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47"/>
    <p:restoredTop sz="86915"/>
  </p:normalViewPr>
  <p:slideViewPr>
    <p:cSldViewPr snapToGrid="0" snapToObjects="1">
      <p:cViewPr varScale="1">
        <p:scale>
          <a:sx n="109" d="100"/>
          <a:sy n="109" d="100"/>
        </p:scale>
        <p:origin x="1496" y="184"/>
      </p:cViewPr>
      <p:guideLst>
        <p:guide orient="horz" pos="2160"/>
        <p:guide pos="2880"/>
      </p:guideLst>
    </p:cSldViewPr>
  </p:slideViewPr>
  <p:notesTextViewPr>
    <p:cViewPr>
      <p:scale>
        <a:sx n="100" d="100"/>
        <a:sy n="100" d="100"/>
      </p:scale>
      <p:origin x="0" y="-528"/>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5B8B0D-514F-4A49-987F-B3CEE64741CC}" type="datetimeFigureOut">
              <a:rPr lang="en-DE" smtClean="0"/>
              <a:t>07.05.26</a:t>
            </a:fld>
            <a:endParaRPr lang="en-DE"/>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8B4316-0571-C34A-907E-71E40496A919}" type="slidenum">
              <a:rPr lang="en-DE" smtClean="0"/>
              <a:t>‹#›</a:t>
            </a:fld>
            <a:endParaRPr lang="en-DE"/>
          </a:p>
        </p:txBody>
      </p:sp>
    </p:spTree>
    <p:extLst>
      <p:ext uri="{BB962C8B-B14F-4D97-AF65-F5344CB8AC3E}">
        <p14:creationId xmlns:p14="http://schemas.microsoft.com/office/powerpoint/2010/main" val="1221161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"Good morning. Our project is titled Demand Management Using Historical Product Demand Data.</a:t>
            </a:r>
          </a:p>
          <a:p>
            <a:r>
              <a:rPr lang="en-GB" dirty="0"/>
              <a:t>The core idea is simple — can we use past order data to predict future demand more accurately, so that warehouses can plan inventory better and avoid both stockouts and overstock situations.</a:t>
            </a:r>
          </a:p>
          <a:p>
            <a:r>
              <a:rPr lang="en-GB" dirty="0"/>
              <a:t>My name is ??? , presenting together with Louis ???  and </a:t>
            </a:r>
            <a:r>
              <a:rPr lang="en-GB" dirty="0" err="1"/>
              <a:t>Nashitah</a:t>
            </a:r>
            <a:r>
              <a:rPr lang="en-GB" dirty="0"/>
              <a:t> ?? (May??)."</a:t>
            </a:r>
          </a:p>
          <a:p>
            <a:endParaRPr lang="en-DE" dirty="0"/>
          </a:p>
        </p:txBody>
      </p:sp>
      <p:sp>
        <p:nvSpPr>
          <p:cNvPr id="4" name="Slide Number Placeholder 3"/>
          <p:cNvSpPr>
            <a:spLocks noGrp="1"/>
          </p:cNvSpPr>
          <p:nvPr>
            <p:ph type="sldNum" sz="quarter" idx="5"/>
          </p:nvPr>
        </p:nvSpPr>
        <p:spPr/>
        <p:txBody>
          <a:bodyPr/>
          <a:lstStyle/>
          <a:p>
            <a:fld id="{FD8B4316-0571-C34A-907E-71E40496A919}" type="slidenum">
              <a:rPr lang="en-DE" smtClean="0"/>
              <a:t>1</a:t>
            </a:fld>
            <a:endParaRPr lang="en-DE"/>
          </a:p>
        </p:txBody>
      </p:sp>
    </p:spTree>
    <p:extLst>
      <p:ext uri="{BB962C8B-B14F-4D97-AF65-F5344CB8AC3E}">
        <p14:creationId xmlns:p14="http://schemas.microsoft.com/office/powerpoint/2010/main" val="3474700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"Good morning everyone. My name is ???? and I am responsible for the Dataset part of this project.</a:t>
            </a:r>
          </a:p>
          <a:p>
            <a:r>
              <a:rPr lang="en-GB" dirty="0"/>
              <a:t>Let me quickly walk you through what I will cover today.</a:t>
            </a:r>
          </a:p>
          <a:p>
            <a:r>
              <a:rPr lang="en-GB" dirty="0"/>
              <a:t>I will start with a brief overview of the dataset — its structure and key features. Then I will explain how we understood and prepared the data — including cleaning steps. After that I will show the analysis findings — demand trends, warehouse </a:t>
            </a:r>
            <a:r>
              <a:rPr lang="en-GB" dirty="0" err="1"/>
              <a:t>behavior</a:t>
            </a:r>
            <a:r>
              <a:rPr lang="en-GB" dirty="0"/>
              <a:t>, and stationarity testing.</a:t>
            </a:r>
          </a:p>
          <a:p>
            <a:r>
              <a:rPr lang="en-GB" dirty="0"/>
              <a:t>Finally I will give a short overview of the ML algorithms we considered for this dataset.</a:t>
            </a:r>
          </a:p>
          <a:p>
            <a:r>
              <a:rPr lang="en-GB" dirty="0"/>
              <a:t>Let's begin."</a:t>
            </a:r>
          </a:p>
          <a:p>
            <a:endParaRPr lang="en-DE" dirty="0"/>
          </a:p>
        </p:txBody>
      </p:sp>
      <p:sp>
        <p:nvSpPr>
          <p:cNvPr id="4" name="Slide Number Placeholder 3"/>
          <p:cNvSpPr>
            <a:spLocks noGrp="1"/>
          </p:cNvSpPr>
          <p:nvPr>
            <p:ph type="sldNum" sz="quarter" idx="5"/>
          </p:nvPr>
        </p:nvSpPr>
        <p:spPr/>
        <p:txBody>
          <a:bodyPr/>
          <a:lstStyle/>
          <a:p>
            <a:fld id="{FD8B4316-0571-C34A-907E-71E40496A919}" type="slidenum">
              <a:rPr lang="en-DE" smtClean="0"/>
              <a:t>2</a:t>
            </a:fld>
            <a:endParaRPr lang="en-DE"/>
          </a:p>
        </p:txBody>
      </p:sp>
    </p:spTree>
    <p:extLst>
      <p:ext uri="{BB962C8B-B14F-4D97-AF65-F5344CB8AC3E}">
        <p14:creationId xmlns:p14="http://schemas.microsoft.com/office/powerpoint/2010/main" val="12498995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core business problem we are trying to solve comes down to three questions.</a:t>
            </a:r>
          </a:p>
          <a:p>
            <a:r>
              <a:rPr lang="en-GB" dirty="0"/>
              <a:t>How many products should we produce? When should we stock them? And where should we store them?</a:t>
            </a:r>
          </a:p>
          <a:p>
            <a:r>
              <a:rPr lang="en-GB" dirty="0"/>
              <a:t>These are classic inventory planning challenges. If you produce too much — you waste storage space and money. If you produce too little — you run out of stock and lose customers.</a:t>
            </a:r>
          </a:p>
          <a:p>
            <a:r>
              <a:rPr lang="en-GB" dirty="0"/>
              <a:t>Our scope is to </a:t>
            </a:r>
            <a:r>
              <a:rPr lang="en-GB" dirty="0" err="1"/>
              <a:t>analyze</a:t>
            </a:r>
            <a:r>
              <a:rPr lang="en-GB" dirty="0"/>
              <a:t> demand patterns by product category across four central warehouses, and use that historical data to build forecasting models that help answer these questions more accurately."</a:t>
            </a:r>
          </a:p>
          <a:p>
            <a:endParaRPr lang="en-DE" dirty="0"/>
          </a:p>
        </p:txBody>
      </p:sp>
      <p:sp>
        <p:nvSpPr>
          <p:cNvPr id="4" name="Slide Number Placeholder 3"/>
          <p:cNvSpPr>
            <a:spLocks noGrp="1"/>
          </p:cNvSpPr>
          <p:nvPr>
            <p:ph type="sldNum" sz="quarter" idx="5"/>
          </p:nvPr>
        </p:nvSpPr>
        <p:spPr/>
        <p:txBody>
          <a:bodyPr/>
          <a:lstStyle/>
          <a:p>
            <a:fld id="{FD8B4316-0571-C34A-907E-71E40496A919}" type="slidenum">
              <a:rPr lang="en-DE" smtClean="0"/>
              <a:t>4</a:t>
            </a:fld>
            <a:endParaRPr lang="en-DE"/>
          </a:p>
        </p:txBody>
      </p:sp>
    </p:spTree>
    <p:extLst>
      <p:ext uri="{BB962C8B-B14F-4D97-AF65-F5344CB8AC3E}">
        <p14:creationId xmlns:p14="http://schemas.microsoft.com/office/powerpoint/2010/main" val="13148809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"Our project has four main objectives.</a:t>
            </a:r>
          </a:p>
          <a:p>
            <a:r>
              <a:rPr lang="en-GB" dirty="0"/>
              <a:t>First — </a:t>
            </a:r>
            <a:r>
              <a:rPr lang="en-GB" dirty="0" err="1"/>
              <a:t>analyze</a:t>
            </a:r>
            <a:r>
              <a:rPr lang="en-GB" dirty="0"/>
              <a:t> historical demand patterns across all four warehouses and product categories.</a:t>
            </a:r>
          </a:p>
          <a:p>
            <a:r>
              <a:rPr lang="en-GB" dirty="0"/>
              <a:t>Second — identify demand </a:t>
            </a:r>
            <a:r>
              <a:rPr lang="en-GB" dirty="0" err="1"/>
              <a:t>behavior</a:t>
            </a:r>
            <a:r>
              <a:rPr lang="en-GB" dirty="0"/>
              <a:t>, meaning understanding how demand changes over time, whether it trends up, down, or stays stable.</a:t>
            </a:r>
          </a:p>
          <a:p>
            <a:r>
              <a:rPr lang="en-GB" dirty="0"/>
              <a:t>Third — use these insights to support better replenishment decisions, so warehouses know when to reorder before stock runs out.</a:t>
            </a:r>
          </a:p>
          <a:p>
            <a:r>
              <a:rPr lang="en-GB" dirty="0"/>
              <a:t>And fourth — ultimately improve inventory planning by turning raw data into actionable demand forecasts.</a:t>
            </a:r>
          </a:p>
          <a:p>
            <a:r>
              <a:rPr lang="en-GB" dirty="0"/>
              <a:t>All four objectives connect together — you </a:t>
            </a:r>
            <a:r>
              <a:rPr lang="en-GB" dirty="0" err="1"/>
              <a:t>analyze</a:t>
            </a:r>
            <a:r>
              <a:rPr lang="en-GB" dirty="0"/>
              <a:t> first, then understand, then decide, then plan better."</a:t>
            </a:r>
          </a:p>
          <a:p>
            <a:endParaRPr lang="en-DE" dirty="0"/>
          </a:p>
        </p:txBody>
      </p:sp>
      <p:sp>
        <p:nvSpPr>
          <p:cNvPr id="4" name="Slide Number Placeholder 3"/>
          <p:cNvSpPr>
            <a:spLocks noGrp="1"/>
          </p:cNvSpPr>
          <p:nvPr>
            <p:ph type="sldNum" sz="quarter" idx="5"/>
          </p:nvPr>
        </p:nvSpPr>
        <p:spPr/>
        <p:txBody>
          <a:bodyPr/>
          <a:lstStyle/>
          <a:p>
            <a:fld id="{FD8B4316-0571-C34A-907E-71E40496A919}" type="slidenum">
              <a:rPr lang="en-DE" smtClean="0"/>
              <a:t>5</a:t>
            </a:fld>
            <a:endParaRPr lang="en-DE"/>
          </a:p>
        </p:txBody>
      </p:sp>
    </p:spTree>
    <p:extLst>
      <p:ext uri="{BB962C8B-B14F-4D97-AF65-F5344CB8AC3E}">
        <p14:creationId xmlns:p14="http://schemas.microsoft.com/office/powerpoint/2010/main" val="35784629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shows our project timeline from start to finish.</a:t>
            </a:r>
          </a:p>
          <a:p>
            <a:r>
              <a:rPr lang="en-GB" dirty="0"/>
              <a:t>We started with Business and Data Understanding in late March, followed by Data Preparation through April. We are currently in the Descriptive Analysis phase — which is exactly what today's milestone presentation covers.</a:t>
            </a:r>
          </a:p>
          <a:p>
            <a:r>
              <a:rPr lang="en-GB" dirty="0"/>
              <a:t>After today, we move into Modelling from May 7th, then Evaluation, and finally Finalization with the Final Presentation on June 25th and PDF submission on July 2nd.</a:t>
            </a:r>
          </a:p>
          <a:p>
            <a:r>
              <a:rPr lang="en-GB" dirty="0"/>
              <a:t>So today — May 7th — is our first major milestone. We are right on schedule."</a:t>
            </a:r>
          </a:p>
          <a:p>
            <a:endParaRPr lang="en-DE" dirty="0"/>
          </a:p>
        </p:txBody>
      </p:sp>
      <p:sp>
        <p:nvSpPr>
          <p:cNvPr id="4" name="Slide Number Placeholder 3"/>
          <p:cNvSpPr>
            <a:spLocks noGrp="1"/>
          </p:cNvSpPr>
          <p:nvPr>
            <p:ph type="sldNum" sz="quarter" idx="5"/>
          </p:nvPr>
        </p:nvSpPr>
        <p:spPr/>
        <p:txBody>
          <a:bodyPr/>
          <a:lstStyle/>
          <a:p>
            <a:fld id="{FD8B4316-0571-C34A-907E-71E40496A919}" type="slidenum">
              <a:rPr lang="en-DE" smtClean="0"/>
              <a:t>6</a:t>
            </a:fld>
            <a:endParaRPr lang="en-DE"/>
          </a:p>
        </p:txBody>
      </p:sp>
    </p:spTree>
    <p:extLst>
      <p:ext uri="{BB962C8B-B14F-4D97-AF65-F5344CB8AC3E}">
        <p14:creationId xmlns:p14="http://schemas.microsoft.com/office/powerpoint/2010/main" val="2753662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 this milestone, we are delivering three things.</a:t>
            </a:r>
          </a:p>
          <a:p>
            <a:r>
              <a:rPr lang="en-GB" dirty="0"/>
              <a:t>First — a clean, </a:t>
            </a:r>
            <a:r>
              <a:rPr lang="en-GB" dirty="0" err="1"/>
              <a:t>preprocessed</a:t>
            </a:r>
            <a:r>
              <a:rPr lang="en-GB" dirty="0"/>
              <a:t> dataset ready for modelling, with over one million rows after removing missing values, cancellations, and duplicates.</a:t>
            </a:r>
          </a:p>
          <a:p>
            <a:r>
              <a:rPr lang="en-GB" dirty="0"/>
              <a:t>Second — a demand analysis report covering warehouse </a:t>
            </a:r>
            <a:r>
              <a:rPr lang="en-GB" dirty="0" err="1"/>
              <a:t>behavior</a:t>
            </a:r>
            <a:r>
              <a:rPr lang="en-GB" dirty="0"/>
              <a:t>, product category distribution, and stationarity testing.</a:t>
            </a:r>
          </a:p>
          <a:p>
            <a:r>
              <a:rPr lang="en-GB" dirty="0"/>
              <a:t>And third — actionable insights for inventory planning, such as which warehouses need the most attention and which product categories drive the majority of demand.</a:t>
            </a:r>
          </a:p>
          <a:p>
            <a:r>
              <a:rPr lang="en-GB" dirty="0"/>
              <a:t>These three deliverables form the foundation for the modelling phase that comes next.”  </a:t>
            </a:r>
            <a:br>
              <a:rPr lang="en-GB" dirty="0"/>
            </a:br>
            <a:br>
              <a:rPr lang="en-GB" dirty="0"/>
            </a:br>
            <a:r>
              <a:rPr lang="en-GB" dirty="0"/>
              <a:t>So, now I handover to my teammate </a:t>
            </a:r>
            <a:r>
              <a:rPr lang="en-GB" sz="1200" dirty="0" err="1">
                <a:effectLst/>
                <a:latin typeface="Poppins" pitchFamily="2" charset="77"/>
              </a:rPr>
              <a:t>Nashitah</a:t>
            </a:r>
            <a:endParaRPr lang="en-GB" dirty="0"/>
          </a:p>
          <a:p>
            <a:endParaRPr lang="en-DE" dirty="0"/>
          </a:p>
        </p:txBody>
      </p:sp>
      <p:sp>
        <p:nvSpPr>
          <p:cNvPr id="4" name="Slide Number Placeholder 3"/>
          <p:cNvSpPr>
            <a:spLocks noGrp="1"/>
          </p:cNvSpPr>
          <p:nvPr>
            <p:ph type="sldNum" sz="quarter" idx="5"/>
          </p:nvPr>
        </p:nvSpPr>
        <p:spPr/>
        <p:txBody>
          <a:bodyPr/>
          <a:lstStyle/>
          <a:p>
            <a:fld id="{FD8B4316-0571-C34A-907E-71E40496A919}" type="slidenum">
              <a:rPr lang="en-DE" smtClean="0"/>
              <a:t>7</a:t>
            </a:fld>
            <a:endParaRPr lang="en-DE"/>
          </a:p>
        </p:txBody>
      </p:sp>
    </p:spTree>
    <p:extLst>
      <p:ext uri="{BB962C8B-B14F-4D97-AF65-F5344CB8AC3E}">
        <p14:creationId xmlns:p14="http://schemas.microsoft.com/office/powerpoint/2010/main" val="5504554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"Good morning. I'm May Zin Ko, presenting the Dataset section."</a:t>
            </a:r>
            <a:endParaRPr lang="en-DE" dirty="0"/>
          </a:p>
        </p:txBody>
      </p:sp>
      <p:sp>
        <p:nvSpPr>
          <p:cNvPr id="4" name="Slide Number Placeholder 3"/>
          <p:cNvSpPr>
            <a:spLocks noGrp="1"/>
          </p:cNvSpPr>
          <p:nvPr>
            <p:ph type="sldNum" sz="quarter" idx="5"/>
          </p:nvPr>
        </p:nvSpPr>
        <p:spPr/>
        <p:txBody>
          <a:bodyPr/>
          <a:lstStyle/>
          <a:p>
            <a:fld id="{FD8B4316-0571-C34A-907E-71E40496A919}" type="slidenum">
              <a:rPr lang="en-DE" smtClean="0"/>
              <a:t>29</a:t>
            </a:fld>
            <a:endParaRPr lang="en-DE"/>
          </a:p>
        </p:txBody>
      </p:sp>
    </p:spTree>
    <p:extLst>
      <p:ext uri="{BB962C8B-B14F-4D97-AF65-F5344CB8AC3E}">
        <p14:creationId xmlns:p14="http://schemas.microsoft.com/office/powerpoint/2010/main" val="1602072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"Our dataset is Forecasts for Product Demand from Kaggle. Over one million rows, 5 columns, covering 2012 to 2016."</a:t>
            </a:r>
            <a:endParaRPr lang="en-DE" dirty="0"/>
          </a:p>
        </p:txBody>
      </p:sp>
      <p:sp>
        <p:nvSpPr>
          <p:cNvPr id="4" name="Slide Number Placeholder 3"/>
          <p:cNvSpPr>
            <a:spLocks noGrp="1"/>
          </p:cNvSpPr>
          <p:nvPr>
            <p:ph type="sldNum" sz="quarter" idx="5"/>
          </p:nvPr>
        </p:nvSpPr>
        <p:spPr/>
        <p:txBody>
          <a:bodyPr/>
          <a:lstStyle/>
          <a:p>
            <a:fld id="{FD8B4316-0571-C34A-907E-71E40496A919}" type="slidenum">
              <a:rPr lang="en-DE" smtClean="0"/>
              <a:t>30</a:t>
            </a:fld>
            <a:endParaRPr lang="en-DE"/>
          </a:p>
        </p:txBody>
      </p:sp>
    </p:spTree>
    <p:extLst>
      <p:ext uri="{BB962C8B-B14F-4D97-AF65-F5344CB8AC3E}">
        <p14:creationId xmlns:p14="http://schemas.microsoft.com/office/powerpoint/2010/main" val="26771542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"It comes from a global manufacturing company with four central warehouses. Key context — shipping takes over one month, so accurate forecasting is critical. You can't reorder last minute."</a:t>
            </a:r>
            <a:endParaRPr lang="en-DE" dirty="0"/>
          </a:p>
        </p:txBody>
      </p:sp>
      <p:sp>
        <p:nvSpPr>
          <p:cNvPr id="4" name="Slide Number Placeholder 3"/>
          <p:cNvSpPr>
            <a:spLocks noGrp="1"/>
          </p:cNvSpPr>
          <p:nvPr>
            <p:ph type="sldNum" sz="quarter" idx="5"/>
          </p:nvPr>
        </p:nvSpPr>
        <p:spPr/>
        <p:txBody>
          <a:bodyPr/>
          <a:lstStyle/>
          <a:p>
            <a:fld id="{FD8B4316-0571-C34A-907E-71E40496A919}" type="slidenum">
              <a:rPr lang="en-DE" smtClean="0"/>
              <a:t>31</a:t>
            </a:fld>
            <a:endParaRPr lang="en-DE"/>
          </a:p>
        </p:txBody>
      </p:sp>
    </p:spTree>
    <p:extLst>
      <p:ext uri="{BB962C8B-B14F-4D97-AF65-F5344CB8AC3E}">
        <p14:creationId xmlns:p14="http://schemas.microsoft.com/office/powerpoint/2010/main" val="15489709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"Five features. Key characteristics — high demand variability, clear seasonal patterns, and demand is heavily concentrated — top 20% of products drive 80% of demand."</a:t>
            </a:r>
            <a:br>
              <a:rPr lang="en-GB" dirty="0"/>
            </a:br>
            <a:br>
              <a:rPr lang="en-GB" dirty="0"/>
            </a:br>
            <a:r>
              <a:rPr lang="en-GB" dirty="0"/>
              <a:t>Note: ABC analysis meaning : </a:t>
            </a:r>
            <a:r>
              <a:rPr lang="en-GB" b="1" dirty="0"/>
              <a:t>prioritize products by importance</a:t>
            </a:r>
            <a:r>
              <a:rPr lang="en-GB" dirty="0"/>
              <a:t> based on how much demand they generate.</a:t>
            </a:r>
          </a:p>
          <a:p>
            <a:r>
              <a:rPr lang="en-DE" dirty="0"/>
              <a:t>Class A, B, C</a:t>
            </a:r>
          </a:p>
        </p:txBody>
      </p:sp>
      <p:sp>
        <p:nvSpPr>
          <p:cNvPr id="4" name="Slide Number Placeholder 3"/>
          <p:cNvSpPr>
            <a:spLocks noGrp="1"/>
          </p:cNvSpPr>
          <p:nvPr>
            <p:ph type="sldNum" sz="quarter" idx="5"/>
          </p:nvPr>
        </p:nvSpPr>
        <p:spPr/>
        <p:txBody>
          <a:bodyPr/>
          <a:lstStyle/>
          <a:p>
            <a:fld id="{FD8B4316-0571-C34A-907E-71E40496A919}" type="slidenum">
              <a:rPr lang="en-DE" smtClean="0"/>
              <a:t>32</a:t>
            </a:fld>
            <a:endParaRPr lang="en-DE"/>
          </a:p>
        </p:txBody>
      </p:sp>
    </p:spTree>
    <p:extLst>
      <p:ext uri="{BB962C8B-B14F-4D97-AF65-F5344CB8AC3E}">
        <p14:creationId xmlns:p14="http://schemas.microsoft.com/office/powerpoint/2010/main" val="42604347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"Before cleaning — all columns were stored as text, 11,239 missing dates, and Order Demand had parentheses formatting , which meaning cancellations in accounting world."</a:t>
            </a:r>
            <a:endParaRPr lang="en-DE" dirty="0"/>
          </a:p>
        </p:txBody>
      </p:sp>
      <p:sp>
        <p:nvSpPr>
          <p:cNvPr id="4" name="Slide Number Placeholder 3"/>
          <p:cNvSpPr>
            <a:spLocks noGrp="1"/>
          </p:cNvSpPr>
          <p:nvPr>
            <p:ph type="sldNum" sz="quarter" idx="5"/>
          </p:nvPr>
        </p:nvSpPr>
        <p:spPr/>
        <p:txBody>
          <a:bodyPr/>
          <a:lstStyle/>
          <a:p>
            <a:fld id="{FD8B4316-0571-C34A-907E-71E40496A919}" type="slidenum">
              <a:rPr lang="en-DE" smtClean="0"/>
              <a:t>33</a:t>
            </a:fld>
            <a:endParaRPr lang="en-DE"/>
          </a:p>
        </p:txBody>
      </p:sp>
    </p:spTree>
    <p:extLst>
      <p:ext uri="{BB962C8B-B14F-4D97-AF65-F5344CB8AC3E}">
        <p14:creationId xmlns:p14="http://schemas.microsoft.com/office/powerpoint/2010/main" val="15109859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i="1" dirty="0"/>
              <a:t>"After cleaning — removed missing dates, cancellations, converted data types, and removed duplicate system errors. Final dataset: 1,018,961 rows — 2.8% removed in total."</a:t>
            </a:r>
            <a:endParaRPr lang="en-DE" dirty="0"/>
          </a:p>
        </p:txBody>
      </p:sp>
      <p:sp>
        <p:nvSpPr>
          <p:cNvPr id="4" name="Slide Number Placeholder 3"/>
          <p:cNvSpPr>
            <a:spLocks noGrp="1"/>
          </p:cNvSpPr>
          <p:nvPr>
            <p:ph type="sldNum" sz="quarter" idx="5"/>
          </p:nvPr>
        </p:nvSpPr>
        <p:spPr/>
        <p:txBody>
          <a:bodyPr/>
          <a:lstStyle/>
          <a:p>
            <a:fld id="{FD8B4316-0571-C34A-907E-71E40496A919}" type="slidenum">
              <a:rPr lang="en-DE" smtClean="0"/>
              <a:t>34</a:t>
            </a:fld>
            <a:endParaRPr lang="en-DE"/>
          </a:p>
        </p:txBody>
      </p:sp>
    </p:spTree>
    <p:extLst>
      <p:ext uri="{BB962C8B-B14F-4D97-AF65-F5344CB8AC3E}">
        <p14:creationId xmlns:p14="http://schemas.microsoft.com/office/powerpoint/2010/main" val="3537530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"Now moving into the analysis section.</a:t>
            </a:r>
          </a:p>
          <a:p>
            <a:r>
              <a:rPr lang="en-GB" dirty="0"/>
              <a:t>"Analysis covers four areas — demand trend, by warehouse, by category, and ADF stationarity test.”</a:t>
            </a:r>
          </a:p>
          <a:p>
            <a:endParaRPr lang="en-DE" dirty="0"/>
          </a:p>
        </p:txBody>
      </p:sp>
      <p:sp>
        <p:nvSpPr>
          <p:cNvPr id="4" name="Slide Number Placeholder 3"/>
          <p:cNvSpPr>
            <a:spLocks noGrp="1"/>
          </p:cNvSpPr>
          <p:nvPr>
            <p:ph type="sldNum" sz="quarter" idx="5"/>
          </p:nvPr>
        </p:nvSpPr>
        <p:spPr/>
        <p:txBody>
          <a:bodyPr/>
          <a:lstStyle/>
          <a:p>
            <a:fld id="{FD8B4316-0571-C34A-907E-71E40496A919}" type="slidenum">
              <a:rPr lang="en-DE" smtClean="0"/>
              <a:t>35</a:t>
            </a:fld>
            <a:endParaRPr lang="en-DE"/>
          </a:p>
        </p:txBody>
      </p:sp>
    </p:spTree>
    <p:extLst>
      <p:ext uri="{BB962C8B-B14F-4D97-AF65-F5344CB8AC3E}">
        <p14:creationId xmlns:p14="http://schemas.microsoft.com/office/powerpoint/2010/main" val="18591382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chart shows monthly demand for all four warehouses from 2012 to 2016.</a:t>
            </a:r>
          </a:p>
          <a:p>
            <a:r>
              <a:rPr lang="en-GB" dirty="0"/>
              <a:t>"Warehouse J dominates at 73%. J trends upward, S trends downward. C and A stay stable. Each warehouse behaves differently — which is why we test each one separately."</a:t>
            </a:r>
            <a:endParaRPr lang="en-DE" dirty="0"/>
          </a:p>
        </p:txBody>
      </p:sp>
      <p:sp>
        <p:nvSpPr>
          <p:cNvPr id="4" name="Slide Number Placeholder 3"/>
          <p:cNvSpPr>
            <a:spLocks noGrp="1"/>
          </p:cNvSpPr>
          <p:nvPr>
            <p:ph type="sldNum" sz="quarter" idx="5"/>
          </p:nvPr>
        </p:nvSpPr>
        <p:spPr/>
        <p:txBody>
          <a:bodyPr/>
          <a:lstStyle/>
          <a:p>
            <a:fld id="{FD8B4316-0571-C34A-907E-71E40496A919}" type="slidenum">
              <a:rPr lang="en-DE" smtClean="0"/>
              <a:t>36</a:t>
            </a:fld>
            <a:endParaRPr lang="en-DE"/>
          </a:p>
        </p:txBody>
      </p:sp>
    </p:spTree>
    <p:extLst>
      <p:ext uri="{BB962C8B-B14F-4D97-AF65-F5344CB8AC3E}">
        <p14:creationId xmlns:p14="http://schemas.microsoft.com/office/powerpoint/2010/main" val="28520960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bar chart shows the total number of orders handled by each warehouse.</a:t>
            </a:r>
          </a:p>
          <a:p>
            <a:r>
              <a:rPr lang="en-GB" dirty="0"/>
              <a:t>Warehouse J is by far the largest - it handles 73% of all demand in the entire dataset. </a:t>
            </a:r>
          </a:p>
          <a:p>
            <a:r>
              <a:rPr lang="en-GB" dirty="0"/>
              <a:t>Warehouse A comes second , followed by Warehouse S and Warehouse C </a:t>
            </a:r>
          </a:p>
          <a:p>
            <a:r>
              <a:rPr lang="en-GB" dirty="0"/>
              <a:t>This huge imbalance tells us that demand is not evenly spread — it is heavily concentrated in one warehouse. “</a:t>
            </a:r>
          </a:p>
          <a:p>
            <a:endParaRPr lang="en-GB" dirty="0"/>
          </a:p>
          <a:p>
            <a:endParaRPr lang="en-DE" dirty="0"/>
          </a:p>
          <a:p>
            <a:endParaRPr lang="en-DE" dirty="0"/>
          </a:p>
        </p:txBody>
      </p:sp>
      <p:sp>
        <p:nvSpPr>
          <p:cNvPr id="4" name="Slide Number Placeholder 3"/>
          <p:cNvSpPr>
            <a:spLocks noGrp="1"/>
          </p:cNvSpPr>
          <p:nvPr>
            <p:ph type="sldNum" sz="quarter" idx="5"/>
          </p:nvPr>
        </p:nvSpPr>
        <p:spPr/>
        <p:txBody>
          <a:bodyPr/>
          <a:lstStyle/>
          <a:p>
            <a:fld id="{FD8B4316-0571-C34A-907E-71E40496A919}" type="slidenum">
              <a:rPr lang="en-DE" smtClean="0"/>
              <a:t>37</a:t>
            </a:fld>
            <a:endParaRPr lang="en-DE"/>
          </a:p>
        </p:txBody>
      </p:sp>
    </p:spTree>
    <p:extLst>
      <p:ext uri="{BB962C8B-B14F-4D97-AF65-F5344CB8AC3E}">
        <p14:creationId xmlns:p14="http://schemas.microsoft.com/office/powerpoint/2010/main" val="36510332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r>
              <a:rPr lang="en-GB" dirty="0"/>
              <a:t>"Category_019 dominates every single warehouse. One category drives most demand — supports our ABC analysis finding.”</a:t>
            </a:r>
          </a:p>
          <a:p>
            <a:endParaRPr lang="en-GB" dirty="0"/>
          </a:p>
          <a:p>
            <a:endParaRPr lang="en-DE" dirty="0"/>
          </a:p>
        </p:txBody>
      </p:sp>
      <p:sp>
        <p:nvSpPr>
          <p:cNvPr id="4" name="Slide Number Placeholder 3"/>
          <p:cNvSpPr>
            <a:spLocks noGrp="1"/>
          </p:cNvSpPr>
          <p:nvPr>
            <p:ph type="sldNum" sz="quarter" idx="5"/>
          </p:nvPr>
        </p:nvSpPr>
        <p:spPr/>
        <p:txBody>
          <a:bodyPr/>
          <a:lstStyle/>
          <a:p>
            <a:fld id="{FD8B4316-0571-C34A-907E-71E40496A919}" type="slidenum">
              <a:rPr lang="en-DE" smtClean="0"/>
              <a:t>38</a:t>
            </a:fld>
            <a:endParaRPr lang="en-DE"/>
          </a:p>
        </p:txBody>
      </p:sp>
    </p:spTree>
    <p:extLst>
      <p:ext uri="{BB962C8B-B14F-4D97-AF65-F5344CB8AC3E}">
        <p14:creationId xmlns:p14="http://schemas.microsoft.com/office/powerpoint/2010/main" val="1414012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chart shows the ADF stationarity test result for each warehouse — the p-value is shown directly in each chart title.</a:t>
            </a:r>
          </a:p>
          <a:p>
            <a:r>
              <a:rPr lang="en-GB" i="1" dirty="0"/>
              <a:t>"ADF test results — J and S have p-value above 0.05, not stationary, require ARIMA. C and A have p-value of 0.000, stationary, use ARMA directly. This determines our model choice."</a:t>
            </a:r>
            <a:endParaRPr lang="en-GB" dirty="0"/>
          </a:p>
          <a:p>
            <a:endParaRPr lang="en-DE" dirty="0"/>
          </a:p>
        </p:txBody>
      </p:sp>
      <p:sp>
        <p:nvSpPr>
          <p:cNvPr id="4" name="Slide Number Placeholder 3"/>
          <p:cNvSpPr>
            <a:spLocks noGrp="1"/>
          </p:cNvSpPr>
          <p:nvPr>
            <p:ph type="sldNum" sz="quarter" idx="5"/>
          </p:nvPr>
        </p:nvSpPr>
        <p:spPr/>
        <p:txBody>
          <a:bodyPr/>
          <a:lstStyle/>
          <a:p>
            <a:fld id="{FD8B4316-0571-C34A-907E-71E40496A919}" type="slidenum">
              <a:rPr lang="en-DE" smtClean="0"/>
              <a:t>39</a:t>
            </a:fld>
            <a:endParaRPr lang="en-DE"/>
          </a:p>
        </p:txBody>
      </p:sp>
    </p:spTree>
    <p:extLst>
      <p:ext uri="{BB962C8B-B14F-4D97-AF65-F5344CB8AC3E}">
        <p14:creationId xmlns:p14="http://schemas.microsoft.com/office/powerpoint/2010/main" val="13146031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explains the two forecasting models we selected based on our stationarity test results.</a:t>
            </a:r>
          </a:p>
          <a:p>
            <a:endParaRPr lang="en-GB" dirty="0"/>
          </a:p>
          <a:p>
            <a:r>
              <a:rPr lang="en-GB" dirty="0"/>
              <a:t>On the left — ARMA. This is used for stationary data, We apply it directly to Warehouse C and Warehouse A — no extra steps needed, straight to forecast.</a:t>
            </a:r>
          </a:p>
          <a:p>
            <a:endParaRPr lang="en-GB" dirty="0"/>
          </a:p>
          <a:p>
            <a:r>
              <a:rPr lang="en-GB" dirty="0"/>
              <a:t>On the right — ARIMA. This is used for non-stationary data like For Warehouse J and Warehouse S</a:t>
            </a:r>
          </a:p>
          <a:p>
            <a:r>
              <a:rPr lang="en-GB" dirty="0"/>
              <a:t>, we first apply a differencing step — this removes the trend and makes the data stationary. Then we apply ARMA on top. </a:t>
            </a:r>
          </a:p>
          <a:p>
            <a:endParaRPr lang="en-GB" dirty="0"/>
          </a:p>
          <a:p>
            <a:endParaRPr lang="en-GB" dirty="0"/>
          </a:p>
          <a:p>
            <a:r>
              <a:rPr lang="en-GB" dirty="0"/>
              <a:t>My  hypothesis is that these time series models will outperform Random Forest for this dataset, because our data has clear time-based structure and seasonal patterns — which is exactly what ARMA and ARIMA are designed for.”</a:t>
            </a:r>
          </a:p>
          <a:p>
            <a:endParaRPr lang="en-DE" dirty="0"/>
          </a:p>
        </p:txBody>
      </p:sp>
      <p:sp>
        <p:nvSpPr>
          <p:cNvPr id="4" name="Slide Number Placeholder 3"/>
          <p:cNvSpPr>
            <a:spLocks noGrp="1"/>
          </p:cNvSpPr>
          <p:nvPr>
            <p:ph type="sldNum" sz="quarter" idx="5"/>
          </p:nvPr>
        </p:nvSpPr>
        <p:spPr/>
        <p:txBody>
          <a:bodyPr/>
          <a:lstStyle/>
          <a:p>
            <a:fld id="{FD8B4316-0571-C34A-907E-71E40496A919}" type="slidenum">
              <a:rPr lang="en-DE" smtClean="0"/>
              <a:t>42</a:t>
            </a:fld>
            <a:endParaRPr lang="en-DE"/>
          </a:p>
        </p:txBody>
      </p:sp>
    </p:spTree>
    <p:extLst>
      <p:ext uri="{BB962C8B-B14F-4D97-AF65-F5344CB8AC3E}">
        <p14:creationId xmlns:p14="http://schemas.microsoft.com/office/powerpoint/2010/main" val="8230914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shows the second ML algorithm — Random Forest, which is a true machine learning approach.</a:t>
            </a:r>
          </a:p>
          <a:p>
            <a:endParaRPr lang="en-GB" dirty="0"/>
          </a:p>
          <a:p>
            <a:endParaRPr lang="en-GB" dirty="0"/>
          </a:p>
          <a:p>
            <a:r>
              <a:rPr lang="en-GB" dirty="0"/>
              <a:t>The idea is simple. Random Forest builds 100+ decision trees, each on a different data sample. Each predicts independently, final answer is the average. More stable than one model alone — but unlike ARIMA, it doesn't naturally understand time or seasonality.”</a:t>
            </a:r>
          </a:p>
          <a:p>
            <a:endParaRPr lang="en-GB" dirty="0"/>
          </a:p>
          <a:p>
            <a:r>
              <a:rPr lang="en-GB" dirty="0"/>
              <a:t>Random Forest does not naturally understand time or seasonality. It would need extra feature engineering to capture those patterns. This is why for our dataset, we believe ARIMA and ARMA are the more appropriate choice."</a:t>
            </a:r>
          </a:p>
          <a:p>
            <a:endParaRPr lang="en-DE" dirty="0"/>
          </a:p>
        </p:txBody>
      </p:sp>
      <p:sp>
        <p:nvSpPr>
          <p:cNvPr id="4" name="Slide Number Placeholder 3"/>
          <p:cNvSpPr>
            <a:spLocks noGrp="1"/>
          </p:cNvSpPr>
          <p:nvPr>
            <p:ph type="sldNum" sz="quarter" idx="5"/>
          </p:nvPr>
        </p:nvSpPr>
        <p:spPr/>
        <p:txBody>
          <a:bodyPr/>
          <a:lstStyle/>
          <a:p>
            <a:fld id="{FD8B4316-0571-C34A-907E-71E40496A919}" type="slidenum">
              <a:rPr lang="en-DE" smtClean="0"/>
              <a:t>43</a:t>
            </a:fld>
            <a:endParaRPr lang="en-DE"/>
          </a:p>
        </p:txBody>
      </p:sp>
    </p:spTree>
    <p:extLst>
      <p:ext uri="{BB962C8B-B14F-4D97-AF65-F5344CB8AC3E}">
        <p14:creationId xmlns:p14="http://schemas.microsoft.com/office/powerpoint/2010/main" val="13321566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"Finally, our next steps are organized into three phases.</a:t>
            </a:r>
          </a:p>
          <a:p>
            <a:r>
              <a:rPr lang="en-GB" dirty="0"/>
              <a:t>In the short term — which is our next phase starting from May 7th — we will apply the forecasting models we discussed today. ARIMA for Warehouse J and S, ARMA for Warehouse C and A, and we will measure accuracy using MAE, RMSE, and MAPE.</a:t>
            </a:r>
          </a:p>
          <a:p>
            <a:r>
              <a:rPr lang="en-GB" dirty="0"/>
              <a:t>In the mid term, we will use those forecast results to develop better inventory strategies — specifically optimizing stock levels across all four warehouses to reduce both overstock and stockouts.</a:t>
            </a:r>
          </a:p>
          <a:p>
            <a:r>
              <a:rPr lang="en-GB" dirty="0"/>
              <a:t>And in the long term, the goal is to integrate real-time demand data so the system can update forecasts automatically and support continuous data-driven decision making.</a:t>
            </a:r>
          </a:p>
          <a:p>
            <a:r>
              <a:rPr lang="en-GB" dirty="0"/>
              <a:t>Thank you — that concludes our milestone presentation. We are happy to answer any questions."</a:t>
            </a:r>
          </a:p>
          <a:p>
            <a:endParaRPr lang="en-DE" dirty="0"/>
          </a:p>
        </p:txBody>
      </p:sp>
      <p:sp>
        <p:nvSpPr>
          <p:cNvPr id="4" name="Slide Number Placeholder 3"/>
          <p:cNvSpPr>
            <a:spLocks noGrp="1"/>
          </p:cNvSpPr>
          <p:nvPr>
            <p:ph type="sldNum" sz="quarter" idx="5"/>
          </p:nvPr>
        </p:nvSpPr>
        <p:spPr/>
        <p:txBody>
          <a:bodyPr/>
          <a:lstStyle/>
          <a:p>
            <a:fld id="{FD8B4316-0571-C34A-907E-71E40496A919}" type="slidenum">
              <a:rPr lang="en-DE" smtClean="0"/>
              <a:t>45</a:t>
            </a:fld>
            <a:endParaRPr lang="en-DE"/>
          </a:p>
        </p:txBody>
      </p:sp>
    </p:spTree>
    <p:extLst>
      <p:ext uri="{BB962C8B-B14F-4D97-AF65-F5344CB8AC3E}">
        <p14:creationId xmlns:p14="http://schemas.microsoft.com/office/powerpoint/2010/main" val="33234923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B4AD6E4-622A-6749-8F7D-E8B25786878A}" type="datetime1">
              <a:rPr lang="de-DE" smtClean="0"/>
              <a:t>07.05.26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8460B7-3229-7845-B5D3-DB62C9EC7D75}" type="datetime1">
              <a:rPr lang="de-DE" smtClean="0"/>
              <a:t>07.05.26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F64DE8-EDD7-4B4E-8CE5-695E4F632203}" type="datetime1">
              <a:rPr lang="de-DE" smtClean="0"/>
              <a:t>07.05.26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E32E268-FC60-A647-8F49-4E9B43566E7F}" type="datetime1">
              <a:rPr lang="de-DE" smtClean="0"/>
              <a:t>07.05.26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5DC4B85-43B2-4041-A472-2B29188B9E0E}" type="datetime1">
              <a:rPr lang="de-DE" smtClean="0"/>
              <a:t>07.05.26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E2E4553-9163-E141-93D4-B48BCF202279}" type="datetime1">
              <a:rPr lang="de-DE" smtClean="0"/>
              <a:t>07.05.26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3ABE0-3C07-A749-883D-E9613ED5D8F3}" type="datetime1">
              <a:rPr lang="de-DE" smtClean="0"/>
              <a:t>07.05.26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D6E3937-EA96-8848-A559-C94D69057A03}" type="datetime1">
              <a:rPr lang="de-DE" smtClean="0"/>
              <a:t>07.05.26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5CA443F-916E-CC48-BD63-13FC066034B6}" type="datetime1">
              <a:rPr lang="de-DE" smtClean="0"/>
              <a:t>07.05.26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F7E27F5-F84F-2640-86A4-6DA1DA163F34}" type="datetime1">
              <a:rPr lang="de-DE" smtClean="0"/>
              <a:t>07.05.26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2E1B825-E9F6-D246-88C6-92C66F91EFE3}" type="datetime1">
              <a:rPr lang="de-DE" smtClean="0"/>
              <a:t>07.05.26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672FCA-2548-DA44-923C-33DFA38ED6B2}" type="datetime1">
              <a:rPr lang="de-DE" smtClean="0"/>
              <a:t>07.05.26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hyperlink" Target="https://www.kaggle.com/datasets/felixzhao/productdemandforecasting"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82EB4-C05B-6C04-3074-E25977854F73}"/>
              </a:ext>
            </a:extLst>
          </p:cNvPr>
          <p:cNvSpPr>
            <a:spLocks noGrp="1"/>
          </p:cNvSpPr>
          <p:nvPr>
            <p:ph type="title"/>
          </p:nvPr>
        </p:nvSpPr>
        <p:spPr>
          <a:xfrm>
            <a:off x="457200" y="2479955"/>
            <a:ext cx="8229600" cy="1143000"/>
          </a:xfrm>
        </p:spPr>
        <p:txBody>
          <a:bodyPr>
            <a:normAutofit fontScale="90000"/>
          </a:bodyPr>
          <a:lstStyle/>
          <a:p>
            <a:r>
              <a:rPr lang="en-GB" b="0" i="0" u="none" strike="noStrike" dirty="0">
                <a:solidFill>
                  <a:srgbClr val="000000"/>
                </a:solidFill>
                <a:effectLst/>
              </a:rPr>
              <a:t>Demand Management Using Historical Product Demand Data</a:t>
            </a:r>
            <a:endParaRPr lang="en-DE" dirty="0"/>
          </a:p>
        </p:txBody>
      </p:sp>
      <p:sp>
        <p:nvSpPr>
          <p:cNvPr id="3" name="TextBox 2">
            <a:extLst>
              <a:ext uri="{FF2B5EF4-FFF2-40B4-BE49-F238E27FC236}">
                <a16:creationId xmlns:a16="http://schemas.microsoft.com/office/drawing/2014/main" id="{28D92511-0CF3-8E62-E5C5-73988C69C989}"/>
              </a:ext>
            </a:extLst>
          </p:cNvPr>
          <p:cNvSpPr txBox="1"/>
          <p:nvPr/>
        </p:nvSpPr>
        <p:spPr>
          <a:xfrm>
            <a:off x="6153375" y="5142155"/>
            <a:ext cx="2743200" cy="1200329"/>
          </a:xfrm>
          <a:prstGeom prst="rect">
            <a:avLst/>
          </a:prstGeom>
          <a:noFill/>
        </p:spPr>
        <p:txBody>
          <a:bodyPr wrap="square" rtlCol="0">
            <a:spAutoFit/>
          </a:bodyPr>
          <a:lstStyle/>
          <a:p>
            <a:r>
              <a:rPr lang="en-DE" dirty="0"/>
              <a:t>Presented by:</a:t>
            </a:r>
          </a:p>
          <a:p>
            <a:pPr marL="285750" indent="-285750">
              <a:buFont typeface="Wingdings" pitchFamily="2" charset="2"/>
              <a:buChar char="ü"/>
            </a:pPr>
            <a:r>
              <a:rPr lang="en-GB" sz="1800" dirty="0">
                <a:effectLst/>
              </a:rPr>
              <a:t>Louis </a:t>
            </a:r>
            <a:r>
              <a:rPr lang="en-GB" sz="1800" dirty="0" err="1">
                <a:effectLst/>
              </a:rPr>
              <a:t>Odinkemelu</a:t>
            </a:r>
            <a:r>
              <a:rPr lang="en-GB" sz="1800" dirty="0">
                <a:effectLst/>
              </a:rPr>
              <a:t> </a:t>
            </a:r>
            <a:endParaRPr lang="en-DE" dirty="0"/>
          </a:p>
          <a:p>
            <a:pPr marL="285750" indent="-285750">
              <a:buFont typeface="Wingdings" pitchFamily="2" charset="2"/>
              <a:buChar char="ü"/>
            </a:pPr>
            <a:r>
              <a:rPr lang="en-DE" dirty="0"/>
              <a:t>May Zin Ko</a:t>
            </a:r>
          </a:p>
          <a:p>
            <a:pPr marL="285750" indent="-285750">
              <a:buFont typeface="Wingdings" pitchFamily="2" charset="2"/>
              <a:buChar char="ü"/>
            </a:pPr>
            <a:r>
              <a:rPr lang="en-GB" sz="1800" dirty="0">
                <a:effectLst/>
              </a:rPr>
              <a:t>Zainab </a:t>
            </a:r>
            <a:r>
              <a:rPr lang="en-GB" sz="1800" dirty="0" err="1">
                <a:effectLst/>
              </a:rPr>
              <a:t>Nashitah</a:t>
            </a:r>
            <a:r>
              <a:rPr lang="en-GB" sz="1800" dirty="0">
                <a:effectLst/>
              </a:rPr>
              <a:t> </a:t>
            </a:r>
            <a:endParaRPr lang="en-GB" dirty="0">
              <a:effectLst/>
            </a:endParaRPr>
          </a:p>
        </p:txBody>
      </p:sp>
      <p:sp>
        <p:nvSpPr>
          <p:cNvPr id="4" name="Footer Placeholder 3">
            <a:extLst>
              <a:ext uri="{FF2B5EF4-FFF2-40B4-BE49-F238E27FC236}">
                <a16:creationId xmlns:a16="http://schemas.microsoft.com/office/drawing/2014/main" id="{CEB5736D-B62A-05B7-1718-84C678677641}"/>
              </a:ext>
            </a:extLst>
          </p:cNvPr>
          <p:cNvSpPr>
            <a:spLocks noGrp="1"/>
          </p:cNvSpPr>
          <p:nvPr>
            <p:ph type="ftr" sz="quarter" idx="11"/>
          </p:nvPr>
        </p:nvSpPr>
        <p:spPr/>
        <p:txBody>
          <a:bodyPr/>
          <a:lstStyle/>
          <a:p>
            <a:r>
              <a:rPr lang="en-GB" sz="1200" dirty="0">
                <a:effectLst/>
                <a:latin typeface="Poppins" pitchFamily="2" charset="77"/>
              </a:rPr>
              <a:t>Louis </a:t>
            </a:r>
            <a:r>
              <a:rPr lang="en-GB" sz="1200" dirty="0" err="1">
                <a:effectLst/>
                <a:latin typeface="Poppins" pitchFamily="2" charset="77"/>
              </a:rPr>
              <a:t>Odinkemelu</a:t>
            </a:r>
            <a:r>
              <a:rPr lang="en-GB" sz="1200" dirty="0">
                <a:effectLst/>
                <a:latin typeface="Poppins" pitchFamily="2" charset="77"/>
              </a:rPr>
              <a:t> </a:t>
            </a:r>
            <a:endParaRPr lang="en-DE" dirty="0"/>
          </a:p>
        </p:txBody>
      </p:sp>
      <p:sp>
        <p:nvSpPr>
          <p:cNvPr id="5" name="Slide Number Placeholder 4">
            <a:extLst>
              <a:ext uri="{FF2B5EF4-FFF2-40B4-BE49-F238E27FC236}">
                <a16:creationId xmlns:a16="http://schemas.microsoft.com/office/drawing/2014/main" id="{8BD433DC-7832-6977-D0FA-98AD8FF481D9}"/>
              </a:ext>
            </a:extLst>
          </p:cNvPr>
          <p:cNvSpPr>
            <a:spLocks noGrp="1"/>
          </p:cNvSpPr>
          <p:nvPr>
            <p:ph type="sldNum" sz="quarter" idx="12"/>
          </p:nvPr>
        </p:nvSpPr>
        <p:spPr/>
        <p:txBody>
          <a:bodyPr/>
          <a:lstStyle/>
          <a:p>
            <a:fld id="{C1FF6DA9-008F-8B48-92A6-B652298478BF}" type="slidenum">
              <a:rPr lang="en-US" smtClean="0"/>
              <a:t>1</a:t>
            </a:fld>
            <a:endParaRPr lang="en-US"/>
          </a:p>
        </p:txBody>
      </p:sp>
    </p:spTree>
    <p:extLst>
      <p:ext uri="{BB962C8B-B14F-4D97-AF65-F5344CB8AC3E}">
        <p14:creationId xmlns:p14="http://schemas.microsoft.com/office/powerpoint/2010/main" val="37648511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50D61-56EA-237B-99CD-6D83F1C4DAEE}"/>
              </a:ext>
            </a:extLst>
          </p:cNvPr>
          <p:cNvSpPr>
            <a:spLocks noGrp="1"/>
          </p:cNvSpPr>
          <p:nvPr>
            <p:ph type="title"/>
          </p:nvPr>
        </p:nvSpPr>
        <p:spPr/>
        <p:txBody>
          <a:bodyPr/>
          <a:lstStyle/>
          <a:p>
            <a:r>
              <a:rPr lang="en-DE" dirty="0"/>
              <a:t>Table of Contents</a:t>
            </a:r>
          </a:p>
        </p:txBody>
      </p:sp>
      <p:sp>
        <p:nvSpPr>
          <p:cNvPr id="3" name="Content Placeholder 2">
            <a:extLst>
              <a:ext uri="{FF2B5EF4-FFF2-40B4-BE49-F238E27FC236}">
                <a16:creationId xmlns:a16="http://schemas.microsoft.com/office/drawing/2014/main" id="{394BA450-6020-24A6-9F77-2D28D094AE4F}"/>
              </a:ext>
            </a:extLst>
          </p:cNvPr>
          <p:cNvSpPr>
            <a:spLocks noGrp="1"/>
          </p:cNvSpPr>
          <p:nvPr>
            <p:ph sz="half" idx="1"/>
          </p:nvPr>
        </p:nvSpPr>
        <p:spPr/>
        <p:txBody>
          <a:bodyPr>
            <a:normAutofit lnSpcReduction="10000"/>
          </a:bodyPr>
          <a:lstStyle/>
          <a:p>
            <a:r>
              <a:rPr lang="en-GB" dirty="0"/>
              <a:t>Introduction</a:t>
            </a:r>
          </a:p>
          <a:p>
            <a:pPr lvl="1"/>
            <a:r>
              <a:rPr lang="en-GB" dirty="0"/>
              <a:t>Objectives, Milestones, Deliverables </a:t>
            </a:r>
          </a:p>
          <a:p>
            <a:r>
              <a:rPr lang="en-GB" dirty="0"/>
              <a:t>Business Case</a:t>
            </a:r>
          </a:p>
          <a:p>
            <a:pPr lvl="1"/>
            <a:r>
              <a:rPr lang="en-GB" dirty="0"/>
              <a:t>Business Understanding</a:t>
            </a:r>
          </a:p>
          <a:p>
            <a:pPr lvl="1"/>
            <a:r>
              <a:rPr lang="en-GB" dirty="0"/>
              <a:t>Theoretical Background</a:t>
            </a:r>
          </a:p>
          <a:p>
            <a:r>
              <a:rPr lang="en-GB" dirty="0"/>
              <a:t>Dataset</a:t>
            </a:r>
          </a:p>
          <a:p>
            <a:pPr lvl="1"/>
            <a:r>
              <a:rPr lang="en-GB" dirty="0"/>
              <a:t>Overview, Description</a:t>
            </a:r>
          </a:p>
          <a:p>
            <a:pPr lvl="1"/>
            <a:r>
              <a:rPr lang="en-GB" dirty="0"/>
              <a:t>Understanding &amp; Preparation</a:t>
            </a:r>
          </a:p>
          <a:p>
            <a:pPr lvl="1"/>
            <a:r>
              <a:rPr lang="en-GB" dirty="0"/>
              <a:t>Analysis</a:t>
            </a:r>
            <a:endParaRPr lang="en-DE" dirty="0"/>
          </a:p>
        </p:txBody>
      </p:sp>
      <p:sp>
        <p:nvSpPr>
          <p:cNvPr id="4" name="Content Placeholder 3">
            <a:extLst>
              <a:ext uri="{FF2B5EF4-FFF2-40B4-BE49-F238E27FC236}">
                <a16:creationId xmlns:a16="http://schemas.microsoft.com/office/drawing/2014/main" id="{AA003EB2-5CE1-3193-A7D0-1BE92779596C}"/>
              </a:ext>
            </a:extLst>
          </p:cNvPr>
          <p:cNvSpPr>
            <a:spLocks noGrp="1"/>
          </p:cNvSpPr>
          <p:nvPr>
            <p:ph sz="half" idx="2"/>
          </p:nvPr>
        </p:nvSpPr>
        <p:spPr/>
        <p:txBody>
          <a:bodyPr>
            <a:normAutofit lnSpcReduction="10000"/>
          </a:bodyPr>
          <a:lstStyle/>
          <a:p>
            <a:r>
              <a:rPr lang="en-GB" sz="2400" dirty="0"/>
              <a:t>ML Algorithms</a:t>
            </a:r>
          </a:p>
          <a:p>
            <a:r>
              <a:rPr lang="en-GB" sz="2400" dirty="0"/>
              <a:t>Next Steps</a:t>
            </a:r>
            <a:endParaRPr lang="en-DE" sz="2400" dirty="0"/>
          </a:p>
        </p:txBody>
      </p:sp>
      <p:sp>
        <p:nvSpPr>
          <p:cNvPr id="5" name="Footer Placeholder 4">
            <a:extLst>
              <a:ext uri="{FF2B5EF4-FFF2-40B4-BE49-F238E27FC236}">
                <a16:creationId xmlns:a16="http://schemas.microsoft.com/office/drawing/2014/main" id="{395FB20F-CFEC-2031-1EDE-5E8FE42C00F7}"/>
              </a:ext>
            </a:extLst>
          </p:cNvPr>
          <p:cNvSpPr>
            <a:spLocks noGrp="1"/>
          </p:cNvSpPr>
          <p:nvPr>
            <p:ph type="ftr" sz="quarter" idx="11"/>
          </p:nvPr>
        </p:nvSpPr>
        <p:spPr/>
        <p:txBody>
          <a:bodyPr/>
          <a:lstStyle/>
          <a:p>
            <a:r>
              <a:rPr lang="en-GB" sz="1200" dirty="0">
                <a:effectLst/>
                <a:latin typeface="Poppins" pitchFamily="2" charset="77"/>
              </a:rPr>
              <a:t>Louis </a:t>
            </a:r>
            <a:r>
              <a:rPr lang="en-GB" sz="1200" dirty="0" err="1">
                <a:effectLst/>
                <a:latin typeface="Poppins" pitchFamily="2" charset="77"/>
              </a:rPr>
              <a:t>Odinkemelu</a:t>
            </a:r>
            <a:r>
              <a:rPr lang="en-GB" sz="1200" dirty="0">
                <a:effectLst/>
                <a:latin typeface="Poppins" pitchFamily="2" charset="77"/>
              </a:rPr>
              <a:t> </a:t>
            </a:r>
            <a:endParaRPr lang="en-DE" dirty="0"/>
          </a:p>
        </p:txBody>
      </p:sp>
      <p:sp>
        <p:nvSpPr>
          <p:cNvPr id="6" name="Slide Number Placeholder 5">
            <a:extLst>
              <a:ext uri="{FF2B5EF4-FFF2-40B4-BE49-F238E27FC236}">
                <a16:creationId xmlns:a16="http://schemas.microsoft.com/office/drawing/2014/main" id="{263F5731-E179-9CAF-D699-0C1AE29A9512}"/>
              </a:ext>
            </a:extLst>
          </p:cNvPr>
          <p:cNvSpPr>
            <a:spLocks noGrp="1"/>
          </p:cNvSpPr>
          <p:nvPr>
            <p:ph type="sldNum" sz="quarter" idx="12"/>
          </p:nvPr>
        </p:nvSpPr>
        <p:spPr/>
        <p:txBody>
          <a:bodyPr/>
          <a:lstStyle/>
          <a:p>
            <a:fld id="{C1FF6DA9-008F-8B48-92A6-B652298478BF}" type="slidenum">
              <a:rPr lang="en-US" smtClean="0"/>
              <a:t>2</a:t>
            </a:fld>
            <a:endParaRPr lang="en-US"/>
          </a:p>
        </p:txBody>
      </p:sp>
    </p:spTree>
    <p:extLst>
      <p:ext uri="{BB962C8B-B14F-4D97-AF65-F5344CB8AC3E}">
        <p14:creationId xmlns:p14="http://schemas.microsoft.com/office/powerpoint/2010/main" val="1534503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85A74C-A622-9811-3099-A43FEDB08C9E}"/>
              </a:ext>
            </a:extLst>
          </p:cNvPr>
          <p:cNvSpPr txBox="1"/>
          <p:nvPr/>
        </p:nvSpPr>
        <p:spPr>
          <a:xfrm>
            <a:off x="1753496" y="2967335"/>
            <a:ext cx="5637007" cy="923330"/>
          </a:xfrm>
          <a:prstGeom prst="rect">
            <a:avLst/>
          </a:prstGeom>
          <a:noFill/>
        </p:spPr>
        <p:txBody>
          <a:bodyPr wrap="square" rtlCol="0">
            <a:spAutoFit/>
          </a:bodyPr>
          <a:lstStyle/>
          <a:p>
            <a:pPr algn="ctr"/>
            <a:r>
              <a:rPr lang="en-DE" sz="5400" dirty="0"/>
              <a:t>Introduction</a:t>
            </a:r>
          </a:p>
        </p:txBody>
      </p:sp>
      <p:sp>
        <p:nvSpPr>
          <p:cNvPr id="3" name="Footer Placeholder 2">
            <a:extLst>
              <a:ext uri="{FF2B5EF4-FFF2-40B4-BE49-F238E27FC236}">
                <a16:creationId xmlns:a16="http://schemas.microsoft.com/office/drawing/2014/main" id="{39087299-4DFD-BB05-8035-A4EB7EC63221}"/>
              </a:ext>
            </a:extLst>
          </p:cNvPr>
          <p:cNvSpPr>
            <a:spLocks noGrp="1"/>
          </p:cNvSpPr>
          <p:nvPr>
            <p:ph type="ftr" sz="quarter" idx="11"/>
          </p:nvPr>
        </p:nvSpPr>
        <p:spPr/>
        <p:txBody>
          <a:bodyPr/>
          <a:lstStyle/>
          <a:p>
            <a:r>
              <a:rPr lang="en-GB" sz="1200" dirty="0">
                <a:effectLst/>
                <a:latin typeface="Poppins" pitchFamily="2" charset="77"/>
              </a:rPr>
              <a:t>Louis </a:t>
            </a:r>
            <a:r>
              <a:rPr lang="en-GB" sz="1200" dirty="0" err="1">
                <a:effectLst/>
                <a:latin typeface="Poppins" pitchFamily="2" charset="77"/>
              </a:rPr>
              <a:t>Odinkemelu</a:t>
            </a:r>
            <a:r>
              <a:rPr lang="en-GB" sz="1200" dirty="0">
                <a:effectLst/>
                <a:latin typeface="Poppins" pitchFamily="2" charset="77"/>
              </a:rPr>
              <a:t> </a:t>
            </a:r>
            <a:endParaRPr lang="en-DE" dirty="0"/>
          </a:p>
        </p:txBody>
      </p:sp>
      <p:sp>
        <p:nvSpPr>
          <p:cNvPr id="4" name="Slide Number Placeholder 3">
            <a:extLst>
              <a:ext uri="{FF2B5EF4-FFF2-40B4-BE49-F238E27FC236}">
                <a16:creationId xmlns:a16="http://schemas.microsoft.com/office/drawing/2014/main" id="{E969200C-5B3B-FFC0-634F-F5BECA08A80B}"/>
              </a:ext>
            </a:extLst>
          </p:cNvPr>
          <p:cNvSpPr>
            <a:spLocks noGrp="1"/>
          </p:cNvSpPr>
          <p:nvPr>
            <p:ph type="sldNum" sz="quarter" idx="12"/>
          </p:nvPr>
        </p:nvSpPr>
        <p:spPr/>
        <p:txBody>
          <a:bodyPr/>
          <a:lstStyle/>
          <a:p>
            <a:fld id="{C1FF6DA9-008F-8B48-92A6-B652298478BF}" type="slidenum">
              <a:rPr lang="en-US" smtClean="0"/>
              <a:t>3</a:t>
            </a:fld>
            <a:endParaRPr lang="en-US"/>
          </a:p>
        </p:txBody>
      </p:sp>
    </p:spTree>
    <p:extLst>
      <p:ext uri="{BB962C8B-B14F-4D97-AF65-F5344CB8AC3E}">
        <p14:creationId xmlns:p14="http://schemas.microsoft.com/office/powerpoint/2010/main" val="9659378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088D6-13A1-3BC0-1ED1-BC7EC38B0736}"/>
              </a:ext>
            </a:extLst>
          </p:cNvPr>
          <p:cNvSpPr>
            <a:spLocks noGrp="1"/>
          </p:cNvSpPr>
          <p:nvPr>
            <p:ph type="title"/>
          </p:nvPr>
        </p:nvSpPr>
        <p:spPr/>
        <p:txBody>
          <a:bodyPr/>
          <a:lstStyle/>
          <a:p>
            <a:r>
              <a:rPr lang="en-DE" dirty="0"/>
              <a:t>IDEA &amp; Scope</a:t>
            </a:r>
          </a:p>
        </p:txBody>
      </p:sp>
      <p:sp>
        <p:nvSpPr>
          <p:cNvPr id="3" name="Text Placeholder 2">
            <a:extLst>
              <a:ext uri="{FF2B5EF4-FFF2-40B4-BE49-F238E27FC236}">
                <a16:creationId xmlns:a16="http://schemas.microsoft.com/office/drawing/2014/main" id="{B15EE75C-54E0-92A3-2128-C3E7ADDE2B38}"/>
              </a:ext>
            </a:extLst>
          </p:cNvPr>
          <p:cNvSpPr>
            <a:spLocks noGrp="1"/>
          </p:cNvSpPr>
          <p:nvPr>
            <p:ph type="body" idx="1"/>
          </p:nvPr>
        </p:nvSpPr>
        <p:spPr/>
        <p:txBody>
          <a:bodyPr/>
          <a:lstStyle/>
          <a:p>
            <a:r>
              <a:rPr lang="en-DE" dirty="0"/>
              <a:t>What are we trying to solve?</a:t>
            </a:r>
          </a:p>
        </p:txBody>
      </p:sp>
      <p:sp>
        <p:nvSpPr>
          <p:cNvPr id="4" name="Content Placeholder 3">
            <a:extLst>
              <a:ext uri="{FF2B5EF4-FFF2-40B4-BE49-F238E27FC236}">
                <a16:creationId xmlns:a16="http://schemas.microsoft.com/office/drawing/2014/main" id="{364985BB-5A00-922B-386F-7610865BBA1D}"/>
              </a:ext>
            </a:extLst>
          </p:cNvPr>
          <p:cNvSpPr>
            <a:spLocks noGrp="1"/>
          </p:cNvSpPr>
          <p:nvPr>
            <p:ph sz="half" idx="2"/>
          </p:nvPr>
        </p:nvSpPr>
        <p:spPr/>
        <p:txBody>
          <a:bodyPr/>
          <a:lstStyle/>
          <a:p>
            <a:r>
              <a:rPr lang="en-US" sz="2400" dirty="0"/>
              <a:t>How many products should we produce?</a:t>
            </a:r>
          </a:p>
          <a:p>
            <a:r>
              <a:rPr lang="en-US" sz="2400" dirty="0"/>
              <a:t>When should we stock them?</a:t>
            </a:r>
          </a:p>
          <a:p>
            <a:r>
              <a:rPr lang="en-US" sz="2400" dirty="0"/>
              <a:t>Where should we store them?</a:t>
            </a:r>
          </a:p>
        </p:txBody>
      </p:sp>
      <p:sp>
        <p:nvSpPr>
          <p:cNvPr id="5" name="Text Placeholder 4">
            <a:extLst>
              <a:ext uri="{FF2B5EF4-FFF2-40B4-BE49-F238E27FC236}">
                <a16:creationId xmlns:a16="http://schemas.microsoft.com/office/drawing/2014/main" id="{F155DDBA-58F2-B609-A275-0F766E4870E6}"/>
              </a:ext>
            </a:extLst>
          </p:cNvPr>
          <p:cNvSpPr>
            <a:spLocks noGrp="1"/>
          </p:cNvSpPr>
          <p:nvPr>
            <p:ph type="body" sz="quarter" idx="3"/>
          </p:nvPr>
        </p:nvSpPr>
        <p:spPr/>
        <p:txBody>
          <a:bodyPr/>
          <a:lstStyle/>
          <a:p>
            <a:r>
              <a:rPr lang="en-DE" dirty="0"/>
              <a:t>What is our scope?</a:t>
            </a:r>
          </a:p>
        </p:txBody>
      </p:sp>
      <p:sp>
        <p:nvSpPr>
          <p:cNvPr id="6" name="Content Placeholder 5">
            <a:extLst>
              <a:ext uri="{FF2B5EF4-FFF2-40B4-BE49-F238E27FC236}">
                <a16:creationId xmlns:a16="http://schemas.microsoft.com/office/drawing/2014/main" id="{6E2BE2F6-CF3A-2C5C-9351-2F9A3C7C240B}"/>
              </a:ext>
            </a:extLst>
          </p:cNvPr>
          <p:cNvSpPr>
            <a:spLocks noGrp="1"/>
          </p:cNvSpPr>
          <p:nvPr>
            <p:ph sz="quarter" idx="4"/>
          </p:nvPr>
        </p:nvSpPr>
        <p:spPr/>
        <p:txBody>
          <a:bodyPr/>
          <a:lstStyle/>
          <a:p>
            <a:pPr marL="0" indent="0">
              <a:buNone/>
            </a:pPr>
            <a:r>
              <a:rPr lang="en-GB" b="0" i="0" u="none" strike="noStrike" dirty="0">
                <a:solidFill>
                  <a:srgbClr val="000000"/>
                </a:solidFill>
                <a:effectLst/>
                <a:latin typeface="-webkit-standard"/>
              </a:rPr>
              <a:t>Demand analysis by product category across multiple warehouses to support inventory planning</a:t>
            </a:r>
            <a:endParaRPr lang="en-DE" dirty="0"/>
          </a:p>
          <a:p>
            <a:pPr marL="0" indent="0">
              <a:buNone/>
            </a:pPr>
            <a:endParaRPr lang="en-DE" dirty="0"/>
          </a:p>
        </p:txBody>
      </p:sp>
      <p:sp>
        <p:nvSpPr>
          <p:cNvPr id="7" name="Footer Placeholder 6">
            <a:extLst>
              <a:ext uri="{FF2B5EF4-FFF2-40B4-BE49-F238E27FC236}">
                <a16:creationId xmlns:a16="http://schemas.microsoft.com/office/drawing/2014/main" id="{FF80A398-326A-F780-348B-C28E352616B4}"/>
              </a:ext>
            </a:extLst>
          </p:cNvPr>
          <p:cNvSpPr>
            <a:spLocks noGrp="1"/>
          </p:cNvSpPr>
          <p:nvPr>
            <p:ph type="ftr" sz="quarter" idx="11"/>
          </p:nvPr>
        </p:nvSpPr>
        <p:spPr/>
        <p:txBody>
          <a:bodyPr/>
          <a:lstStyle/>
          <a:p>
            <a:r>
              <a:rPr lang="en-GB" sz="1200" dirty="0">
                <a:effectLst/>
                <a:latin typeface="Poppins" pitchFamily="2" charset="77"/>
              </a:rPr>
              <a:t>Louis </a:t>
            </a:r>
            <a:r>
              <a:rPr lang="en-GB" sz="1200" dirty="0" err="1">
                <a:effectLst/>
                <a:latin typeface="Poppins" pitchFamily="2" charset="77"/>
              </a:rPr>
              <a:t>Odinkemelu</a:t>
            </a:r>
            <a:r>
              <a:rPr lang="en-GB" sz="1200" dirty="0">
                <a:effectLst/>
                <a:latin typeface="Poppins" pitchFamily="2" charset="77"/>
              </a:rPr>
              <a:t> </a:t>
            </a:r>
            <a:endParaRPr lang="en-DE" dirty="0"/>
          </a:p>
        </p:txBody>
      </p:sp>
      <p:sp>
        <p:nvSpPr>
          <p:cNvPr id="8" name="Slide Number Placeholder 7">
            <a:extLst>
              <a:ext uri="{FF2B5EF4-FFF2-40B4-BE49-F238E27FC236}">
                <a16:creationId xmlns:a16="http://schemas.microsoft.com/office/drawing/2014/main" id="{9C5AEF3B-F60F-EB55-456F-D8CAB97AC579}"/>
              </a:ext>
            </a:extLst>
          </p:cNvPr>
          <p:cNvSpPr>
            <a:spLocks noGrp="1"/>
          </p:cNvSpPr>
          <p:nvPr>
            <p:ph type="sldNum" sz="quarter" idx="12"/>
          </p:nvPr>
        </p:nvSpPr>
        <p:spPr/>
        <p:txBody>
          <a:bodyPr/>
          <a:lstStyle/>
          <a:p>
            <a:fld id="{C1FF6DA9-008F-8B48-92A6-B652298478BF}" type="slidenum">
              <a:rPr lang="en-US" smtClean="0"/>
              <a:t>4</a:t>
            </a:fld>
            <a:endParaRPr lang="en-US"/>
          </a:p>
        </p:txBody>
      </p:sp>
    </p:spTree>
    <p:extLst>
      <p:ext uri="{BB962C8B-B14F-4D97-AF65-F5344CB8AC3E}">
        <p14:creationId xmlns:p14="http://schemas.microsoft.com/office/powerpoint/2010/main" val="7261088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Objectives</a:t>
            </a:r>
          </a:p>
        </p:txBody>
      </p:sp>
      <p:sp>
        <p:nvSpPr>
          <p:cNvPr id="3" name="Content Placeholder 2"/>
          <p:cNvSpPr>
            <a:spLocks noGrp="1"/>
          </p:cNvSpPr>
          <p:nvPr>
            <p:ph idx="1"/>
          </p:nvPr>
        </p:nvSpPr>
        <p:spPr/>
        <p:txBody>
          <a:bodyPr>
            <a:normAutofit/>
          </a:bodyPr>
          <a:lstStyle/>
          <a:p>
            <a:r>
              <a:rPr sz="2400" dirty="0"/>
              <a:t>Analyze </a:t>
            </a:r>
            <a:r>
              <a:rPr lang="en-US" sz="2400" dirty="0"/>
              <a:t>historical </a:t>
            </a:r>
            <a:r>
              <a:rPr sz="2400" dirty="0"/>
              <a:t>demand patterns</a:t>
            </a:r>
          </a:p>
          <a:p>
            <a:r>
              <a:rPr lang="en-GB" sz="2400" b="0" i="0" u="none" strike="noStrike" dirty="0">
                <a:solidFill>
                  <a:srgbClr val="000000"/>
                </a:solidFill>
                <a:effectLst/>
              </a:rPr>
              <a:t>Identify intermittent demand </a:t>
            </a:r>
            <a:r>
              <a:rPr lang="en-GB" sz="2400" b="0" i="0" u="none" strike="noStrike" dirty="0" err="1">
                <a:solidFill>
                  <a:srgbClr val="000000"/>
                </a:solidFill>
                <a:effectLst/>
              </a:rPr>
              <a:t>behavior</a:t>
            </a:r>
            <a:endParaRPr lang="en-GB" sz="2400" b="0" i="0" u="none" strike="noStrike" dirty="0">
              <a:solidFill>
                <a:srgbClr val="000000"/>
              </a:solidFill>
              <a:effectLst/>
            </a:endParaRPr>
          </a:p>
          <a:p>
            <a:r>
              <a:rPr lang="en-US" sz="2400" dirty="0"/>
              <a:t>Support better replenishment decisions</a:t>
            </a:r>
          </a:p>
          <a:p>
            <a:r>
              <a:rPr lang="en-US" sz="2400" dirty="0"/>
              <a:t>Improve inventory planning using demand insights</a:t>
            </a:r>
            <a:endParaRPr sz="2400" dirty="0"/>
          </a:p>
        </p:txBody>
      </p:sp>
      <p:sp>
        <p:nvSpPr>
          <p:cNvPr id="4" name="Footer Placeholder 3">
            <a:extLst>
              <a:ext uri="{FF2B5EF4-FFF2-40B4-BE49-F238E27FC236}">
                <a16:creationId xmlns:a16="http://schemas.microsoft.com/office/drawing/2014/main" id="{EF31D902-28CE-8E9E-31B6-C0FE4DF51C41}"/>
              </a:ext>
            </a:extLst>
          </p:cNvPr>
          <p:cNvSpPr>
            <a:spLocks noGrp="1"/>
          </p:cNvSpPr>
          <p:nvPr>
            <p:ph type="ftr" sz="quarter" idx="11"/>
          </p:nvPr>
        </p:nvSpPr>
        <p:spPr/>
        <p:txBody>
          <a:bodyPr/>
          <a:lstStyle/>
          <a:p>
            <a:r>
              <a:rPr lang="en-GB" sz="1200" dirty="0">
                <a:effectLst/>
                <a:latin typeface="Poppins" pitchFamily="2" charset="77"/>
              </a:rPr>
              <a:t>Louis </a:t>
            </a:r>
            <a:r>
              <a:rPr lang="en-GB" sz="1200" dirty="0" err="1">
                <a:effectLst/>
                <a:latin typeface="Poppins" pitchFamily="2" charset="77"/>
              </a:rPr>
              <a:t>Odinkemelu</a:t>
            </a:r>
            <a:r>
              <a:rPr lang="en-GB" sz="1200" dirty="0">
                <a:effectLst/>
                <a:latin typeface="Poppins" pitchFamily="2" charset="77"/>
              </a:rPr>
              <a:t> </a:t>
            </a:r>
            <a:endParaRPr lang="en-DE" dirty="0"/>
          </a:p>
        </p:txBody>
      </p:sp>
      <p:sp>
        <p:nvSpPr>
          <p:cNvPr id="5" name="Slide Number Placeholder 4">
            <a:extLst>
              <a:ext uri="{FF2B5EF4-FFF2-40B4-BE49-F238E27FC236}">
                <a16:creationId xmlns:a16="http://schemas.microsoft.com/office/drawing/2014/main" id="{6A86E7D4-5C7D-90F4-13C6-373C05CF40DF}"/>
              </a:ext>
            </a:extLst>
          </p:cNvPr>
          <p:cNvSpPr>
            <a:spLocks noGrp="1"/>
          </p:cNvSpPr>
          <p:nvPr>
            <p:ph type="sldNum" sz="quarter" idx="12"/>
          </p:nvPr>
        </p:nvSpPr>
        <p:spPr/>
        <p:txBody>
          <a:bodyPr/>
          <a:lstStyle/>
          <a:p>
            <a:fld id="{C1FF6DA9-008F-8B48-92A6-B652298478BF}"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Tasks &amp; Milestones</a:t>
            </a:r>
          </a:p>
        </p:txBody>
      </p:sp>
      <p:pic>
        <p:nvPicPr>
          <p:cNvPr id="6" name="Picture 5">
            <a:extLst>
              <a:ext uri="{FF2B5EF4-FFF2-40B4-BE49-F238E27FC236}">
                <a16:creationId xmlns:a16="http://schemas.microsoft.com/office/drawing/2014/main" id="{05239C81-A327-9515-F0A8-BAA21D41F9F0}"/>
              </a:ext>
            </a:extLst>
          </p:cNvPr>
          <p:cNvPicPr>
            <a:picLocks noChangeAspect="1"/>
          </p:cNvPicPr>
          <p:nvPr/>
        </p:nvPicPr>
        <p:blipFill>
          <a:blip r:embed="rId3"/>
          <a:stretch>
            <a:fillRect/>
          </a:stretch>
        </p:blipFill>
        <p:spPr>
          <a:xfrm>
            <a:off x="149450" y="1829811"/>
            <a:ext cx="8845099" cy="2733135"/>
          </a:xfrm>
          <a:prstGeom prst="rect">
            <a:avLst/>
          </a:prstGeom>
        </p:spPr>
      </p:pic>
      <p:sp>
        <p:nvSpPr>
          <p:cNvPr id="3" name="Footer Placeholder 2">
            <a:extLst>
              <a:ext uri="{FF2B5EF4-FFF2-40B4-BE49-F238E27FC236}">
                <a16:creationId xmlns:a16="http://schemas.microsoft.com/office/drawing/2014/main" id="{884F2353-F333-56F4-64B5-9B2A796701BC}"/>
              </a:ext>
            </a:extLst>
          </p:cNvPr>
          <p:cNvSpPr>
            <a:spLocks noGrp="1"/>
          </p:cNvSpPr>
          <p:nvPr>
            <p:ph type="ftr" sz="quarter" idx="11"/>
          </p:nvPr>
        </p:nvSpPr>
        <p:spPr/>
        <p:txBody>
          <a:bodyPr/>
          <a:lstStyle/>
          <a:p>
            <a:r>
              <a:rPr lang="en-GB" sz="1200" dirty="0">
                <a:effectLst/>
                <a:latin typeface="Poppins" pitchFamily="2" charset="77"/>
              </a:rPr>
              <a:t>Louis </a:t>
            </a:r>
            <a:r>
              <a:rPr lang="en-GB" sz="1200" dirty="0" err="1">
                <a:effectLst/>
                <a:latin typeface="Poppins" pitchFamily="2" charset="77"/>
              </a:rPr>
              <a:t>Odinkemelu</a:t>
            </a:r>
            <a:r>
              <a:rPr lang="en-GB" sz="1200" dirty="0">
                <a:effectLst/>
                <a:latin typeface="Poppins" pitchFamily="2" charset="77"/>
              </a:rPr>
              <a:t> </a:t>
            </a:r>
            <a:endParaRPr lang="en-DE" dirty="0"/>
          </a:p>
        </p:txBody>
      </p:sp>
      <p:sp>
        <p:nvSpPr>
          <p:cNvPr id="4" name="Slide Number Placeholder 3">
            <a:extLst>
              <a:ext uri="{FF2B5EF4-FFF2-40B4-BE49-F238E27FC236}">
                <a16:creationId xmlns:a16="http://schemas.microsoft.com/office/drawing/2014/main" id="{230F2A8A-7CD8-A441-EF3E-75E509C77740}"/>
              </a:ext>
            </a:extLst>
          </p:cNvPr>
          <p:cNvSpPr>
            <a:spLocks noGrp="1"/>
          </p:cNvSpPr>
          <p:nvPr>
            <p:ph type="sldNum" sz="quarter" idx="12"/>
          </p:nvPr>
        </p:nvSpPr>
        <p:spPr/>
        <p:txBody>
          <a:bodyPr/>
          <a:lstStyle/>
          <a:p>
            <a:fld id="{C1FF6DA9-008F-8B48-92A6-B652298478BF}"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are we deliver?</a:t>
            </a:r>
            <a:endParaRPr dirty="0"/>
          </a:p>
        </p:txBody>
      </p:sp>
      <p:sp>
        <p:nvSpPr>
          <p:cNvPr id="3" name="Content Placeholder 2"/>
          <p:cNvSpPr>
            <a:spLocks noGrp="1"/>
          </p:cNvSpPr>
          <p:nvPr>
            <p:ph idx="1"/>
          </p:nvPr>
        </p:nvSpPr>
        <p:spPr/>
        <p:txBody>
          <a:bodyPr>
            <a:normAutofit/>
          </a:bodyPr>
          <a:lstStyle/>
          <a:p>
            <a:r>
              <a:rPr dirty="0"/>
              <a:t>Clean dataset</a:t>
            </a:r>
          </a:p>
          <a:p>
            <a:r>
              <a:rPr dirty="0"/>
              <a:t>Demand </a:t>
            </a:r>
            <a:r>
              <a:rPr lang="en-US" dirty="0"/>
              <a:t>analysis report</a:t>
            </a:r>
            <a:endParaRPr dirty="0"/>
          </a:p>
          <a:p>
            <a:r>
              <a:rPr lang="en-US" dirty="0"/>
              <a:t>Insights for inventory planning.</a:t>
            </a:r>
            <a:endParaRPr dirty="0"/>
          </a:p>
        </p:txBody>
      </p:sp>
      <p:sp>
        <p:nvSpPr>
          <p:cNvPr id="4" name="Footer Placeholder 3">
            <a:extLst>
              <a:ext uri="{FF2B5EF4-FFF2-40B4-BE49-F238E27FC236}">
                <a16:creationId xmlns:a16="http://schemas.microsoft.com/office/drawing/2014/main" id="{424B3FA5-D495-B62A-CA81-91D0F5D93C0F}"/>
              </a:ext>
            </a:extLst>
          </p:cNvPr>
          <p:cNvSpPr>
            <a:spLocks noGrp="1"/>
          </p:cNvSpPr>
          <p:nvPr>
            <p:ph type="ftr" sz="quarter" idx="11"/>
          </p:nvPr>
        </p:nvSpPr>
        <p:spPr/>
        <p:txBody>
          <a:bodyPr/>
          <a:lstStyle/>
          <a:p>
            <a:r>
              <a:rPr lang="en-GB" sz="1200" dirty="0">
                <a:effectLst/>
                <a:latin typeface="Poppins" pitchFamily="2" charset="77"/>
              </a:rPr>
              <a:t>Louis </a:t>
            </a:r>
            <a:r>
              <a:rPr lang="en-GB" sz="1200" dirty="0" err="1">
                <a:effectLst/>
                <a:latin typeface="Poppins" pitchFamily="2" charset="77"/>
              </a:rPr>
              <a:t>Odinkemelu</a:t>
            </a:r>
            <a:r>
              <a:rPr lang="en-GB" sz="1200" dirty="0">
                <a:effectLst/>
                <a:latin typeface="Poppins" pitchFamily="2" charset="77"/>
              </a:rPr>
              <a:t> </a:t>
            </a:r>
            <a:endParaRPr lang="en-DE" dirty="0"/>
          </a:p>
        </p:txBody>
      </p:sp>
      <p:sp>
        <p:nvSpPr>
          <p:cNvPr id="5" name="Slide Number Placeholder 4">
            <a:extLst>
              <a:ext uri="{FF2B5EF4-FFF2-40B4-BE49-F238E27FC236}">
                <a16:creationId xmlns:a16="http://schemas.microsoft.com/office/drawing/2014/main" id="{42574637-CDE2-39A8-9245-B55D16259062}"/>
              </a:ext>
            </a:extLst>
          </p:cNvPr>
          <p:cNvSpPr>
            <a:spLocks noGrp="1"/>
          </p:cNvSpPr>
          <p:nvPr>
            <p:ph type="sldNum" sz="quarter" idx="12"/>
          </p:nvPr>
        </p:nvSpPr>
        <p:spPr/>
        <p:txBody>
          <a:bodyPr/>
          <a:lstStyle/>
          <a:p>
            <a:fld id="{C1FF6DA9-008F-8B48-92A6-B652298478BF}"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85A74C-A622-9811-3099-A43FEDB08C9E}"/>
              </a:ext>
            </a:extLst>
          </p:cNvPr>
          <p:cNvSpPr txBox="1"/>
          <p:nvPr/>
        </p:nvSpPr>
        <p:spPr>
          <a:xfrm>
            <a:off x="1753496" y="2967335"/>
            <a:ext cx="5637007" cy="923330"/>
          </a:xfrm>
          <a:prstGeom prst="rect">
            <a:avLst/>
          </a:prstGeom>
          <a:noFill/>
        </p:spPr>
        <p:txBody>
          <a:bodyPr wrap="square" rtlCol="0">
            <a:spAutoFit/>
          </a:bodyPr>
          <a:lstStyle/>
          <a:p>
            <a:pPr algn="ctr"/>
            <a:r>
              <a:rPr lang="en-DE" sz="5400" dirty="0"/>
              <a:t>Business Case</a:t>
            </a:r>
          </a:p>
        </p:txBody>
      </p:sp>
      <p:sp>
        <p:nvSpPr>
          <p:cNvPr id="3" name="Footer Placeholder 2">
            <a:extLst>
              <a:ext uri="{FF2B5EF4-FFF2-40B4-BE49-F238E27FC236}">
                <a16:creationId xmlns:a16="http://schemas.microsoft.com/office/drawing/2014/main" id="{2022CE5F-C74F-14EF-B27D-7A44D6A4534C}"/>
              </a:ext>
            </a:extLst>
          </p:cNvPr>
          <p:cNvSpPr>
            <a:spLocks noGrp="1"/>
          </p:cNvSpPr>
          <p:nvPr>
            <p:ph type="ftr" sz="quarter" idx="11"/>
          </p:nvPr>
        </p:nvSpPr>
        <p:spPr/>
        <p:txBody>
          <a:bodyPr/>
          <a:lstStyle/>
          <a:p>
            <a:r>
              <a:rPr lang="en-GB" sz="1200" dirty="0">
                <a:effectLst/>
                <a:latin typeface="Poppins" pitchFamily="2" charset="77"/>
              </a:rPr>
              <a:t>Zainab </a:t>
            </a:r>
            <a:r>
              <a:rPr lang="en-GB" sz="1200" dirty="0" err="1">
                <a:effectLst/>
                <a:latin typeface="Poppins" pitchFamily="2" charset="77"/>
              </a:rPr>
              <a:t>Nashitah</a:t>
            </a:r>
            <a:endParaRPr lang="en-US" dirty="0"/>
          </a:p>
        </p:txBody>
      </p:sp>
      <p:sp>
        <p:nvSpPr>
          <p:cNvPr id="4" name="Slide Number Placeholder 3">
            <a:extLst>
              <a:ext uri="{FF2B5EF4-FFF2-40B4-BE49-F238E27FC236}">
                <a16:creationId xmlns:a16="http://schemas.microsoft.com/office/drawing/2014/main" id="{38E6DFF8-17A1-0D08-50CB-505ECD804F10}"/>
              </a:ext>
            </a:extLst>
          </p:cNvPr>
          <p:cNvSpPr>
            <a:spLocks noGrp="1"/>
          </p:cNvSpPr>
          <p:nvPr>
            <p:ph type="sldNum" sz="quarter" idx="12"/>
          </p:nvPr>
        </p:nvSpPr>
        <p:spPr/>
        <p:txBody>
          <a:bodyPr/>
          <a:lstStyle/>
          <a:p>
            <a:fld id="{C1FF6DA9-008F-8B48-92A6-B652298478BF}" type="slidenum">
              <a:rPr lang="en-US" smtClean="0"/>
              <a:t>8</a:t>
            </a:fld>
            <a:endParaRPr lang="en-US"/>
          </a:p>
        </p:txBody>
      </p:sp>
    </p:spTree>
    <p:extLst>
      <p:ext uri="{BB962C8B-B14F-4D97-AF65-F5344CB8AC3E}">
        <p14:creationId xmlns:p14="http://schemas.microsoft.com/office/powerpoint/2010/main" val="89465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Business Understanding</a:t>
            </a:r>
          </a:p>
        </p:txBody>
      </p:sp>
      <p:sp>
        <p:nvSpPr>
          <p:cNvPr id="3" name="Content Placeholder 2"/>
          <p:cNvSpPr>
            <a:spLocks noGrp="1"/>
          </p:cNvSpPr>
          <p:nvPr>
            <p:ph idx="1"/>
          </p:nvPr>
        </p:nvSpPr>
        <p:spPr>
          <a:xfrm>
            <a:off x="457200" y="2340383"/>
            <a:ext cx="8229600" cy="2264803"/>
          </a:xfrm>
        </p:spPr>
        <p:txBody>
          <a:bodyPr>
            <a:noAutofit/>
          </a:bodyPr>
          <a:lstStyle/>
          <a:p>
            <a:r>
              <a:rPr lang="en-US" sz="2400" dirty="0"/>
              <a:t>Demand is Unpredictable</a:t>
            </a:r>
            <a:endParaRPr sz="2400" dirty="0"/>
          </a:p>
          <a:p>
            <a:r>
              <a:rPr lang="en-US" sz="2400" dirty="0"/>
              <a:t>Some rarely needed</a:t>
            </a:r>
            <a:endParaRPr sz="2400" dirty="0"/>
          </a:p>
          <a:p>
            <a:r>
              <a:rPr lang="en-US" sz="2400" dirty="0"/>
              <a:t>Some frequently requested</a:t>
            </a:r>
          </a:p>
          <a:p>
            <a:r>
              <a:rPr lang="en-US" sz="2400" dirty="0"/>
              <a:t>Demand varies across different warehouses</a:t>
            </a:r>
          </a:p>
          <a:p>
            <a:r>
              <a:rPr lang="en-GB" sz="2400" b="0" i="0" u="none" strike="noStrike" dirty="0">
                <a:solidFill>
                  <a:srgbClr val="000000"/>
                </a:solidFill>
                <a:effectLst/>
              </a:rPr>
              <a:t>This creates challenges in balancing </a:t>
            </a:r>
            <a:r>
              <a:rPr lang="en-GB" sz="2400" i="0" u="none" strike="noStrike" dirty="0">
                <a:solidFill>
                  <a:srgbClr val="000000"/>
                </a:solidFill>
                <a:effectLst/>
              </a:rPr>
              <a:t>availability and cost</a:t>
            </a:r>
            <a:endParaRPr sz="2400" dirty="0"/>
          </a:p>
        </p:txBody>
      </p:sp>
      <p:sp>
        <p:nvSpPr>
          <p:cNvPr id="4" name="TextBox 3">
            <a:extLst>
              <a:ext uri="{FF2B5EF4-FFF2-40B4-BE49-F238E27FC236}">
                <a16:creationId xmlns:a16="http://schemas.microsoft.com/office/drawing/2014/main" id="{0EFDA8CA-CD5D-B709-D458-A9C92CD29717}"/>
              </a:ext>
            </a:extLst>
          </p:cNvPr>
          <p:cNvSpPr txBox="1"/>
          <p:nvPr/>
        </p:nvSpPr>
        <p:spPr>
          <a:xfrm>
            <a:off x="457200" y="1765426"/>
            <a:ext cx="8229600" cy="461665"/>
          </a:xfrm>
          <a:prstGeom prst="rect">
            <a:avLst/>
          </a:prstGeom>
          <a:noFill/>
        </p:spPr>
        <p:txBody>
          <a:bodyPr wrap="square" rtlCol="0">
            <a:spAutoFit/>
          </a:bodyPr>
          <a:lstStyle/>
          <a:p>
            <a:r>
              <a:rPr lang="en-DE" sz="2400" b="1" dirty="0"/>
              <a:t>Real-World scenario: </a:t>
            </a:r>
          </a:p>
        </p:txBody>
      </p:sp>
      <p:sp>
        <p:nvSpPr>
          <p:cNvPr id="5" name="Footer Placeholder 4">
            <a:extLst>
              <a:ext uri="{FF2B5EF4-FFF2-40B4-BE49-F238E27FC236}">
                <a16:creationId xmlns:a16="http://schemas.microsoft.com/office/drawing/2014/main" id="{E0208CEA-1635-AAF4-A315-5BF27C0ABA02}"/>
              </a:ext>
            </a:extLst>
          </p:cNvPr>
          <p:cNvSpPr>
            <a:spLocks noGrp="1"/>
          </p:cNvSpPr>
          <p:nvPr>
            <p:ph type="ftr" sz="quarter" idx="11"/>
          </p:nvPr>
        </p:nvSpPr>
        <p:spPr/>
        <p:txBody>
          <a:bodyPr/>
          <a:lstStyle/>
          <a:p>
            <a:r>
              <a:rPr lang="en-GB" sz="1200" dirty="0">
                <a:effectLst/>
                <a:latin typeface="Poppins" pitchFamily="2" charset="77"/>
              </a:rPr>
              <a:t>Zainab </a:t>
            </a:r>
            <a:r>
              <a:rPr lang="en-GB" sz="1200" dirty="0" err="1">
                <a:effectLst/>
                <a:latin typeface="Poppins" pitchFamily="2" charset="77"/>
              </a:rPr>
              <a:t>Nashitah</a:t>
            </a:r>
            <a:endParaRPr lang="en-US" dirty="0"/>
          </a:p>
        </p:txBody>
      </p:sp>
      <p:sp>
        <p:nvSpPr>
          <p:cNvPr id="6" name="Slide Number Placeholder 5">
            <a:extLst>
              <a:ext uri="{FF2B5EF4-FFF2-40B4-BE49-F238E27FC236}">
                <a16:creationId xmlns:a16="http://schemas.microsoft.com/office/drawing/2014/main" id="{3727C761-0C48-908C-D7CC-0A9710F8B2CB}"/>
              </a:ext>
            </a:extLst>
          </p:cNvPr>
          <p:cNvSpPr>
            <a:spLocks noGrp="1"/>
          </p:cNvSpPr>
          <p:nvPr>
            <p:ph type="sldNum" sz="quarter" idx="12"/>
          </p:nvPr>
        </p:nvSpPr>
        <p:spPr/>
        <p:txBody>
          <a:bodyPr/>
          <a:lstStyle/>
          <a:p>
            <a:fld id="{C1FF6DA9-008F-8B48-92A6-B652298478BF}"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Problem Statement</a:t>
            </a:r>
          </a:p>
        </p:txBody>
      </p:sp>
      <p:sp>
        <p:nvSpPr>
          <p:cNvPr id="3" name="Content Placeholder 2"/>
          <p:cNvSpPr>
            <a:spLocks noGrp="1"/>
          </p:cNvSpPr>
          <p:nvPr>
            <p:ph idx="1"/>
          </p:nvPr>
        </p:nvSpPr>
        <p:spPr/>
        <p:txBody>
          <a:bodyPr>
            <a:normAutofit/>
          </a:bodyPr>
          <a:lstStyle/>
          <a:p>
            <a:r>
              <a:rPr lang="en-GB" sz="2400" b="0" i="0" u="none" strike="noStrike" dirty="0">
                <a:solidFill>
                  <a:srgbClr val="000000"/>
                </a:solidFill>
                <a:effectLst/>
              </a:rPr>
              <a:t>Overstocking leads to </a:t>
            </a:r>
            <a:r>
              <a:rPr lang="en-GB" sz="2400" b="1" i="0" u="none" strike="noStrike" dirty="0">
                <a:solidFill>
                  <a:srgbClr val="000000"/>
                </a:solidFill>
                <a:effectLst/>
              </a:rPr>
              <a:t>high inventory holding costs</a:t>
            </a:r>
          </a:p>
          <a:p>
            <a:r>
              <a:rPr lang="en-GB" sz="2400" b="0" i="0" u="none" strike="noStrike" dirty="0">
                <a:solidFill>
                  <a:srgbClr val="000000"/>
                </a:solidFill>
                <a:effectLst/>
              </a:rPr>
              <a:t>Understocking leads to </a:t>
            </a:r>
            <a:r>
              <a:rPr lang="en-GB" sz="2400" b="1" i="0" u="none" strike="noStrike" dirty="0">
                <a:solidFill>
                  <a:srgbClr val="000000"/>
                </a:solidFill>
                <a:effectLst/>
              </a:rPr>
              <a:t>stockouts and operational delays</a:t>
            </a:r>
          </a:p>
          <a:p>
            <a:r>
              <a:rPr lang="en-GB" sz="2400" b="0" i="0" u="none" strike="noStrike" dirty="0">
                <a:solidFill>
                  <a:srgbClr val="000000"/>
                </a:solidFill>
                <a:effectLst/>
              </a:rPr>
              <a:t>Irregular (intermittent) demand makes planning difficult</a:t>
            </a:r>
          </a:p>
          <a:p>
            <a:r>
              <a:rPr lang="en-GB" sz="2400" b="0" i="0" u="none" strike="noStrike" dirty="0">
                <a:solidFill>
                  <a:srgbClr val="000000"/>
                </a:solidFill>
                <a:effectLst/>
              </a:rPr>
              <a:t>Lack of demand insights results in </a:t>
            </a:r>
            <a:r>
              <a:rPr lang="en-GB" sz="2400" b="1" i="0" u="none" strike="noStrike" dirty="0">
                <a:solidFill>
                  <a:srgbClr val="000000"/>
                </a:solidFill>
                <a:effectLst/>
              </a:rPr>
              <a:t>inefficient replenishment decisions</a:t>
            </a:r>
            <a:endParaRPr sz="2400" dirty="0"/>
          </a:p>
        </p:txBody>
      </p:sp>
      <p:sp>
        <p:nvSpPr>
          <p:cNvPr id="4" name="Footer Placeholder 3">
            <a:extLst>
              <a:ext uri="{FF2B5EF4-FFF2-40B4-BE49-F238E27FC236}">
                <a16:creationId xmlns:a16="http://schemas.microsoft.com/office/drawing/2014/main" id="{99F86E7A-3355-C519-BF45-8F6101A7D6A1}"/>
              </a:ext>
            </a:extLst>
          </p:cNvPr>
          <p:cNvSpPr>
            <a:spLocks noGrp="1"/>
          </p:cNvSpPr>
          <p:nvPr>
            <p:ph type="ftr" sz="quarter" idx="11"/>
          </p:nvPr>
        </p:nvSpPr>
        <p:spPr/>
        <p:txBody>
          <a:bodyPr/>
          <a:lstStyle/>
          <a:p>
            <a:r>
              <a:rPr lang="en-GB" sz="1200" dirty="0">
                <a:effectLst/>
                <a:latin typeface="Poppins" pitchFamily="2" charset="77"/>
              </a:rPr>
              <a:t>Zainab </a:t>
            </a:r>
            <a:r>
              <a:rPr lang="en-GB" sz="1200" dirty="0" err="1">
                <a:effectLst/>
                <a:latin typeface="Poppins" pitchFamily="2" charset="77"/>
              </a:rPr>
              <a:t>Nashitah</a:t>
            </a:r>
            <a:endParaRPr lang="en-US" dirty="0"/>
          </a:p>
        </p:txBody>
      </p:sp>
      <p:sp>
        <p:nvSpPr>
          <p:cNvPr id="5" name="Slide Number Placeholder 4">
            <a:extLst>
              <a:ext uri="{FF2B5EF4-FFF2-40B4-BE49-F238E27FC236}">
                <a16:creationId xmlns:a16="http://schemas.microsoft.com/office/drawing/2014/main" id="{35DCC4F7-10A7-E673-FDB5-F7FD2F12FA37}"/>
              </a:ext>
            </a:extLst>
          </p:cNvPr>
          <p:cNvSpPr>
            <a:spLocks noGrp="1"/>
          </p:cNvSpPr>
          <p:nvPr>
            <p:ph type="sldNum" sz="quarter" idx="12"/>
          </p:nvPr>
        </p:nvSpPr>
        <p:spPr/>
        <p:txBody>
          <a:bodyPr/>
          <a:lstStyle/>
          <a:p>
            <a:fld id="{C1FF6DA9-008F-8B48-92A6-B652298478BF}"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F29756-0CE6-4CFD-D2AA-96E3AE61B99F}"/>
              </a:ext>
            </a:extLst>
          </p:cNvPr>
          <p:cNvSpPr>
            <a:spLocks noGrp="1"/>
          </p:cNvSpPr>
          <p:nvPr>
            <p:ph idx="1"/>
          </p:nvPr>
        </p:nvSpPr>
        <p:spPr>
          <a:xfrm>
            <a:off x="457200" y="808892"/>
            <a:ext cx="8229600" cy="5317271"/>
          </a:xfrm>
        </p:spPr>
        <p:txBody>
          <a:bodyPr>
            <a:normAutofit/>
          </a:bodyPr>
          <a:lstStyle/>
          <a:p>
            <a:pPr marL="0" lvl="0" indent="0" algn="just" defTabSz="914400" eaLnBrk="0" fontAlgn="base" hangingPunct="0">
              <a:spcBef>
                <a:spcPct val="0"/>
              </a:spcBef>
              <a:spcAft>
                <a:spcPct val="0"/>
              </a:spcAft>
              <a:buFontTx/>
              <a:buChar char="•"/>
            </a:pPr>
            <a:r>
              <a:rPr lang="en-DE" altLang="en-DE" sz="2400" dirty="0">
                <a:solidFill>
                  <a:srgbClr val="27251E"/>
                </a:solidFill>
              </a:rPr>
              <a:t>Demand is unpredictable and changes over time</a:t>
            </a:r>
          </a:p>
          <a:p>
            <a:pPr marL="0" lvl="0" indent="0" algn="just" defTabSz="914400" eaLnBrk="0" fontAlgn="base" hangingPunct="0">
              <a:spcBef>
                <a:spcPct val="0"/>
              </a:spcBef>
              <a:spcAft>
                <a:spcPct val="0"/>
              </a:spcAft>
              <a:buNone/>
            </a:pPr>
            <a:r>
              <a:rPr lang="en-DE" altLang="en-DE" sz="2400" dirty="0">
                <a:solidFill>
                  <a:srgbClr val="27251E"/>
                </a:solidFill>
              </a:rPr>
              <a:t> across products and warehouses.</a:t>
            </a:r>
          </a:p>
          <a:p>
            <a:pPr marL="0" lvl="0" indent="0" algn="just" defTabSz="914400" eaLnBrk="0" fontAlgn="base" hangingPunct="0">
              <a:spcBef>
                <a:spcPct val="0"/>
              </a:spcBef>
              <a:spcAft>
                <a:spcPct val="0"/>
              </a:spcAft>
              <a:buFontTx/>
              <a:buChar char="•"/>
            </a:pPr>
            <a:r>
              <a:rPr lang="en-DE" altLang="en-DE" sz="2400" dirty="0">
                <a:solidFill>
                  <a:srgbClr val="27251E"/>
                </a:solidFill>
              </a:rPr>
              <a:t>Some products are intermittent,</a:t>
            </a:r>
          </a:p>
          <a:p>
            <a:pPr marL="0" lvl="0" indent="0" algn="just" defTabSz="914400" eaLnBrk="0" fontAlgn="base" hangingPunct="0">
              <a:spcBef>
                <a:spcPct val="0"/>
              </a:spcBef>
              <a:spcAft>
                <a:spcPct val="0"/>
              </a:spcAft>
              <a:buNone/>
            </a:pPr>
            <a:r>
              <a:rPr lang="en-DE" altLang="en-DE" sz="2400" dirty="0">
                <a:solidFill>
                  <a:srgbClr val="27251E"/>
                </a:solidFill>
              </a:rPr>
              <a:t> with rare but important demand spikes.</a:t>
            </a:r>
          </a:p>
          <a:p>
            <a:pPr marL="0" lvl="0" indent="0" algn="just" defTabSz="914400" eaLnBrk="0" fontAlgn="base" hangingPunct="0">
              <a:spcBef>
                <a:spcPct val="0"/>
              </a:spcBef>
              <a:spcAft>
                <a:spcPct val="0"/>
              </a:spcAft>
              <a:buFontTx/>
              <a:buChar char="•"/>
            </a:pPr>
            <a:r>
              <a:rPr lang="en-DE" altLang="en-DE" sz="2400" dirty="0">
                <a:solidFill>
                  <a:srgbClr val="27251E"/>
                </a:solidFill>
              </a:rPr>
              <a:t>Some products are fast-moving </a:t>
            </a:r>
          </a:p>
          <a:p>
            <a:pPr marL="0" lvl="0" indent="0" algn="just" defTabSz="914400" eaLnBrk="0" fontAlgn="base" hangingPunct="0">
              <a:spcBef>
                <a:spcPct val="0"/>
              </a:spcBef>
              <a:spcAft>
                <a:spcPct val="0"/>
              </a:spcAft>
              <a:buNone/>
            </a:pPr>
            <a:r>
              <a:rPr lang="en-DE" altLang="en-DE" sz="2400" dirty="0">
                <a:solidFill>
                  <a:srgbClr val="27251E"/>
                </a:solidFill>
              </a:rPr>
              <a:t>and require consistent replenishment.</a:t>
            </a:r>
          </a:p>
          <a:p>
            <a:pPr marL="0" lvl="0" indent="0" algn="just" defTabSz="914400" eaLnBrk="0" fontAlgn="base" hangingPunct="0">
              <a:spcBef>
                <a:spcPct val="0"/>
              </a:spcBef>
              <a:spcAft>
                <a:spcPct val="0"/>
              </a:spcAft>
              <a:buFontTx/>
              <a:buChar char="•"/>
            </a:pPr>
            <a:r>
              <a:rPr lang="en-DE" altLang="en-DE" sz="2400" dirty="0">
                <a:solidFill>
                  <a:srgbClr val="27251E"/>
                </a:solidFill>
              </a:rPr>
              <a:t>Demand patterns differ by warehouse,</a:t>
            </a:r>
          </a:p>
          <a:p>
            <a:pPr marL="0" lvl="0" indent="0" algn="just" defTabSz="914400" eaLnBrk="0" fontAlgn="base" hangingPunct="0">
              <a:spcBef>
                <a:spcPct val="0"/>
              </a:spcBef>
              <a:spcAft>
                <a:spcPct val="0"/>
              </a:spcAft>
              <a:buNone/>
            </a:pPr>
            <a:r>
              <a:rPr lang="en-DE" altLang="en-DE" sz="2400" dirty="0">
                <a:solidFill>
                  <a:srgbClr val="27251E"/>
                </a:solidFill>
              </a:rPr>
              <a:t> which creates uneven stock pressure.</a:t>
            </a:r>
          </a:p>
          <a:p>
            <a:pPr marL="0" lvl="0" indent="0" algn="just" defTabSz="914400" eaLnBrk="0" fontAlgn="base" hangingPunct="0">
              <a:spcBef>
                <a:spcPct val="0"/>
              </a:spcBef>
              <a:spcAft>
                <a:spcPct val="0"/>
              </a:spcAft>
              <a:buFontTx/>
              <a:buChar char="•"/>
            </a:pPr>
            <a:r>
              <a:rPr lang="en-DE" altLang="en-DE" sz="2400" dirty="0">
                <a:solidFill>
                  <a:srgbClr val="27251E"/>
                </a:solidFill>
              </a:rPr>
              <a:t>This creates a trade-off between </a:t>
            </a:r>
          </a:p>
          <a:p>
            <a:pPr marL="0" lvl="0" indent="0" algn="just" defTabSz="914400" eaLnBrk="0" fontAlgn="base" hangingPunct="0">
              <a:spcBef>
                <a:spcPct val="0"/>
              </a:spcBef>
              <a:spcAft>
                <a:spcPct val="0"/>
              </a:spcAft>
              <a:buNone/>
            </a:pPr>
            <a:r>
              <a:rPr lang="en-DE" altLang="en-DE" sz="2400" dirty="0">
                <a:solidFill>
                  <a:srgbClr val="27251E"/>
                </a:solidFill>
              </a:rPr>
              <a:t>product availability and inventory cost.</a:t>
            </a:r>
          </a:p>
          <a:p>
            <a:pPr marL="0" lvl="0" indent="0" algn="just" defTabSz="914400" eaLnBrk="0" fontAlgn="base" hangingPunct="0">
              <a:spcBef>
                <a:spcPct val="0"/>
              </a:spcBef>
              <a:spcAft>
                <a:spcPct val="0"/>
              </a:spcAft>
              <a:buFontTx/>
              <a:buChar char="•"/>
            </a:pPr>
            <a:r>
              <a:rPr lang="en-DE" altLang="en-DE" sz="2400" dirty="0">
                <a:solidFill>
                  <a:srgbClr val="27251E"/>
                </a:solidFill>
              </a:rPr>
              <a:t>Without demand visibility, </a:t>
            </a:r>
          </a:p>
          <a:p>
            <a:pPr marL="0" lvl="0" indent="0" algn="just" defTabSz="914400" eaLnBrk="0" fontAlgn="base" hangingPunct="0">
              <a:spcBef>
                <a:spcPct val="0"/>
              </a:spcBef>
              <a:spcAft>
                <a:spcPct val="0"/>
              </a:spcAft>
              <a:buNone/>
            </a:pPr>
            <a:r>
              <a:rPr lang="en-DE" altLang="en-DE" sz="2400" dirty="0">
                <a:solidFill>
                  <a:srgbClr val="27251E"/>
                </a:solidFill>
              </a:rPr>
              <a:t>firms risk overstock in one warehouse and stockouts in another.</a:t>
            </a:r>
          </a:p>
          <a:p>
            <a:pPr algn="just"/>
            <a:endParaRPr lang="en-DE" sz="2400" dirty="0"/>
          </a:p>
        </p:txBody>
      </p:sp>
      <p:sp>
        <p:nvSpPr>
          <p:cNvPr id="4" name="Footer Placeholder 3">
            <a:extLst>
              <a:ext uri="{FF2B5EF4-FFF2-40B4-BE49-F238E27FC236}">
                <a16:creationId xmlns:a16="http://schemas.microsoft.com/office/drawing/2014/main" id="{182BEB41-AB92-B634-968F-FC0F57E9B157}"/>
              </a:ext>
            </a:extLst>
          </p:cNvPr>
          <p:cNvSpPr>
            <a:spLocks noGrp="1"/>
          </p:cNvSpPr>
          <p:nvPr>
            <p:ph type="ftr" sz="quarter" idx="11"/>
          </p:nvPr>
        </p:nvSpPr>
        <p:spPr/>
        <p:txBody>
          <a:bodyPr/>
          <a:lstStyle/>
          <a:p>
            <a:r>
              <a:rPr lang="en-GB" sz="1200" dirty="0">
                <a:effectLst/>
                <a:latin typeface="Poppins" pitchFamily="2" charset="77"/>
              </a:rPr>
              <a:t>Zainab </a:t>
            </a:r>
            <a:r>
              <a:rPr lang="en-GB" sz="1200" dirty="0" err="1">
                <a:effectLst/>
                <a:latin typeface="Poppins" pitchFamily="2" charset="77"/>
              </a:rPr>
              <a:t>Nashitah</a:t>
            </a:r>
            <a:endParaRPr lang="en-US" dirty="0"/>
          </a:p>
        </p:txBody>
      </p:sp>
      <p:sp>
        <p:nvSpPr>
          <p:cNvPr id="5" name="Slide Number Placeholder 4">
            <a:extLst>
              <a:ext uri="{FF2B5EF4-FFF2-40B4-BE49-F238E27FC236}">
                <a16:creationId xmlns:a16="http://schemas.microsoft.com/office/drawing/2014/main" id="{7FFEC109-3FA3-7647-72F0-E43D7698D401}"/>
              </a:ext>
            </a:extLst>
          </p:cNvPr>
          <p:cNvSpPr>
            <a:spLocks noGrp="1"/>
          </p:cNvSpPr>
          <p:nvPr>
            <p:ph type="sldNum" sz="quarter" idx="12"/>
          </p:nvPr>
        </p:nvSpPr>
        <p:spPr/>
        <p:txBody>
          <a:bodyPr/>
          <a:lstStyle/>
          <a:p>
            <a:fld id="{C1FF6DA9-008F-8B48-92A6-B652298478BF}" type="slidenum">
              <a:rPr lang="en-US" smtClean="0"/>
              <a:t>11</a:t>
            </a:fld>
            <a:endParaRPr lang="en-US" dirty="0"/>
          </a:p>
        </p:txBody>
      </p:sp>
    </p:spTree>
    <p:extLst>
      <p:ext uri="{BB962C8B-B14F-4D97-AF65-F5344CB8AC3E}">
        <p14:creationId xmlns:p14="http://schemas.microsoft.com/office/powerpoint/2010/main" val="37469060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507C6-6028-AD9E-5331-3E55349D2C84}"/>
              </a:ext>
            </a:extLst>
          </p:cNvPr>
          <p:cNvSpPr>
            <a:spLocks noGrp="1"/>
          </p:cNvSpPr>
          <p:nvPr>
            <p:ph type="ctrTitle"/>
          </p:nvPr>
        </p:nvSpPr>
        <p:spPr>
          <a:xfrm>
            <a:off x="814893" y="620591"/>
            <a:ext cx="1327731" cy="871538"/>
          </a:xfrm>
        </p:spPr>
        <p:txBody>
          <a:bodyPr/>
          <a:lstStyle/>
          <a:p>
            <a:pPr algn="l"/>
            <a:r>
              <a:rPr lang="en-GB" b="0" i="0" u="none" strike="noStrike" dirty="0">
                <a:solidFill>
                  <a:srgbClr val="000000"/>
                </a:solidFill>
                <a:effectLst/>
              </a:rPr>
              <a:t>Goal</a:t>
            </a:r>
            <a:endParaRPr lang="en-DE" dirty="0"/>
          </a:p>
        </p:txBody>
      </p:sp>
      <p:sp>
        <p:nvSpPr>
          <p:cNvPr id="3" name="Subtitle 2">
            <a:extLst>
              <a:ext uri="{FF2B5EF4-FFF2-40B4-BE49-F238E27FC236}">
                <a16:creationId xmlns:a16="http://schemas.microsoft.com/office/drawing/2014/main" id="{21B887D5-E080-50E4-08A9-1314ADD6F79E}"/>
              </a:ext>
            </a:extLst>
          </p:cNvPr>
          <p:cNvSpPr>
            <a:spLocks noGrp="1"/>
          </p:cNvSpPr>
          <p:nvPr>
            <p:ph type="subTitle" idx="1"/>
          </p:nvPr>
        </p:nvSpPr>
        <p:spPr>
          <a:xfrm>
            <a:off x="906246" y="1656252"/>
            <a:ext cx="7780553" cy="4417034"/>
          </a:xfrm>
        </p:spPr>
        <p:txBody>
          <a:bodyPr>
            <a:normAutofit fontScale="25000" lnSpcReduction="20000"/>
          </a:bodyPr>
          <a:lstStyle/>
          <a:p>
            <a:pPr lvl="0" algn="l" defTabSz="914400" eaLnBrk="0" fontAlgn="base" hangingPunct="0">
              <a:lnSpc>
                <a:spcPct val="170000"/>
              </a:lnSpc>
              <a:spcBef>
                <a:spcPct val="0"/>
              </a:spcBef>
              <a:spcAft>
                <a:spcPct val="0"/>
              </a:spcAft>
              <a:buFontTx/>
              <a:buChar char="•"/>
            </a:pPr>
            <a:r>
              <a:rPr lang="en-DE" altLang="en-DE" sz="9600" dirty="0">
                <a:solidFill>
                  <a:srgbClr val="27251E"/>
                </a:solidFill>
              </a:rPr>
              <a:t>Improve demand understanding to support better</a:t>
            </a:r>
          </a:p>
          <a:p>
            <a:pPr lvl="0" algn="l" defTabSz="914400" eaLnBrk="0" fontAlgn="base" hangingPunct="0">
              <a:lnSpc>
                <a:spcPct val="170000"/>
              </a:lnSpc>
              <a:spcBef>
                <a:spcPct val="0"/>
              </a:spcBef>
              <a:spcAft>
                <a:spcPct val="0"/>
              </a:spcAft>
            </a:pPr>
            <a:r>
              <a:rPr lang="en-DE" altLang="en-DE" sz="9600" dirty="0">
                <a:solidFill>
                  <a:srgbClr val="27251E"/>
                </a:solidFill>
              </a:rPr>
              <a:t> inventory and replenishment planning.</a:t>
            </a:r>
          </a:p>
          <a:p>
            <a:pPr lvl="0" algn="l" defTabSz="914400" eaLnBrk="0" fontAlgn="base" hangingPunct="0">
              <a:lnSpc>
                <a:spcPct val="170000"/>
              </a:lnSpc>
              <a:spcBef>
                <a:spcPct val="0"/>
              </a:spcBef>
              <a:spcAft>
                <a:spcPct val="0"/>
              </a:spcAft>
              <a:buFontTx/>
              <a:buChar char="•"/>
            </a:pPr>
            <a:r>
              <a:rPr lang="en-DE" altLang="en-DE" sz="9600" dirty="0">
                <a:solidFill>
                  <a:srgbClr val="27251E"/>
                </a:solidFill>
              </a:rPr>
              <a:t>Identify category-wise, product-wise, </a:t>
            </a:r>
          </a:p>
          <a:p>
            <a:pPr lvl="0" algn="l" defTabSz="914400" eaLnBrk="0" fontAlgn="base" hangingPunct="0">
              <a:lnSpc>
                <a:spcPct val="170000"/>
              </a:lnSpc>
              <a:spcBef>
                <a:spcPct val="0"/>
              </a:spcBef>
              <a:spcAft>
                <a:spcPct val="0"/>
              </a:spcAft>
            </a:pPr>
            <a:r>
              <a:rPr lang="en-DE" altLang="en-DE" sz="9600" dirty="0">
                <a:solidFill>
                  <a:srgbClr val="27251E"/>
                </a:solidFill>
              </a:rPr>
              <a:t>and warehouse-wise demand patterns.</a:t>
            </a:r>
          </a:p>
          <a:p>
            <a:pPr lvl="0" algn="l" defTabSz="914400" eaLnBrk="0" fontAlgn="base" hangingPunct="0">
              <a:lnSpc>
                <a:spcPct val="170000"/>
              </a:lnSpc>
              <a:spcBef>
                <a:spcPct val="0"/>
              </a:spcBef>
              <a:spcAft>
                <a:spcPct val="0"/>
              </a:spcAft>
              <a:buFontTx/>
              <a:buChar char="•"/>
            </a:pPr>
            <a:r>
              <a:rPr lang="en-DE" altLang="en-DE" sz="9600" dirty="0">
                <a:solidFill>
                  <a:srgbClr val="27251E"/>
                </a:solidFill>
              </a:rPr>
              <a:t>Support decisions on how much to stock,</a:t>
            </a:r>
          </a:p>
          <a:p>
            <a:pPr lvl="0" algn="l" defTabSz="914400" eaLnBrk="0" fontAlgn="base" hangingPunct="0">
              <a:lnSpc>
                <a:spcPct val="170000"/>
              </a:lnSpc>
              <a:spcBef>
                <a:spcPct val="0"/>
              </a:spcBef>
              <a:spcAft>
                <a:spcPct val="0"/>
              </a:spcAft>
            </a:pPr>
            <a:r>
              <a:rPr lang="en-DE" altLang="en-DE" sz="9600" dirty="0">
                <a:solidFill>
                  <a:srgbClr val="27251E"/>
                </a:solidFill>
              </a:rPr>
              <a:t> when to replenish, and where to position inventory.</a:t>
            </a:r>
          </a:p>
          <a:p>
            <a:pPr lvl="0" algn="l" defTabSz="914400" eaLnBrk="0" fontAlgn="base" hangingPunct="0">
              <a:lnSpc>
                <a:spcPct val="170000"/>
              </a:lnSpc>
              <a:spcBef>
                <a:spcPct val="0"/>
              </a:spcBef>
              <a:spcAft>
                <a:spcPct val="0"/>
              </a:spcAft>
              <a:buFontTx/>
              <a:buChar char="•"/>
            </a:pPr>
            <a:r>
              <a:rPr lang="en-DE" altLang="en-DE" sz="9600" dirty="0">
                <a:solidFill>
                  <a:srgbClr val="27251E"/>
                </a:solidFill>
              </a:rPr>
              <a:t>Build a foundation for demand forecasting and</a:t>
            </a:r>
          </a:p>
          <a:p>
            <a:pPr lvl="0" algn="l" defTabSz="914400" eaLnBrk="0" fontAlgn="base" hangingPunct="0">
              <a:lnSpc>
                <a:spcPct val="170000"/>
              </a:lnSpc>
              <a:spcBef>
                <a:spcPct val="0"/>
              </a:spcBef>
              <a:spcAft>
                <a:spcPct val="0"/>
              </a:spcAft>
            </a:pPr>
            <a:r>
              <a:rPr lang="en-DE" altLang="en-DE" sz="9600" dirty="0">
                <a:solidFill>
                  <a:srgbClr val="27251E"/>
                </a:solidFill>
              </a:rPr>
              <a:t> data-driven supply chain planning.</a:t>
            </a:r>
          </a:p>
          <a:p>
            <a:pPr algn="l">
              <a:lnSpc>
                <a:spcPct val="170000"/>
              </a:lnSpc>
            </a:pPr>
            <a:endParaRPr lang="en-DE" sz="2400" dirty="0"/>
          </a:p>
        </p:txBody>
      </p:sp>
      <p:sp>
        <p:nvSpPr>
          <p:cNvPr id="4" name="Footer Placeholder 3">
            <a:extLst>
              <a:ext uri="{FF2B5EF4-FFF2-40B4-BE49-F238E27FC236}">
                <a16:creationId xmlns:a16="http://schemas.microsoft.com/office/drawing/2014/main" id="{E8802AE6-2777-D2D2-A825-F63BBF7BBF94}"/>
              </a:ext>
            </a:extLst>
          </p:cNvPr>
          <p:cNvSpPr>
            <a:spLocks noGrp="1"/>
          </p:cNvSpPr>
          <p:nvPr>
            <p:ph type="ftr" sz="quarter" idx="11"/>
          </p:nvPr>
        </p:nvSpPr>
        <p:spPr/>
        <p:txBody>
          <a:bodyPr/>
          <a:lstStyle/>
          <a:p>
            <a:r>
              <a:rPr lang="en-GB" sz="1200" dirty="0">
                <a:effectLst/>
                <a:latin typeface="Poppins" pitchFamily="2" charset="77"/>
              </a:rPr>
              <a:t>Zainab </a:t>
            </a:r>
            <a:r>
              <a:rPr lang="en-GB" sz="1200" dirty="0" err="1">
                <a:effectLst/>
                <a:latin typeface="Poppins" pitchFamily="2" charset="77"/>
              </a:rPr>
              <a:t>Nashitah</a:t>
            </a:r>
            <a:endParaRPr lang="en-US" dirty="0"/>
          </a:p>
        </p:txBody>
      </p:sp>
      <p:sp>
        <p:nvSpPr>
          <p:cNvPr id="5" name="Slide Number Placeholder 4">
            <a:extLst>
              <a:ext uri="{FF2B5EF4-FFF2-40B4-BE49-F238E27FC236}">
                <a16:creationId xmlns:a16="http://schemas.microsoft.com/office/drawing/2014/main" id="{969CC9D5-7BFC-3FA7-FE88-96223EB8CB7C}"/>
              </a:ext>
            </a:extLst>
          </p:cNvPr>
          <p:cNvSpPr>
            <a:spLocks noGrp="1"/>
          </p:cNvSpPr>
          <p:nvPr>
            <p:ph type="sldNum" sz="quarter" idx="12"/>
          </p:nvPr>
        </p:nvSpPr>
        <p:spPr/>
        <p:txBody>
          <a:bodyPr/>
          <a:lstStyle/>
          <a:p>
            <a:fld id="{C1FF6DA9-008F-8B48-92A6-B652298478BF}" type="slidenum">
              <a:rPr lang="en-US" smtClean="0"/>
              <a:t>12</a:t>
            </a:fld>
            <a:endParaRPr lang="en-US"/>
          </a:p>
        </p:txBody>
      </p:sp>
    </p:spTree>
    <p:extLst>
      <p:ext uri="{BB962C8B-B14F-4D97-AF65-F5344CB8AC3E}">
        <p14:creationId xmlns:p14="http://schemas.microsoft.com/office/powerpoint/2010/main" val="24420869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4901A-4754-8A05-E76C-DA8C4AE688C9}"/>
              </a:ext>
            </a:extLst>
          </p:cNvPr>
          <p:cNvSpPr>
            <a:spLocks noGrp="1"/>
          </p:cNvSpPr>
          <p:nvPr>
            <p:ph type="title"/>
          </p:nvPr>
        </p:nvSpPr>
        <p:spPr/>
        <p:txBody>
          <a:bodyPr/>
          <a:lstStyle/>
          <a:p>
            <a:r>
              <a:rPr lang="en-DE" dirty="0"/>
              <a:t>Why this Matters?</a:t>
            </a:r>
          </a:p>
        </p:txBody>
      </p:sp>
      <p:sp>
        <p:nvSpPr>
          <p:cNvPr id="3" name="Content Placeholder 2">
            <a:extLst>
              <a:ext uri="{FF2B5EF4-FFF2-40B4-BE49-F238E27FC236}">
                <a16:creationId xmlns:a16="http://schemas.microsoft.com/office/drawing/2014/main" id="{5605C91A-096B-65D6-E634-07C987242C77}"/>
              </a:ext>
            </a:extLst>
          </p:cNvPr>
          <p:cNvSpPr>
            <a:spLocks noGrp="1"/>
          </p:cNvSpPr>
          <p:nvPr>
            <p:ph idx="1"/>
          </p:nvPr>
        </p:nvSpPr>
        <p:spPr/>
        <p:txBody>
          <a:bodyPr>
            <a:normAutofit/>
          </a:bodyPr>
          <a:lstStyle/>
          <a:p>
            <a:r>
              <a:rPr lang="en-GB" dirty="0"/>
              <a:t>Inventory cost reduction through better stock alignment.</a:t>
            </a:r>
          </a:p>
          <a:p>
            <a:r>
              <a:rPr lang="en-GB" dirty="0"/>
              <a:t>Improved service level by reducing stockouts in high-demand items.</a:t>
            </a:r>
          </a:p>
          <a:p>
            <a:r>
              <a:rPr lang="en-GB" dirty="0"/>
              <a:t>Better operational efficiency in replenishment and warehouse planning.</a:t>
            </a:r>
          </a:p>
          <a:p>
            <a:r>
              <a:rPr lang="en-GB" dirty="0"/>
              <a:t>Reduced excess inventory for low-demand or intermittent products.</a:t>
            </a:r>
          </a:p>
          <a:p>
            <a:endParaRPr lang="en-DE" dirty="0"/>
          </a:p>
        </p:txBody>
      </p:sp>
      <p:sp>
        <p:nvSpPr>
          <p:cNvPr id="4" name="Footer Placeholder 3">
            <a:extLst>
              <a:ext uri="{FF2B5EF4-FFF2-40B4-BE49-F238E27FC236}">
                <a16:creationId xmlns:a16="http://schemas.microsoft.com/office/drawing/2014/main" id="{E01AB759-C956-5CF3-6DEA-4ADC6155D9BF}"/>
              </a:ext>
            </a:extLst>
          </p:cNvPr>
          <p:cNvSpPr>
            <a:spLocks noGrp="1"/>
          </p:cNvSpPr>
          <p:nvPr>
            <p:ph type="ftr" sz="quarter" idx="11"/>
          </p:nvPr>
        </p:nvSpPr>
        <p:spPr/>
        <p:txBody>
          <a:bodyPr/>
          <a:lstStyle/>
          <a:p>
            <a:r>
              <a:rPr lang="en-GB" sz="1200" dirty="0">
                <a:effectLst/>
                <a:latin typeface="Poppins" pitchFamily="2" charset="77"/>
              </a:rPr>
              <a:t>Zainab </a:t>
            </a:r>
            <a:r>
              <a:rPr lang="en-GB" sz="1200" dirty="0" err="1">
                <a:effectLst/>
                <a:latin typeface="Poppins" pitchFamily="2" charset="77"/>
              </a:rPr>
              <a:t>Nashitah</a:t>
            </a:r>
            <a:endParaRPr lang="en-US" dirty="0"/>
          </a:p>
        </p:txBody>
      </p:sp>
      <p:sp>
        <p:nvSpPr>
          <p:cNvPr id="5" name="Slide Number Placeholder 4">
            <a:extLst>
              <a:ext uri="{FF2B5EF4-FFF2-40B4-BE49-F238E27FC236}">
                <a16:creationId xmlns:a16="http://schemas.microsoft.com/office/drawing/2014/main" id="{C912A960-787D-BC6A-9B87-804868D4BCAA}"/>
              </a:ext>
            </a:extLst>
          </p:cNvPr>
          <p:cNvSpPr>
            <a:spLocks noGrp="1"/>
          </p:cNvSpPr>
          <p:nvPr>
            <p:ph type="sldNum" sz="quarter" idx="12"/>
          </p:nvPr>
        </p:nvSpPr>
        <p:spPr/>
        <p:txBody>
          <a:bodyPr/>
          <a:lstStyle/>
          <a:p>
            <a:fld id="{C1FF6DA9-008F-8B48-92A6-B652298478BF}" type="slidenum">
              <a:rPr lang="en-US" smtClean="0"/>
              <a:t>13</a:t>
            </a:fld>
            <a:endParaRPr lang="en-US"/>
          </a:p>
        </p:txBody>
      </p:sp>
      <p:sp>
        <p:nvSpPr>
          <p:cNvPr id="6" name="Rectangle 1">
            <a:extLst>
              <a:ext uri="{FF2B5EF4-FFF2-40B4-BE49-F238E27FC236}">
                <a16:creationId xmlns:a16="http://schemas.microsoft.com/office/drawing/2014/main" id="{2843F05B-15B8-E07E-C4A2-4E07DC4EA8B1}"/>
              </a:ext>
            </a:extLst>
          </p:cNvPr>
          <p:cNvSpPr>
            <a:spLocks noChangeArrowheads="1"/>
          </p:cNvSpPr>
          <p:nvPr/>
        </p:nvSpPr>
        <p:spPr bwMode="auto">
          <a:xfrm>
            <a:off x="0" y="-276999"/>
            <a:ext cx="65"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DE" altLang="en-D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DE" altLang="en-DE"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555883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ED934-8D6F-92A6-FEB4-C01A26B92B9C}"/>
              </a:ext>
            </a:extLst>
          </p:cNvPr>
          <p:cNvSpPr>
            <a:spLocks noGrp="1"/>
          </p:cNvSpPr>
          <p:nvPr>
            <p:ph type="title"/>
          </p:nvPr>
        </p:nvSpPr>
        <p:spPr/>
        <p:txBody>
          <a:bodyPr>
            <a:normAutofit fontScale="90000"/>
          </a:bodyPr>
          <a:lstStyle/>
          <a:p>
            <a:r>
              <a:rPr lang="en-GB" b="1" dirty="0"/>
              <a:t>Data-driven opportunity</a:t>
            </a:r>
            <a:br>
              <a:rPr lang="en-GB" b="1" dirty="0"/>
            </a:br>
            <a:endParaRPr lang="en-DE" dirty="0"/>
          </a:p>
        </p:txBody>
      </p:sp>
      <p:sp>
        <p:nvSpPr>
          <p:cNvPr id="4" name="Footer Placeholder 3">
            <a:extLst>
              <a:ext uri="{FF2B5EF4-FFF2-40B4-BE49-F238E27FC236}">
                <a16:creationId xmlns:a16="http://schemas.microsoft.com/office/drawing/2014/main" id="{0AD3D089-3940-6BC3-9BC8-3A990DA626AA}"/>
              </a:ext>
            </a:extLst>
          </p:cNvPr>
          <p:cNvSpPr>
            <a:spLocks noGrp="1"/>
          </p:cNvSpPr>
          <p:nvPr>
            <p:ph type="ftr" sz="quarter" idx="11"/>
          </p:nvPr>
        </p:nvSpPr>
        <p:spPr/>
        <p:txBody>
          <a:bodyPr/>
          <a:lstStyle/>
          <a:p>
            <a:r>
              <a:rPr lang="en-GB" sz="1200" dirty="0">
                <a:effectLst/>
                <a:latin typeface="Poppins" pitchFamily="2" charset="77"/>
              </a:rPr>
              <a:t>Zainab </a:t>
            </a:r>
            <a:r>
              <a:rPr lang="en-GB" sz="1200" dirty="0" err="1">
                <a:effectLst/>
                <a:latin typeface="Poppins" pitchFamily="2" charset="77"/>
              </a:rPr>
              <a:t>Nashitah</a:t>
            </a:r>
            <a:endParaRPr lang="en-US" dirty="0"/>
          </a:p>
        </p:txBody>
      </p:sp>
      <p:sp>
        <p:nvSpPr>
          <p:cNvPr id="5" name="Slide Number Placeholder 4">
            <a:extLst>
              <a:ext uri="{FF2B5EF4-FFF2-40B4-BE49-F238E27FC236}">
                <a16:creationId xmlns:a16="http://schemas.microsoft.com/office/drawing/2014/main" id="{6C7B878C-4E70-66B6-7AA3-93BE782691F3}"/>
              </a:ext>
            </a:extLst>
          </p:cNvPr>
          <p:cNvSpPr>
            <a:spLocks noGrp="1"/>
          </p:cNvSpPr>
          <p:nvPr>
            <p:ph type="sldNum" sz="quarter" idx="12"/>
          </p:nvPr>
        </p:nvSpPr>
        <p:spPr/>
        <p:txBody>
          <a:bodyPr/>
          <a:lstStyle/>
          <a:p>
            <a:fld id="{C1FF6DA9-008F-8B48-92A6-B652298478BF}" type="slidenum">
              <a:rPr lang="en-US" smtClean="0"/>
              <a:t>14</a:t>
            </a:fld>
            <a:endParaRPr lang="en-US"/>
          </a:p>
        </p:txBody>
      </p:sp>
      <p:sp>
        <p:nvSpPr>
          <p:cNvPr id="6" name="Rectangle 1">
            <a:extLst>
              <a:ext uri="{FF2B5EF4-FFF2-40B4-BE49-F238E27FC236}">
                <a16:creationId xmlns:a16="http://schemas.microsoft.com/office/drawing/2014/main" id="{EDF0A452-856A-196D-A950-BA2AAE572D8F}"/>
              </a:ext>
            </a:extLst>
          </p:cNvPr>
          <p:cNvSpPr>
            <a:spLocks noGrp="1" noChangeArrowheads="1"/>
          </p:cNvSpPr>
          <p:nvPr>
            <p:ph idx="1"/>
          </p:nvPr>
        </p:nvSpPr>
        <p:spPr bwMode="auto">
          <a:xfrm>
            <a:off x="457200" y="1739523"/>
            <a:ext cx="6149376"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DE" altLang="en-D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DE" altLang="en-DE" sz="2400" b="0" i="0" u="none" strike="noStrike" cap="none" normalizeH="0" baseline="0" dirty="0">
                <a:ln>
                  <a:noFill/>
                </a:ln>
                <a:solidFill>
                  <a:srgbClr val="27251E"/>
                </a:solidFill>
                <a:effectLst/>
                <a:latin typeface="pplxSerif"/>
              </a:rPr>
              <a:t>Use historical order demand to identify monthly</a:t>
            </a:r>
          </a:p>
          <a:p>
            <a:pPr marL="0" marR="0" lvl="0" indent="0" algn="l" defTabSz="914400" rtl="0" eaLnBrk="0" fontAlgn="base" latinLnBrk="0" hangingPunct="0">
              <a:lnSpc>
                <a:spcPct val="100000"/>
              </a:lnSpc>
              <a:spcBef>
                <a:spcPct val="0"/>
              </a:spcBef>
              <a:spcAft>
                <a:spcPct val="0"/>
              </a:spcAft>
              <a:buClrTx/>
              <a:buSzTx/>
              <a:buNone/>
              <a:tabLst/>
            </a:pPr>
            <a:r>
              <a:rPr kumimoji="0" lang="en-DE" altLang="en-DE" sz="2400" b="0" i="0" u="none" strike="noStrike" cap="none" normalizeH="0" baseline="0" dirty="0">
                <a:ln>
                  <a:noFill/>
                </a:ln>
                <a:solidFill>
                  <a:srgbClr val="27251E"/>
                </a:solidFill>
                <a:effectLst/>
                <a:latin typeface="pplxSerif"/>
              </a:rPr>
              <a:t> and seasonal demand patterns.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DE" altLang="en-DE" sz="2400" b="0" i="0" u="none" strike="noStrike" cap="none" normalizeH="0" baseline="0" dirty="0">
                <a:ln>
                  <a:noFill/>
                </a:ln>
                <a:solidFill>
                  <a:srgbClr val="27251E"/>
                </a:solidFill>
                <a:effectLst/>
                <a:latin typeface="pplxSerif"/>
              </a:rPr>
              <a:t>Compare demand concentration across</a:t>
            </a:r>
          </a:p>
          <a:p>
            <a:pPr marL="0" marR="0" lvl="0" indent="0" algn="l" defTabSz="914400" rtl="0" eaLnBrk="0" fontAlgn="base" latinLnBrk="0" hangingPunct="0">
              <a:lnSpc>
                <a:spcPct val="100000"/>
              </a:lnSpc>
              <a:spcBef>
                <a:spcPct val="0"/>
              </a:spcBef>
              <a:spcAft>
                <a:spcPct val="0"/>
              </a:spcAft>
              <a:buClrTx/>
              <a:buSzTx/>
              <a:buNone/>
              <a:tabLst/>
            </a:pPr>
            <a:r>
              <a:rPr kumimoji="0" lang="en-DE" altLang="en-DE" sz="2400" b="0" i="0" u="none" strike="noStrike" cap="none" normalizeH="0" baseline="0" dirty="0">
                <a:ln>
                  <a:noFill/>
                </a:ln>
                <a:solidFill>
                  <a:srgbClr val="27251E"/>
                </a:solidFill>
                <a:effectLst/>
                <a:latin typeface="pplxSerif"/>
              </a:rPr>
              <a:t> product categories and warehouses.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DE" altLang="en-DE" sz="2400" b="0" i="0" u="none" strike="noStrike" cap="none" normalizeH="0" baseline="0" dirty="0">
                <a:ln>
                  <a:noFill/>
                </a:ln>
                <a:solidFill>
                  <a:srgbClr val="27251E"/>
                </a:solidFill>
                <a:effectLst/>
                <a:latin typeface="pplxSerif"/>
              </a:rPr>
              <a:t>Detect fast-moving, slow-moving,</a:t>
            </a:r>
          </a:p>
          <a:p>
            <a:pPr marL="0" marR="0" lvl="0" indent="0" algn="l" defTabSz="914400" rtl="0" eaLnBrk="0" fontAlgn="base" latinLnBrk="0" hangingPunct="0">
              <a:lnSpc>
                <a:spcPct val="100000"/>
              </a:lnSpc>
              <a:spcBef>
                <a:spcPct val="0"/>
              </a:spcBef>
              <a:spcAft>
                <a:spcPct val="0"/>
              </a:spcAft>
              <a:buClrTx/>
              <a:buSzTx/>
              <a:buNone/>
              <a:tabLst/>
            </a:pPr>
            <a:r>
              <a:rPr kumimoji="0" lang="en-DE" altLang="en-DE" sz="2400" b="0" i="0" u="none" strike="noStrike" cap="none" normalizeH="0" baseline="0" dirty="0">
                <a:ln>
                  <a:noFill/>
                </a:ln>
                <a:solidFill>
                  <a:srgbClr val="27251E"/>
                </a:solidFill>
                <a:effectLst/>
                <a:latin typeface="pplxSerif"/>
              </a:rPr>
              <a:t> and intermittent products.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DE" altLang="en-DE" sz="2400" b="0" i="0" u="none" strike="noStrike" cap="none" normalizeH="0" baseline="0" dirty="0">
                <a:ln>
                  <a:noFill/>
                </a:ln>
                <a:solidFill>
                  <a:srgbClr val="27251E"/>
                </a:solidFill>
                <a:effectLst/>
                <a:latin typeface="pplxSerif"/>
              </a:rPr>
              <a:t>Support better replenishment timing </a:t>
            </a:r>
          </a:p>
          <a:p>
            <a:pPr marL="0" marR="0" lvl="0" indent="0" algn="l" defTabSz="914400" rtl="0" eaLnBrk="0" fontAlgn="base" latinLnBrk="0" hangingPunct="0">
              <a:lnSpc>
                <a:spcPct val="100000"/>
              </a:lnSpc>
              <a:spcBef>
                <a:spcPct val="0"/>
              </a:spcBef>
              <a:spcAft>
                <a:spcPct val="0"/>
              </a:spcAft>
              <a:buClrTx/>
              <a:buSzTx/>
              <a:buNone/>
              <a:tabLst/>
            </a:pPr>
            <a:r>
              <a:rPr kumimoji="0" lang="en-DE" altLang="en-DE" sz="2400" b="0" i="0" u="none" strike="noStrike" cap="none" normalizeH="0" baseline="0" dirty="0">
                <a:ln>
                  <a:noFill/>
                </a:ln>
                <a:solidFill>
                  <a:srgbClr val="27251E"/>
                </a:solidFill>
                <a:effectLst/>
                <a:latin typeface="pplxSerif"/>
              </a:rPr>
              <a:t>and stock positioning decisions.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DE" altLang="en-DE" sz="2400" b="0" i="0" u="none" strike="noStrike" cap="none" normalizeH="0" baseline="0" dirty="0">
                <a:ln>
                  <a:noFill/>
                </a:ln>
                <a:solidFill>
                  <a:srgbClr val="27251E"/>
                </a:solidFill>
                <a:effectLst/>
                <a:latin typeface="pplxSerif"/>
              </a:rPr>
              <a:t>Create a bridge from descriptive analytics </a:t>
            </a:r>
          </a:p>
          <a:p>
            <a:pPr marL="0" marR="0" lvl="0" indent="0" algn="l" defTabSz="914400" rtl="0" eaLnBrk="0" fontAlgn="base" latinLnBrk="0" hangingPunct="0">
              <a:lnSpc>
                <a:spcPct val="100000"/>
              </a:lnSpc>
              <a:spcBef>
                <a:spcPct val="0"/>
              </a:spcBef>
              <a:spcAft>
                <a:spcPct val="0"/>
              </a:spcAft>
              <a:buClrTx/>
              <a:buSzTx/>
              <a:buNone/>
              <a:tabLst/>
            </a:pPr>
            <a:r>
              <a:rPr kumimoji="0" lang="en-DE" altLang="en-DE" sz="2400" b="0" i="0" u="none" strike="noStrike" cap="none" normalizeH="0" baseline="0" dirty="0">
                <a:ln>
                  <a:noFill/>
                </a:ln>
                <a:solidFill>
                  <a:srgbClr val="27251E"/>
                </a:solidFill>
                <a:effectLst/>
                <a:latin typeface="pplxSerif"/>
              </a:rPr>
              <a:t>to forecasting and inventory planning.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DE" altLang="en-DE"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621060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ED078-EF1D-1CD4-603B-A2EA2E8957A0}"/>
              </a:ext>
            </a:extLst>
          </p:cNvPr>
          <p:cNvSpPr>
            <a:spLocks noGrp="1"/>
          </p:cNvSpPr>
          <p:nvPr>
            <p:ph type="title"/>
          </p:nvPr>
        </p:nvSpPr>
        <p:spPr/>
        <p:txBody>
          <a:bodyPr/>
          <a:lstStyle/>
          <a:p>
            <a:r>
              <a:rPr lang="en-DE" dirty="0"/>
              <a:t>Some insights from data</a:t>
            </a:r>
          </a:p>
        </p:txBody>
      </p:sp>
      <p:pic>
        <p:nvPicPr>
          <p:cNvPr id="8" name="Content Placeholder 7">
            <a:extLst>
              <a:ext uri="{FF2B5EF4-FFF2-40B4-BE49-F238E27FC236}">
                <a16:creationId xmlns:a16="http://schemas.microsoft.com/office/drawing/2014/main" id="{75EC84CA-F8C4-4BDF-DC27-0D811A0ACDA4}"/>
              </a:ext>
            </a:extLst>
          </p:cNvPr>
          <p:cNvPicPr>
            <a:picLocks noGrp="1" noChangeAspect="1"/>
          </p:cNvPicPr>
          <p:nvPr>
            <p:ph sz="half" idx="1"/>
          </p:nvPr>
        </p:nvPicPr>
        <p:blipFill>
          <a:blip r:embed="rId2"/>
          <a:stretch>
            <a:fillRect/>
          </a:stretch>
        </p:blipFill>
        <p:spPr>
          <a:xfrm>
            <a:off x="457200" y="2515963"/>
            <a:ext cx="4038600" cy="2694436"/>
          </a:xfrm>
          <a:prstGeom prst="rect">
            <a:avLst/>
          </a:prstGeom>
        </p:spPr>
      </p:pic>
      <p:pic>
        <p:nvPicPr>
          <p:cNvPr id="10" name="Content Placeholder 9">
            <a:extLst>
              <a:ext uri="{FF2B5EF4-FFF2-40B4-BE49-F238E27FC236}">
                <a16:creationId xmlns:a16="http://schemas.microsoft.com/office/drawing/2014/main" id="{97B92C4E-73BF-1CA4-F263-E16288932D70}"/>
              </a:ext>
            </a:extLst>
          </p:cNvPr>
          <p:cNvPicPr>
            <a:picLocks noGrp="1" noChangeAspect="1"/>
          </p:cNvPicPr>
          <p:nvPr>
            <p:ph sz="half" idx="2"/>
          </p:nvPr>
        </p:nvPicPr>
        <p:blipFill>
          <a:blip r:embed="rId3"/>
          <a:stretch>
            <a:fillRect/>
          </a:stretch>
        </p:blipFill>
        <p:spPr>
          <a:xfrm>
            <a:off x="4648200" y="2724851"/>
            <a:ext cx="4038600" cy="2276661"/>
          </a:xfrm>
          <a:prstGeom prst="rect">
            <a:avLst/>
          </a:prstGeom>
        </p:spPr>
      </p:pic>
      <p:sp>
        <p:nvSpPr>
          <p:cNvPr id="5" name="Footer Placeholder 4">
            <a:extLst>
              <a:ext uri="{FF2B5EF4-FFF2-40B4-BE49-F238E27FC236}">
                <a16:creationId xmlns:a16="http://schemas.microsoft.com/office/drawing/2014/main" id="{DBEF3802-94A3-2F01-682D-83EDC58AC7B8}"/>
              </a:ext>
            </a:extLst>
          </p:cNvPr>
          <p:cNvSpPr>
            <a:spLocks noGrp="1"/>
          </p:cNvSpPr>
          <p:nvPr>
            <p:ph type="ftr" sz="quarter" idx="11"/>
          </p:nvPr>
        </p:nvSpPr>
        <p:spPr/>
        <p:txBody>
          <a:bodyPr/>
          <a:lstStyle/>
          <a:p>
            <a:r>
              <a:rPr lang="en-GB" sz="1200" dirty="0">
                <a:effectLst/>
                <a:latin typeface="Poppins" pitchFamily="2" charset="77"/>
              </a:rPr>
              <a:t>Zainab </a:t>
            </a:r>
            <a:r>
              <a:rPr lang="en-GB" sz="1200" dirty="0" err="1">
                <a:effectLst/>
                <a:latin typeface="Poppins" pitchFamily="2" charset="77"/>
              </a:rPr>
              <a:t>Nashitah</a:t>
            </a:r>
            <a:endParaRPr lang="en-US" dirty="0"/>
          </a:p>
        </p:txBody>
      </p:sp>
      <p:sp>
        <p:nvSpPr>
          <p:cNvPr id="6" name="Slide Number Placeholder 5">
            <a:extLst>
              <a:ext uri="{FF2B5EF4-FFF2-40B4-BE49-F238E27FC236}">
                <a16:creationId xmlns:a16="http://schemas.microsoft.com/office/drawing/2014/main" id="{539AA35A-AE81-1BC5-40C9-9A0801C2BBE2}"/>
              </a:ext>
            </a:extLst>
          </p:cNvPr>
          <p:cNvSpPr>
            <a:spLocks noGrp="1"/>
          </p:cNvSpPr>
          <p:nvPr>
            <p:ph type="sldNum" sz="quarter" idx="12"/>
          </p:nvPr>
        </p:nvSpPr>
        <p:spPr/>
        <p:txBody>
          <a:bodyPr/>
          <a:lstStyle/>
          <a:p>
            <a:fld id="{C1FF6DA9-008F-8B48-92A6-B652298478BF}" type="slidenum">
              <a:rPr lang="en-US" smtClean="0"/>
              <a:t>15</a:t>
            </a:fld>
            <a:endParaRPr lang="en-US"/>
          </a:p>
        </p:txBody>
      </p:sp>
    </p:spTree>
    <p:extLst>
      <p:ext uri="{BB962C8B-B14F-4D97-AF65-F5344CB8AC3E}">
        <p14:creationId xmlns:p14="http://schemas.microsoft.com/office/powerpoint/2010/main" val="4260449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3F925-CE51-EA5A-2D2C-4138BD8520CF}"/>
              </a:ext>
            </a:extLst>
          </p:cNvPr>
          <p:cNvSpPr>
            <a:spLocks noGrp="1"/>
          </p:cNvSpPr>
          <p:nvPr>
            <p:ph type="title"/>
          </p:nvPr>
        </p:nvSpPr>
        <p:spPr/>
        <p:txBody>
          <a:bodyPr/>
          <a:lstStyle/>
          <a:p>
            <a:endParaRPr lang="en-DE" dirty="0"/>
          </a:p>
        </p:txBody>
      </p:sp>
      <p:sp>
        <p:nvSpPr>
          <p:cNvPr id="4" name="Footer Placeholder 3">
            <a:extLst>
              <a:ext uri="{FF2B5EF4-FFF2-40B4-BE49-F238E27FC236}">
                <a16:creationId xmlns:a16="http://schemas.microsoft.com/office/drawing/2014/main" id="{339C51A2-6242-6CF9-AD13-0BC25B493109}"/>
              </a:ext>
            </a:extLst>
          </p:cNvPr>
          <p:cNvSpPr>
            <a:spLocks noGrp="1"/>
          </p:cNvSpPr>
          <p:nvPr>
            <p:ph type="ftr" sz="quarter" idx="11"/>
          </p:nvPr>
        </p:nvSpPr>
        <p:spPr/>
        <p:txBody>
          <a:bodyPr/>
          <a:lstStyle/>
          <a:p>
            <a:r>
              <a:rPr lang="en-GB" sz="1200" dirty="0">
                <a:effectLst/>
                <a:latin typeface="Poppins" pitchFamily="2" charset="77"/>
              </a:rPr>
              <a:t>Zainab </a:t>
            </a:r>
            <a:r>
              <a:rPr lang="en-GB" sz="1200" dirty="0" err="1">
                <a:effectLst/>
                <a:latin typeface="Poppins" pitchFamily="2" charset="77"/>
              </a:rPr>
              <a:t>Nashitah</a:t>
            </a:r>
            <a:endParaRPr lang="en-US" dirty="0"/>
          </a:p>
        </p:txBody>
      </p:sp>
      <p:sp>
        <p:nvSpPr>
          <p:cNvPr id="5" name="Slide Number Placeholder 4">
            <a:extLst>
              <a:ext uri="{FF2B5EF4-FFF2-40B4-BE49-F238E27FC236}">
                <a16:creationId xmlns:a16="http://schemas.microsoft.com/office/drawing/2014/main" id="{627FBA2A-9BD2-EC64-72FA-CF06AB517CAF}"/>
              </a:ext>
            </a:extLst>
          </p:cNvPr>
          <p:cNvSpPr>
            <a:spLocks noGrp="1"/>
          </p:cNvSpPr>
          <p:nvPr>
            <p:ph type="sldNum" sz="quarter" idx="12"/>
          </p:nvPr>
        </p:nvSpPr>
        <p:spPr/>
        <p:txBody>
          <a:bodyPr/>
          <a:lstStyle/>
          <a:p>
            <a:fld id="{C1FF6DA9-008F-8B48-92A6-B652298478BF}" type="slidenum">
              <a:rPr lang="en-US" smtClean="0"/>
              <a:t>16</a:t>
            </a:fld>
            <a:endParaRPr lang="en-US"/>
          </a:p>
        </p:txBody>
      </p:sp>
      <p:sp>
        <p:nvSpPr>
          <p:cNvPr id="6" name="Rectangle 1">
            <a:extLst>
              <a:ext uri="{FF2B5EF4-FFF2-40B4-BE49-F238E27FC236}">
                <a16:creationId xmlns:a16="http://schemas.microsoft.com/office/drawing/2014/main" id="{A2605C49-E4B3-F7E6-F08A-9C2470CE16DE}"/>
              </a:ext>
            </a:extLst>
          </p:cNvPr>
          <p:cNvSpPr>
            <a:spLocks noGrp="1" noChangeArrowheads="1"/>
          </p:cNvSpPr>
          <p:nvPr>
            <p:ph idx="1"/>
          </p:nvPr>
        </p:nvSpPr>
        <p:spPr bwMode="auto">
          <a:xfrm>
            <a:off x="457200" y="1324026"/>
            <a:ext cx="8387168"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DE" altLang="en-DE"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DE" altLang="en-DE" sz="2400" b="0" i="0" u="none" strike="noStrike" cap="none" normalizeH="0" baseline="0" dirty="0">
                <a:ln>
                  <a:noFill/>
                </a:ln>
                <a:solidFill>
                  <a:srgbClr val="27251E"/>
                </a:solidFill>
                <a:effectLst/>
              </a:rPr>
              <a:t>High-demand categories may justify tighter review cycles</a:t>
            </a:r>
          </a:p>
          <a:p>
            <a:pPr marL="0" marR="0" lvl="0" indent="0" algn="l" defTabSz="914400" rtl="0" eaLnBrk="0" fontAlgn="base" latinLnBrk="0" hangingPunct="0">
              <a:lnSpc>
                <a:spcPct val="100000"/>
              </a:lnSpc>
              <a:spcBef>
                <a:spcPct val="0"/>
              </a:spcBef>
              <a:spcAft>
                <a:spcPct val="0"/>
              </a:spcAft>
              <a:buClrTx/>
              <a:buSzTx/>
              <a:buNone/>
              <a:tabLst/>
            </a:pPr>
            <a:r>
              <a:rPr kumimoji="0" lang="en-DE" altLang="en-DE" sz="2400" b="0" i="0" u="none" strike="noStrike" cap="none" normalizeH="0" baseline="0" dirty="0">
                <a:ln>
                  <a:noFill/>
                </a:ln>
                <a:solidFill>
                  <a:srgbClr val="27251E"/>
                </a:solidFill>
                <a:effectLst/>
              </a:rPr>
              <a:t> and higher service targets.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DE" altLang="en-DE" sz="2400" b="0" i="0" u="none" strike="noStrike" cap="none" normalizeH="0" baseline="0" dirty="0">
                <a:ln>
                  <a:noFill/>
                </a:ln>
                <a:solidFill>
                  <a:srgbClr val="27251E"/>
                </a:solidFill>
                <a:effectLst/>
              </a:rPr>
              <a:t>Slow-moving products may require lower stock levels or</a:t>
            </a:r>
          </a:p>
          <a:p>
            <a:pPr marL="0" marR="0" lvl="0" indent="0" algn="l" defTabSz="914400" rtl="0" eaLnBrk="0" fontAlgn="base" latinLnBrk="0" hangingPunct="0">
              <a:lnSpc>
                <a:spcPct val="100000"/>
              </a:lnSpc>
              <a:spcBef>
                <a:spcPct val="0"/>
              </a:spcBef>
              <a:spcAft>
                <a:spcPct val="0"/>
              </a:spcAft>
              <a:buClrTx/>
              <a:buSzTx/>
              <a:buNone/>
              <a:tabLst/>
            </a:pPr>
            <a:r>
              <a:rPr kumimoji="0" lang="en-DE" altLang="en-DE" sz="2400" b="0" i="0" u="none" strike="noStrike" cap="none" normalizeH="0" baseline="0" dirty="0">
                <a:ln>
                  <a:noFill/>
                </a:ln>
                <a:solidFill>
                  <a:srgbClr val="27251E"/>
                </a:solidFill>
                <a:effectLst/>
              </a:rPr>
              <a:t> alternative replenishment strategies.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DE" altLang="en-DE" sz="2400" b="0" i="0" u="none" strike="noStrike" cap="none" normalizeH="0" baseline="0" dirty="0">
                <a:ln>
                  <a:noFill/>
                </a:ln>
                <a:solidFill>
                  <a:srgbClr val="27251E"/>
                </a:solidFill>
                <a:effectLst/>
              </a:rPr>
              <a:t>Warehouse demand imbalance may indicate opportunity</a:t>
            </a:r>
          </a:p>
          <a:p>
            <a:pPr marL="0" marR="0" lvl="0" indent="0" algn="l" defTabSz="914400" rtl="0" eaLnBrk="0" fontAlgn="base" latinLnBrk="0" hangingPunct="0">
              <a:lnSpc>
                <a:spcPct val="100000"/>
              </a:lnSpc>
              <a:spcBef>
                <a:spcPct val="0"/>
              </a:spcBef>
              <a:spcAft>
                <a:spcPct val="0"/>
              </a:spcAft>
              <a:buClrTx/>
              <a:buSzTx/>
              <a:buNone/>
              <a:tabLst/>
            </a:pPr>
            <a:r>
              <a:rPr kumimoji="0" lang="en-DE" altLang="en-DE" sz="2400" b="0" i="0" u="none" strike="noStrike" cap="none" normalizeH="0" baseline="0" dirty="0">
                <a:ln>
                  <a:noFill/>
                </a:ln>
                <a:solidFill>
                  <a:srgbClr val="27251E"/>
                </a:solidFill>
                <a:effectLst/>
              </a:rPr>
              <a:t> for stock reallocation.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DE" altLang="en-DE" sz="2400" b="0" i="0" u="none" strike="noStrike" cap="none" normalizeH="0" baseline="0" dirty="0">
                <a:ln>
                  <a:noFill/>
                </a:ln>
                <a:solidFill>
                  <a:srgbClr val="27251E"/>
                </a:solidFill>
                <a:effectLst/>
              </a:rPr>
              <a:t>Products with unstable demand may need higher safety stock </a:t>
            </a:r>
          </a:p>
          <a:p>
            <a:pPr marL="0" marR="0" lvl="0" indent="0" algn="l" defTabSz="914400" rtl="0" eaLnBrk="0" fontAlgn="base" latinLnBrk="0" hangingPunct="0">
              <a:lnSpc>
                <a:spcPct val="100000"/>
              </a:lnSpc>
              <a:spcBef>
                <a:spcPct val="0"/>
              </a:spcBef>
              <a:spcAft>
                <a:spcPct val="0"/>
              </a:spcAft>
              <a:buClrTx/>
              <a:buSzTx/>
              <a:buNone/>
              <a:tabLst/>
            </a:pPr>
            <a:r>
              <a:rPr kumimoji="0" lang="en-DE" altLang="en-DE" sz="2400" b="0" i="0" u="none" strike="noStrike" cap="none" normalizeH="0" baseline="0" dirty="0">
                <a:ln>
                  <a:noFill/>
                </a:ln>
                <a:solidFill>
                  <a:srgbClr val="27251E"/>
                </a:solidFill>
                <a:effectLst/>
              </a:rPr>
              <a:t>than products with stable demand.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DE" altLang="en-DE" sz="2400" b="0" i="0" u="none" strike="noStrike" cap="none" normalizeH="0" baseline="0" dirty="0">
                <a:ln>
                  <a:noFill/>
                </a:ln>
                <a:solidFill>
                  <a:srgbClr val="27251E"/>
                </a:solidFill>
                <a:effectLst/>
              </a:rPr>
              <a:t>Monthly demand patterns can support pre-season replenishment </a:t>
            </a:r>
          </a:p>
          <a:p>
            <a:pPr marL="0" marR="0" lvl="0" indent="0" algn="l" defTabSz="914400" rtl="0" eaLnBrk="0" fontAlgn="base" latinLnBrk="0" hangingPunct="0">
              <a:lnSpc>
                <a:spcPct val="100000"/>
              </a:lnSpc>
              <a:spcBef>
                <a:spcPct val="0"/>
              </a:spcBef>
              <a:spcAft>
                <a:spcPct val="0"/>
              </a:spcAft>
              <a:buClrTx/>
              <a:buSzTx/>
              <a:buNone/>
              <a:tabLst/>
            </a:pPr>
            <a:r>
              <a:rPr kumimoji="0" lang="en-DE" altLang="en-DE" sz="2400" b="0" i="0" u="none" strike="noStrike" cap="none" normalizeH="0" baseline="0" dirty="0">
                <a:ln>
                  <a:noFill/>
                </a:ln>
                <a:solidFill>
                  <a:srgbClr val="27251E"/>
                </a:solidFill>
                <a:effectLst/>
              </a:rPr>
              <a:t>instead of last-minute reaction.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DE" altLang="en-DE" sz="2400" b="0" i="0" u="none" strike="noStrike" cap="none" normalizeH="0" baseline="0" dirty="0">
                <a:ln>
                  <a:noFill/>
                </a:ln>
                <a:solidFill>
                  <a:srgbClr val="27251E"/>
                </a:solidFill>
                <a:effectLst/>
              </a:rPr>
              <a:t>Product-code-level analysis helps identify which items drive most </a:t>
            </a:r>
          </a:p>
          <a:p>
            <a:pPr marL="0" marR="0" lvl="0" indent="0" algn="l" defTabSz="914400" rtl="0" eaLnBrk="0" fontAlgn="base" latinLnBrk="0" hangingPunct="0">
              <a:lnSpc>
                <a:spcPct val="100000"/>
              </a:lnSpc>
              <a:spcBef>
                <a:spcPct val="0"/>
              </a:spcBef>
              <a:spcAft>
                <a:spcPct val="0"/>
              </a:spcAft>
              <a:buClrTx/>
              <a:buSzTx/>
              <a:buNone/>
              <a:tabLst/>
            </a:pPr>
            <a:r>
              <a:rPr kumimoji="0" lang="en-DE" altLang="en-DE" sz="2400" b="0" i="0" u="none" strike="noStrike" cap="none" normalizeH="0" baseline="0" dirty="0">
                <a:ln>
                  <a:noFill/>
                </a:ln>
                <a:solidFill>
                  <a:srgbClr val="27251E"/>
                </a:solidFill>
                <a:effectLst/>
              </a:rPr>
              <a:t>of the operational workload.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DE" altLang="en-DE"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491787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Stakeholders</a:t>
            </a:r>
          </a:p>
        </p:txBody>
      </p:sp>
      <p:sp>
        <p:nvSpPr>
          <p:cNvPr id="3" name="Content Placeholder 2"/>
          <p:cNvSpPr>
            <a:spLocks noGrp="1"/>
          </p:cNvSpPr>
          <p:nvPr>
            <p:ph idx="1"/>
          </p:nvPr>
        </p:nvSpPr>
        <p:spPr/>
        <p:txBody>
          <a:bodyPr>
            <a:normAutofit fontScale="92500"/>
          </a:bodyPr>
          <a:lstStyle/>
          <a:p>
            <a:r>
              <a:rPr lang="en-US" dirty="0"/>
              <a:t>Inventory Managers(</a:t>
            </a:r>
            <a:r>
              <a:rPr lang="en-GB" dirty="0"/>
              <a:t>need better stock level decisions and safety stock planning)</a:t>
            </a:r>
            <a:endParaRPr dirty="0"/>
          </a:p>
          <a:p>
            <a:r>
              <a:rPr lang="en-US" dirty="0"/>
              <a:t>Operations and production teams(</a:t>
            </a:r>
            <a:r>
              <a:rPr lang="en-GB" dirty="0"/>
              <a:t>need visibility into expected demand to plan production and replenishment)</a:t>
            </a:r>
            <a:endParaRPr dirty="0"/>
          </a:p>
          <a:p>
            <a:r>
              <a:rPr lang="en-US" dirty="0"/>
              <a:t>Sales Team(</a:t>
            </a:r>
            <a:r>
              <a:rPr lang="en-GB" dirty="0"/>
              <a:t>need product availability to avoid lost opportunities and improve customer satisfaction)</a:t>
            </a:r>
            <a:endParaRPr lang="en-US" dirty="0"/>
          </a:p>
          <a:p>
            <a:r>
              <a:rPr lang="en-US" dirty="0"/>
              <a:t>Management and Decision-Makers(</a:t>
            </a:r>
            <a:r>
              <a:rPr lang="en-GB" dirty="0"/>
              <a:t>need clear KPIs, risk visibility, and business impact estimates)</a:t>
            </a:r>
            <a:endParaRPr dirty="0"/>
          </a:p>
        </p:txBody>
      </p:sp>
      <p:sp>
        <p:nvSpPr>
          <p:cNvPr id="4" name="Footer Placeholder 3">
            <a:extLst>
              <a:ext uri="{FF2B5EF4-FFF2-40B4-BE49-F238E27FC236}">
                <a16:creationId xmlns:a16="http://schemas.microsoft.com/office/drawing/2014/main" id="{C86D87F8-BEC2-B802-50A2-E08721EDBEEF}"/>
              </a:ext>
            </a:extLst>
          </p:cNvPr>
          <p:cNvSpPr>
            <a:spLocks noGrp="1"/>
          </p:cNvSpPr>
          <p:nvPr>
            <p:ph type="ftr" sz="quarter" idx="11"/>
          </p:nvPr>
        </p:nvSpPr>
        <p:spPr/>
        <p:txBody>
          <a:bodyPr/>
          <a:lstStyle/>
          <a:p>
            <a:r>
              <a:rPr lang="en-GB" sz="1200" dirty="0">
                <a:effectLst/>
                <a:latin typeface="Poppins" pitchFamily="2" charset="77"/>
              </a:rPr>
              <a:t>Zainab </a:t>
            </a:r>
            <a:r>
              <a:rPr lang="en-GB" sz="1200" dirty="0" err="1">
                <a:effectLst/>
                <a:latin typeface="Poppins" pitchFamily="2" charset="77"/>
              </a:rPr>
              <a:t>Nashitah</a:t>
            </a:r>
            <a:endParaRPr lang="en-US" dirty="0"/>
          </a:p>
        </p:txBody>
      </p:sp>
      <p:sp>
        <p:nvSpPr>
          <p:cNvPr id="5" name="Slide Number Placeholder 4">
            <a:extLst>
              <a:ext uri="{FF2B5EF4-FFF2-40B4-BE49-F238E27FC236}">
                <a16:creationId xmlns:a16="http://schemas.microsoft.com/office/drawing/2014/main" id="{72701A31-6092-7E92-14A6-2F7603EDCE13}"/>
              </a:ext>
            </a:extLst>
          </p:cNvPr>
          <p:cNvSpPr>
            <a:spLocks noGrp="1"/>
          </p:cNvSpPr>
          <p:nvPr>
            <p:ph type="sldNum" sz="quarter" idx="12"/>
          </p:nvPr>
        </p:nvSpPr>
        <p:spPr/>
        <p:txBody>
          <a:bodyPr/>
          <a:lstStyle/>
          <a:p>
            <a:fld id="{C1FF6DA9-008F-8B48-92A6-B652298478BF}" type="slidenum">
              <a:rPr lang="en-US" smtClean="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7B371-C704-AF96-F75D-DDA708F976E5}"/>
              </a:ext>
            </a:extLst>
          </p:cNvPr>
          <p:cNvSpPr>
            <a:spLocks noGrp="1"/>
          </p:cNvSpPr>
          <p:nvPr>
            <p:ph type="title"/>
          </p:nvPr>
        </p:nvSpPr>
        <p:spPr>
          <a:xfrm>
            <a:off x="457200" y="2857500"/>
            <a:ext cx="8229600" cy="1143000"/>
          </a:xfrm>
        </p:spPr>
        <p:txBody>
          <a:bodyPr/>
          <a:lstStyle/>
          <a:p>
            <a:r>
              <a:rPr lang="en-DE" dirty="0"/>
              <a:t>Theoretical Background</a:t>
            </a:r>
          </a:p>
        </p:txBody>
      </p:sp>
      <p:sp>
        <p:nvSpPr>
          <p:cNvPr id="4" name="Footer Placeholder 3">
            <a:extLst>
              <a:ext uri="{FF2B5EF4-FFF2-40B4-BE49-F238E27FC236}">
                <a16:creationId xmlns:a16="http://schemas.microsoft.com/office/drawing/2014/main" id="{08BBA245-CDEC-9A14-1B08-B6F0C32A1BD7}"/>
              </a:ext>
            </a:extLst>
          </p:cNvPr>
          <p:cNvSpPr>
            <a:spLocks noGrp="1"/>
          </p:cNvSpPr>
          <p:nvPr>
            <p:ph type="ftr" sz="quarter" idx="11"/>
          </p:nvPr>
        </p:nvSpPr>
        <p:spPr/>
        <p:txBody>
          <a:bodyPr/>
          <a:lstStyle/>
          <a:p>
            <a:r>
              <a:rPr lang="en-GB" sz="1200" dirty="0">
                <a:effectLst/>
                <a:latin typeface="Poppins" pitchFamily="2" charset="77"/>
              </a:rPr>
              <a:t>Zainab </a:t>
            </a:r>
            <a:r>
              <a:rPr lang="en-GB" sz="1200" dirty="0" err="1">
                <a:effectLst/>
                <a:latin typeface="Poppins" pitchFamily="2" charset="77"/>
              </a:rPr>
              <a:t>Nashitah</a:t>
            </a:r>
            <a:endParaRPr lang="en-US" dirty="0"/>
          </a:p>
        </p:txBody>
      </p:sp>
      <p:sp>
        <p:nvSpPr>
          <p:cNvPr id="5" name="Slide Number Placeholder 4">
            <a:extLst>
              <a:ext uri="{FF2B5EF4-FFF2-40B4-BE49-F238E27FC236}">
                <a16:creationId xmlns:a16="http://schemas.microsoft.com/office/drawing/2014/main" id="{112DE5AD-EB81-6365-5C8A-F9F06A119E57}"/>
              </a:ext>
            </a:extLst>
          </p:cNvPr>
          <p:cNvSpPr>
            <a:spLocks noGrp="1"/>
          </p:cNvSpPr>
          <p:nvPr>
            <p:ph type="sldNum" sz="quarter" idx="12"/>
          </p:nvPr>
        </p:nvSpPr>
        <p:spPr/>
        <p:txBody>
          <a:bodyPr/>
          <a:lstStyle/>
          <a:p>
            <a:fld id="{C1FF6DA9-008F-8B48-92A6-B652298478BF}" type="slidenum">
              <a:rPr lang="en-US" smtClean="0"/>
              <a:t>18</a:t>
            </a:fld>
            <a:endParaRPr lang="en-US"/>
          </a:p>
        </p:txBody>
      </p:sp>
    </p:spTree>
    <p:extLst>
      <p:ext uri="{BB962C8B-B14F-4D97-AF65-F5344CB8AC3E}">
        <p14:creationId xmlns:p14="http://schemas.microsoft.com/office/powerpoint/2010/main" val="3002720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What is Demand Management?</a:t>
            </a:r>
          </a:p>
        </p:txBody>
      </p:sp>
      <p:sp>
        <p:nvSpPr>
          <p:cNvPr id="3" name="Content Placeholder 2"/>
          <p:cNvSpPr>
            <a:spLocks noGrp="1"/>
          </p:cNvSpPr>
          <p:nvPr>
            <p:ph idx="1"/>
          </p:nvPr>
        </p:nvSpPr>
        <p:spPr/>
        <p:txBody>
          <a:bodyPr>
            <a:normAutofit/>
          </a:bodyPr>
          <a:lstStyle/>
          <a:p>
            <a:r>
              <a:rPr lang="en-GB" sz="2400" dirty="0"/>
              <a:t>Demand Management is the process of </a:t>
            </a:r>
            <a:r>
              <a:rPr lang="en-GB" sz="2400" b="1" dirty="0" err="1"/>
              <a:t>analyzing</a:t>
            </a:r>
            <a:r>
              <a:rPr lang="en-GB" sz="2400" b="1" dirty="0"/>
              <a:t>, forecasting, and influencing demand</a:t>
            </a:r>
          </a:p>
          <a:p>
            <a:r>
              <a:rPr lang="en-GB" sz="2400" dirty="0"/>
              <a:t>It helps align </a:t>
            </a:r>
            <a:r>
              <a:rPr lang="en-GB" sz="2400" b="1" dirty="0"/>
              <a:t>supply with customer needs</a:t>
            </a:r>
          </a:p>
          <a:p>
            <a:r>
              <a:rPr lang="en-GB" sz="2400" dirty="0"/>
              <a:t>Goal: balance </a:t>
            </a:r>
            <a:r>
              <a:rPr lang="en-GB" sz="2400" b="1" dirty="0"/>
              <a:t>availability and cost</a:t>
            </a:r>
          </a:p>
          <a:p>
            <a:r>
              <a:rPr lang="en-GB" sz="2400" dirty="0"/>
              <a:t>Ensures the right product is available at the right time</a:t>
            </a:r>
            <a:endParaRPr sz="2400" dirty="0"/>
          </a:p>
        </p:txBody>
      </p:sp>
      <p:sp>
        <p:nvSpPr>
          <p:cNvPr id="4" name="Footer Placeholder 3">
            <a:extLst>
              <a:ext uri="{FF2B5EF4-FFF2-40B4-BE49-F238E27FC236}">
                <a16:creationId xmlns:a16="http://schemas.microsoft.com/office/drawing/2014/main" id="{2549FD62-3401-66F2-A194-0C40F7F55589}"/>
              </a:ext>
            </a:extLst>
          </p:cNvPr>
          <p:cNvSpPr>
            <a:spLocks noGrp="1"/>
          </p:cNvSpPr>
          <p:nvPr>
            <p:ph type="ftr" sz="quarter" idx="11"/>
          </p:nvPr>
        </p:nvSpPr>
        <p:spPr/>
        <p:txBody>
          <a:bodyPr/>
          <a:lstStyle/>
          <a:p>
            <a:r>
              <a:rPr lang="en-GB" sz="1200" dirty="0">
                <a:effectLst/>
                <a:latin typeface="Poppins" pitchFamily="2" charset="77"/>
              </a:rPr>
              <a:t>Zainab </a:t>
            </a:r>
            <a:r>
              <a:rPr lang="en-GB" sz="1200" dirty="0" err="1">
                <a:effectLst/>
                <a:latin typeface="Poppins" pitchFamily="2" charset="77"/>
              </a:rPr>
              <a:t>Nashitah</a:t>
            </a:r>
            <a:endParaRPr lang="en-US" dirty="0"/>
          </a:p>
        </p:txBody>
      </p:sp>
      <p:sp>
        <p:nvSpPr>
          <p:cNvPr id="5" name="Slide Number Placeholder 4">
            <a:extLst>
              <a:ext uri="{FF2B5EF4-FFF2-40B4-BE49-F238E27FC236}">
                <a16:creationId xmlns:a16="http://schemas.microsoft.com/office/drawing/2014/main" id="{8257EC0E-7CAE-1F8C-747E-06F8242F75A2}"/>
              </a:ext>
            </a:extLst>
          </p:cNvPr>
          <p:cNvSpPr>
            <a:spLocks noGrp="1"/>
          </p:cNvSpPr>
          <p:nvPr>
            <p:ph type="sldNum" sz="quarter" idx="12"/>
          </p:nvPr>
        </p:nvSpPr>
        <p:spPr/>
        <p:txBody>
          <a:bodyPr/>
          <a:lstStyle/>
          <a:p>
            <a:fld id="{C1FF6DA9-008F-8B48-92A6-B652298478BF}" type="slidenum">
              <a:rPr lang="en-US" smtClean="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0" i="0" u="none" strike="noStrike" dirty="0">
                <a:solidFill>
                  <a:srgbClr val="000000"/>
                </a:solidFill>
                <a:effectLst/>
                <a:latin typeface="-webkit-standard"/>
              </a:rPr>
              <a:t>Importance of Demand Management</a:t>
            </a:r>
            <a:endParaRPr dirty="0"/>
          </a:p>
        </p:txBody>
      </p:sp>
      <p:sp>
        <p:nvSpPr>
          <p:cNvPr id="3" name="Content Placeholder 2"/>
          <p:cNvSpPr>
            <a:spLocks noGrp="1"/>
          </p:cNvSpPr>
          <p:nvPr>
            <p:ph idx="1"/>
          </p:nvPr>
        </p:nvSpPr>
        <p:spPr/>
        <p:txBody>
          <a:bodyPr>
            <a:normAutofit/>
          </a:bodyPr>
          <a:lstStyle/>
          <a:p>
            <a:r>
              <a:rPr lang="en-GB" sz="2400" dirty="0"/>
              <a:t>Reduces </a:t>
            </a:r>
            <a:r>
              <a:rPr lang="en-GB" sz="2400" b="1" dirty="0"/>
              <a:t>stockouts and lost sales</a:t>
            </a:r>
          </a:p>
          <a:p>
            <a:r>
              <a:rPr lang="en-GB" sz="2400" dirty="0"/>
              <a:t>Minimizes </a:t>
            </a:r>
            <a:r>
              <a:rPr lang="en-GB" sz="2400" b="1" dirty="0"/>
              <a:t>excess inventory and holding costs</a:t>
            </a:r>
          </a:p>
          <a:p>
            <a:r>
              <a:rPr lang="en-GB" sz="2400" dirty="0"/>
              <a:t>Improves </a:t>
            </a:r>
            <a:r>
              <a:rPr lang="en-GB" sz="2400" b="1" dirty="0"/>
              <a:t>customer satisfaction</a:t>
            </a:r>
          </a:p>
          <a:p>
            <a:r>
              <a:rPr lang="en-GB" sz="2400" dirty="0"/>
              <a:t>Supports better </a:t>
            </a:r>
            <a:r>
              <a:rPr lang="en-GB" sz="2400" b="1" dirty="0"/>
              <a:t>production and inventory planning</a:t>
            </a:r>
            <a:endParaRPr sz="2400" dirty="0"/>
          </a:p>
        </p:txBody>
      </p:sp>
      <p:sp>
        <p:nvSpPr>
          <p:cNvPr id="4" name="Footer Placeholder 3">
            <a:extLst>
              <a:ext uri="{FF2B5EF4-FFF2-40B4-BE49-F238E27FC236}">
                <a16:creationId xmlns:a16="http://schemas.microsoft.com/office/drawing/2014/main" id="{77957E18-FECA-F137-3B13-B9CFAE59EE32}"/>
              </a:ext>
            </a:extLst>
          </p:cNvPr>
          <p:cNvSpPr>
            <a:spLocks noGrp="1"/>
          </p:cNvSpPr>
          <p:nvPr>
            <p:ph type="ftr" sz="quarter" idx="11"/>
          </p:nvPr>
        </p:nvSpPr>
        <p:spPr/>
        <p:txBody>
          <a:bodyPr/>
          <a:lstStyle/>
          <a:p>
            <a:r>
              <a:rPr lang="en-GB" sz="1200" dirty="0">
                <a:effectLst/>
                <a:latin typeface="Poppins" pitchFamily="2" charset="77"/>
              </a:rPr>
              <a:t>Zainab </a:t>
            </a:r>
            <a:r>
              <a:rPr lang="en-GB" sz="1200" dirty="0" err="1">
                <a:effectLst/>
                <a:latin typeface="Poppins" pitchFamily="2" charset="77"/>
              </a:rPr>
              <a:t>Nashitah</a:t>
            </a:r>
            <a:endParaRPr lang="en-US" dirty="0"/>
          </a:p>
        </p:txBody>
      </p:sp>
      <p:sp>
        <p:nvSpPr>
          <p:cNvPr id="5" name="Slide Number Placeholder 4">
            <a:extLst>
              <a:ext uri="{FF2B5EF4-FFF2-40B4-BE49-F238E27FC236}">
                <a16:creationId xmlns:a16="http://schemas.microsoft.com/office/drawing/2014/main" id="{F5A8398D-7F11-658B-3E4B-ACE7037F9D34}"/>
              </a:ext>
            </a:extLst>
          </p:cNvPr>
          <p:cNvSpPr>
            <a:spLocks noGrp="1"/>
          </p:cNvSpPr>
          <p:nvPr>
            <p:ph type="sldNum" sz="quarter" idx="12"/>
          </p:nvPr>
        </p:nvSpPr>
        <p:spPr/>
        <p:txBody>
          <a:bodyPr/>
          <a:lstStyle/>
          <a:p>
            <a:fld id="{C1FF6DA9-008F-8B48-92A6-B652298478BF}" type="slidenum">
              <a:rPr lang="en-US" smtClean="0"/>
              <a:t>20</a:t>
            </a:fld>
            <a:endParaRPr lang="en-US"/>
          </a:p>
        </p:txBody>
      </p:sp>
    </p:spTree>
    <p:extLst>
      <p:ext uri="{BB962C8B-B14F-4D97-AF65-F5344CB8AC3E}">
        <p14:creationId xmlns:p14="http://schemas.microsoft.com/office/powerpoint/2010/main" val="27404751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0" i="0" u="none" strike="noStrike" dirty="0">
                <a:solidFill>
                  <a:srgbClr val="000000"/>
                </a:solidFill>
                <a:effectLst/>
                <a:latin typeface="-webkit-standard"/>
              </a:rPr>
              <a:t>Forecasting vs Demand Planning</a:t>
            </a:r>
            <a:endParaRPr dirty="0"/>
          </a:p>
        </p:txBody>
      </p:sp>
      <p:sp>
        <p:nvSpPr>
          <p:cNvPr id="3" name="Content Placeholder 2"/>
          <p:cNvSpPr>
            <a:spLocks noGrp="1"/>
          </p:cNvSpPr>
          <p:nvPr>
            <p:ph idx="1"/>
          </p:nvPr>
        </p:nvSpPr>
        <p:spPr/>
        <p:txBody>
          <a:bodyPr>
            <a:normAutofit/>
          </a:bodyPr>
          <a:lstStyle/>
          <a:p>
            <a:r>
              <a:rPr lang="en-GB" sz="2400" b="1" dirty="0"/>
              <a:t>Forecasting:</a:t>
            </a:r>
            <a:r>
              <a:rPr lang="en-GB" sz="2400" dirty="0"/>
              <a:t> Predict future demand based on historical data</a:t>
            </a:r>
          </a:p>
          <a:p>
            <a:r>
              <a:rPr lang="en-GB" sz="2400" b="1" dirty="0"/>
              <a:t>Demand Planning:</a:t>
            </a:r>
            <a:r>
              <a:rPr lang="en-GB" sz="2400" dirty="0"/>
              <a:t> Uses forecasts + business knowledge to make decisions(Sensing , planning and coordination)</a:t>
            </a:r>
          </a:p>
          <a:p>
            <a:r>
              <a:rPr lang="en-GB" sz="2400" dirty="0"/>
              <a:t>Forecast = data-driven</a:t>
            </a:r>
          </a:p>
          <a:p>
            <a:r>
              <a:rPr lang="en-GB" sz="2400" dirty="0"/>
              <a:t>Planning = decision-making process</a:t>
            </a:r>
            <a:endParaRPr sz="2400" dirty="0"/>
          </a:p>
        </p:txBody>
      </p:sp>
      <p:sp>
        <p:nvSpPr>
          <p:cNvPr id="4" name="Footer Placeholder 3">
            <a:extLst>
              <a:ext uri="{FF2B5EF4-FFF2-40B4-BE49-F238E27FC236}">
                <a16:creationId xmlns:a16="http://schemas.microsoft.com/office/drawing/2014/main" id="{497E9516-6118-7E6E-2696-E5E3BAF723F5}"/>
              </a:ext>
            </a:extLst>
          </p:cNvPr>
          <p:cNvSpPr>
            <a:spLocks noGrp="1"/>
          </p:cNvSpPr>
          <p:nvPr>
            <p:ph type="ftr" sz="quarter" idx="11"/>
          </p:nvPr>
        </p:nvSpPr>
        <p:spPr/>
        <p:txBody>
          <a:bodyPr/>
          <a:lstStyle/>
          <a:p>
            <a:r>
              <a:rPr lang="en-GB" sz="1200" dirty="0">
                <a:effectLst/>
                <a:latin typeface="Poppins" pitchFamily="2" charset="77"/>
              </a:rPr>
              <a:t>Zainab </a:t>
            </a:r>
            <a:r>
              <a:rPr lang="en-GB" sz="1200" dirty="0" err="1">
                <a:effectLst/>
                <a:latin typeface="Poppins" pitchFamily="2" charset="77"/>
              </a:rPr>
              <a:t>Nashitah</a:t>
            </a:r>
            <a:endParaRPr lang="en-US" dirty="0"/>
          </a:p>
        </p:txBody>
      </p:sp>
      <p:sp>
        <p:nvSpPr>
          <p:cNvPr id="5" name="Slide Number Placeholder 4">
            <a:extLst>
              <a:ext uri="{FF2B5EF4-FFF2-40B4-BE49-F238E27FC236}">
                <a16:creationId xmlns:a16="http://schemas.microsoft.com/office/drawing/2014/main" id="{43BA1702-E62C-5AC3-CCAB-8E4D87C535FB}"/>
              </a:ext>
            </a:extLst>
          </p:cNvPr>
          <p:cNvSpPr>
            <a:spLocks noGrp="1"/>
          </p:cNvSpPr>
          <p:nvPr>
            <p:ph type="sldNum" sz="quarter" idx="12"/>
          </p:nvPr>
        </p:nvSpPr>
        <p:spPr/>
        <p:txBody>
          <a:bodyPr/>
          <a:lstStyle/>
          <a:p>
            <a:fld id="{C1FF6DA9-008F-8B48-92A6-B652298478BF}" type="slidenum">
              <a:rPr lang="en-US" smtClean="0"/>
              <a:t>21</a:t>
            </a:fld>
            <a:endParaRPr lang="en-US"/>
          </a:p>
        </p:txBody>
      </p:sp>
    </p:spTree>
    <p:extLst>
      <p:ext uri="{BB962C8B-B14F-4D97-AF65-F5344CB8AC3E}">
        <p14:creationId xmlns:p14="http://schemas.microsoft.com/office/powerpoint/2010/main" val="6134779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Intermittent Demand</a:t>
            </a:r>
          </a:p>
        </p:txBody>
      </p:sp>
      <p:sp>
        <p:nvSpPr>
          <p:cNvPr id="3" name="Content Placeholder 2"/>
          <p:cNvSpPr>
            <a:spLocks noGrp="1"/>
          </p:cNvSpPr>
          <p:nvPr>
            <p:ph idx="1"/>
          </p:nvPr>
        </p:nvSpPr>
        <p:spPr/>
        <p:txBody>
          <a:bodyPr>
            <a:normAutofit/>
          </a:bodyPr>
          <a:lstStyle/>
          <a:p>
            <a:r>
              <a:rPr lang="en-GB" sz="2400" dirty="0"/>
              <a:t>Demand occurs </a:t>
            </a:r>
            <a:r>
              <a:rPr lang="en-GB" sz="2400" b="1" dirty="0"/>
              <a:t>irregularly over time</a:t>
            </a:r>
          </a:p>
          <a:p>
            <a:r>
              <a:rPr lang="en-GB" sz="2400" dirty="0"/>
              <a:t>Many periods have </a:t>
            </a:r>
            <a:r>
              <a:rPr lang="en-GB" sz="2400" b="1" dirty="0"/>
              <a:t>zero demand</a:t>
            </a:r>
          </a:p>
          <a:p>
            <a:r>
              <a:rPr lang="en-GB" sz="2400" b="0" i="0" u="none" strike="noStrike" dirty="0">
                <a:solidFill>
                  <a:srgbClr val="000000"/>
                </a:solidFill>
                <a:effectLst/>
              </a:rPr>
              <a:t>Common in products that are not ordered regularly</a:t>
            </a:r>
          </a:p>
          <a:p>
            <a:r>
              <a:rPr lang="en-GB" sz="2400" dirty="0"/>
              <a:t>Difficult to forecast using standard methods</a:t>
            </a:r>
          </a:p>
          <a:p>
            <a:r>
              <a:rPr lang="en-GB" sz="2400" dirty="0"/>
              <a:t>Intermittent demand products should not be managed with the same logic as fast-moving products.</a:t>
            </a:r>
          </a:p>
          <a:p>
            <a:endParaRPr sz="2400" dirty="0"/>
          </a:p>
        </p:txBody>
      </p:sp>
      <p:sp>
        <p:nvSpPr>
          <p:cNvPr id="4" name="Footer Placeholder 3">
            <a:extLst>
              <a:ext uri="{FF2B5EF4-FFF2-40B4-BE49-F238E27FC236}">
                <a16:creationId xmlns:a16="http://schemas.microsoft.com/office/drawing/2014/main" id="{63B16788-51C9-FC55-DEAB-7CC6AACD2E9C}"/>
              </a:ext>
            </a:extLst>
          </p:cNvPr>
          <p:cNvSpPr>
            <a:spLocks noGrp="1"/>
          </p:cNvSpPr>
          <p:nvPr>
            <p:ph type="ftr" sz="quarter" idx="11"/>
          </p:nvPr>
        </p:nvSpPr>
        <p:spPr/>
        <p:txBody>
          <a:bodyPr/>
          <a:lstStyle/>
          <a:p>
            <a:r>
              <a:rPr lang="en-GB" sz="1200" dirty="0">
                <a:effectLst/>
                <a:latin typeface="Poppins" pitchFamily="2" charset="77"/>
              </a:rPr>
              <a:t>Zainab </a:t>
            </a:r>
            <a:r>
              <a:rPr lang="en-GB" sz="1200" dirty="0" err="1">
                <a:effectLst/>
                <a:latin typeface="Poppins" pitchFamily="2" charset="77"/>
              </a:rPr>
              <a:t>Nashitah</a:t>
            </a:r>
            <a:endParaRPr lang="en-US" dirty="0"/>
          </a:p>
        </p:txBody>
      </p:sp>
      <p:sp>
        <p:nvSpPr>
          <p:cNvPr id="5" name="Slide Number Placeholder 4">
            <a:extLst>
              <a:ext uri="{FF2B5EF4-FFF2-40B4-BE49-F238E27FC236}">
                <a16:creationId xmlns:a16="http://schemas.microsoft.com/office/drawing/2014/main" id="{6CBA45CC-AD56-9BD4-DB68-44CEE7FA50FF}"/>
              </a:ext>
            </a:extLst>
          </p:cNvPr>
          <p:cNvSpPr>
            <a:spLocks noGrp="1"/>
          </p:cNvSpPr>
          <p:nvPr>
            <p:ph type="sldNum" sz="quarter" idx="12"/>
          </p:nvPr>
        </p:nvSpPr>
        <p:spPr/>
        <p:txBody>
          <a:bodyPr/>
          <a:lstStyle/>
          <a:p>
            <a:fld id="{C1FF6DA9-008F-8B48-92A6-B652298478BF}" type="slidenum">
              <a:rPr lang="en-US" smtClean="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0" i="0" u="none" strike="noStrike" dirty="0">
                <a:solidFill>
                  <a:srgbClr val="000000"/>
                </a:solidFill>
                <a:effectLst/>
                <a:latin typeface="-webkit-standard"/>
              </a:rPr>
              <a:t>Characteristics of Intermittent Demand</a:t>
            </a:r>
            <a:endParaRPr dirty="0"/>
          </a:p>
        </p:txBody>
      </p:sp>
      <p:sp>
        <p:nvSpPr>
          <p:cNvPr id="3" name="Content Placeholder 2"/>
          <p:cNvSpPr>
            <a:spLocks noGrp="1"/>
          </p:cNvSpPr>
          <p:nvPr>
            <p:ph idx="1"/>
          </p:nvPr>
        </p:nvSpPr>
        <p:spPr>
          <a:xfrm>
            <a:off x="457200" y="1600201"/>
            <a:ext cx="8229600" cy="2727356"/>
          </a:xfrm>
        </p:spPr>
        <p:txBody>
          <a:bodyPr>
            <a:normAutofit/>
          </a:bodyPr>
          <a:lstStyle/>
          <a:p>
            <a:r>
              <a:rPr lang="en-GB" sz="2400" dirty="0"/>
              <a:t>High number of </a:t>
            </a:r>
            <a:r>
              <a:rPr lang="en-GB" sz="2400" b="1" dirty="0"/>
              <a:t>zero-demand periods</a:t>
            </a:r>
          </a:p>
          <a:p>
            <a:r>
              <a:rPr lang="en-GB" sz="2400" dirty="0"/>
              <a:t>Sudden spikes in demand</a:t>
            </a:r>
          </a:p>
          <a:p>
            <a:r>
              <a:rPr lang="en-GB" sz="2400" dirty="0"/>
              <a:t>Unpredictable timing</a:t>
            </a:r>
          </a:p>
          <a:p>
            <a:r>
              <a:rPr lang="en-GB" sz="2400" dirty="0"/>
              <a:t>High variability</a:t>
            </a:r>
            <a:endParaRPr sz="2400" dirty="0"/>
          </a:p>
        </p:txBody>
      </p:sp>
      <p:sp>
        <p:nvSpPr>
          <p:cNvPr id="4" name="Footer Placeholder 3">
            <a:extLst>
              <a:ext uri="{FF2B5EF4-FFF2-40B4-BE49-F238E27FC236}">
                <a16:creationId xmlns:a16="http://schemas.microsoft.com/office/drawing/2014/main" id="{30C4909B-5B2B-531A-E260-F4904C753909}"/>
              </a:ext>
            </a:extLst>
          </p:cNvPr>
          <p:cNvSpPr>
            <a:spLocks noGrp="1"/>
          </p:cNvSpPr>
          <p:nvPr>
            <p:ph type="ftr" sz="quarter" idx="11"/>
          </p:nvPr>
        </p:nvSpPr>
        <p:spPr/>
        <p:txBody>
          <a:bodyPr/>
          <a:lstStyle/>
          <a:p>
            <a:r>
              <a:rPr lang="en-GB" sz="1200" dirty="0">
                <a:effectLst/>
                <a:latin typeface="Poppins" pitchFamily="2" charset="77"/>
              </a:rPr>
              <a:t>Zainab </a:t>
            </a:r>
            <a:r>
              <a:rPr lang="en-GB" sz="1200" dirty="0" err="1">
                <a:effectLst/>
                <a:latin typeface="Poppins" pitchFamily="2" charset="77"/>
              </a:rPr>
              <a:t>Nashitah</a:t>
            </a:r>
            <a:endParaRPr lang="en-US" dirty="0"/>
          </a:p>
        </p:txBody>
      </p:sp>
      <p:sp>
        <p:nvSpPr>
          <p:cNvPr id="5" name="Slide Number Placeholder 4">
            <a:extLst>
              <a:ext uri="{FF2B5EF4-FFF2-40B4-BE49-F238E27FC236}">
                <a16:creationId xmlns:a16="http://schemas.microsoft.com/office/drawing/2014/main" id="{BFA2D2CD-14B9-AD3E-0C67-419CBFA0FEBC}"/>
              </a:ext>
            </a:extLst>
          </p:cNvPr>
          <p:cNvSpPr>
            <a:spLocks noGrp="1"/>
          </p:cNvSpPr>
          <p:nvPr>
            <p:ph type="sldNum" sz="quarter" idx="12"/>
          </p:nvPr>
        </p:nvSpPr>
        <p:spPr/>
        <p:txBody>
          <a:bodyPr/>
          <a:lstStyle/>
          <a:p>
            <a:fld id="{C1FF6DA9-008F-8B48-92A6-B652298478BF}" type="slidenum">
              <a:rPr lang="en-US" smtClean="0"/>
              <a:t>23</a:t>
            </a:fld>
            <a:endParaRPr lang="en-US"/>
          </a:p>
        </p:txBody>
      </p:sp>
    </p:spTree>
    <p:extLst>
      <p:ext uri="{BB962C8B-B14F-4D97-AF65-F5344CB8AC3E}">
        <p14:creationId xmlns:p14="http://schemas.microsoft.com/office/powerpoint/2010/main" val="32323383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0" i="0" u="none" strike="noStrike" dirty="0">
                <a:solidFill>
                  <a:srgbClr val="000000"/>
                </a:solidFill>
                <a:effectLst/>
              </a:rPr>
              <a:t>Time Series Data</a:t>
            </a:r>
            <a:endParaRPr dirty="0"/>
          </a:p>
        </p:txBody>
      </p:sp>
      <p:sp>
        <p:nvSpPr>
          <p:cNvPr id="3" name="Content Placeholder 2"/>
          <p:cNvSpPr>
            <a:spLocks noGrp="1"/>
          </p:cNvSpPr>
          <p:nvPr>
            <p:ph idx="1"/>
          </p:nvPr>
        </p:nvSpPr>
        <p:spPr>
          <a:xfrm>
            <a:off x="457200" y="1600201"/>
            <a:ext cx="8229600" cy="2727356"/>
          </a:xfrm>
        </p:spPr>
        <p:txBody>
          <a:bodyPr>
            <a:normAutofit/>
          </a:bodyPr>
          <a:lstStyle/>
          <a:p>
            <a:r>
              <a:rPr lang="en-GB" sz="2400" dirty="0"/>
              <a:t>Data collected </a:t>
            </a:r>
            <a:r>
              <a:rPr lang="en-GB" sz="2400" b="1" dirty="0"/>
              <a:t>over time intervals</a:t>
            </a:r>
          </a:p>
          <a:p>
            <a:r>
              <a:rPr lang="en-GB" sz="2400" dirty="0"/>
              <a:t>Example: daily or weekly demand</a:t>
            </a:r>
          </a:p>
          <a:p>
            <a:r>
              <a:rPr lang="en-GB" sz="2400" dirty="0"/>
              <a:t>Used to identify patterns and trends</a:t>
            </a:r>
          </a:p>
          <a:p>
            <a:r>
              <a:rPr lang="en-GB" sz="2400" dirty="0"/>
              <a:t>Important for demand analysis and forecasting</a:t>
            </a:r>
            <a:endParaRPr sz="2400" dirty="0"/>
          </a:p>
        </p:txBody>
      </p:sp>
      <p:sp>
        <p:nvSpPr>
          <p:cNvPr id="4" name="Footer Placeholder 3">
            <a:extLst>
              <a:ext uri="{FF2B5EF4-FFF2-40B4-BE49-F238E27FC236}">
                <a16:creationId xmlns:a16="http://schemas.microsoft.com/office/drawing/2014/main" id="{2A114597-1721-E5C2-F392-4839F0DCB4E9}"/>
              </a:ext>
            </a:extLst>
          </p:cNvPr>
          <p:cNvSpPr>
            <a:spLocks noGrp="1"/>
          </p:cNvSpPr>
          <p:nvPr>
            <p:ph type="ftr" sz="quarter" idx="11"/>
          </p:nvPr>
        </p:nvSpPr>
        <p:spPr/>
        <p:txBody>
          <a:bodyPr/>
          <a:lstStyle/>
          <a:p>
            <a:r>
              <a:rPr lang="en-GB" sz="1200" dirty="0">
                <a:effectLst/>
                <a:latin typeface="Poppins" pitchFamily="2" charset="77"/>
              </a:rPr>
              <a:t>Zainab </a:t>
            </a:r>
            <a:r>
              <a:rPr lang="en-GB" sz="1200" dirty="0" err="1">
                <a:effectLst/>
                <a:latin typeface="Poppins" pitchFamily="2" charset="77"/>
              </a:rPr>
              <a:t>Nashitah</a:t>
            </a:r>
            <a:endParaRPr lang="en-US" dirty="0"/>
          </a:p>
        </p:txBody>
      </p:sp>
      <p:sp>
        <p:nvSpPr>
          <p:cNvPr id="5" name="Slide Number Placeholder 4">
            <a:extLst>
              <a:ext uri="{FF2B5EF4-FFF2-40B4-BE49-F238E27FC236}">
                <a16:creationId xmlns:a16="http://schemas.microsoft.com/office/drawing/2014/main" id="{39B777D8-450E-C647-2B49-020293D8C017}"/>
              </a:ext>
            </a:extLst>
          </p:cNvPr>
          <p:cNvSpPr>
            <a:spLocks noGrp="1"/>
          </p:cNvSpPr>
          <p:nvPr>
            <p:ph type="sldNum" sz="quarter" idx="12"/>
          </p:nvPr>
        </p:nvSpPr>
        <p:spPr/>
        <p:txBody>
          <a:bodyPr/>
          <a:lstStyle/>
          <a:p>
            <a:fld id="{C1FF6DA9-008F-8B48-92A6-B652298478BF}" type="slidenum">
              <a:rPr lang="en-US" smtClean="0"/>
              <a:t>24</a:t>
            </a:fld>
            <a:endParaRPr lang="en-US"/>
          </a:p>
        </p:txBody>
      </p:sp>
    </p:spTree>
    <p:extLst>
      <p:ext uri="{BB962C8B-B14F-4D97-AF65-F5344CB8AC3E}">
        <p14:creationId xmlns:p14="http://schemas.microsoft.com/office/powerpoint/2010/main" val="22843869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0" i="0" u="none" strike="noStrike" dirty="0">
                <a:solidFill>
                  <a:srgbClr val="000000"/>
                </a:solidFill>
                <a:effectLst/>
              </a:rPr>
              <a:t>Trend and Seasonality</a:t>
            </a:r>
            <a:endParaRPr dirty="0"/>
          </a:p>
        </p:txBody>
      </p:sp>
      <p:sp>
        <p:nvSpPr>
          <p:cNvPr id="3" name="Content Placeholder 2"/>
          <p:cNvSpPr>
            <a:spLocks noGrp="1"/>
          </p:cNvSpPr>
          <p:nvPr>
            <p:ph idx="1"/>
          </p:nvPr>
        </p:nvSpPr>
        <p:spPr>
          <a:xfrm>
            <a:off x="457200" y="1600201"/>
            <a:ext cx="8229600" cy="2727356"/>
          </a:xfrm>
        </p:spPr>
        <p:txBody>
          <a:bodyPr>
            <a:normAutofit/>
          </a:bodyPr>
          <a:lstStyle/>
          <a:p>
            <a:r>
              <a:rPr lang="en-GB" sz="2400" b="1" dirty="0"/>
              <a:t>Trend:</a:t>
            </a:r>
            <a:r>
              <a:rPr lang="en-GB" sz="2400" dirty="0"/>
              <a:t> Long-term increase or decrease in demand</a:t>
            </a:r>
          </a:p>
          <a:p>
            <a:r>
              <a:rPr lang="en-GB" sz="2400" b="1" dirty="0"/>
              <a:t>Seasonality:</a:t>
            </a:r>
            <a:r>
              <a:rPr lang="en-GB" sz="2400" dirty="0"/>
              <a:t> Repeating patterns over time (e.g., weekly, yearly)</a:t>
            </a:r>
          </a:p>
          <a:p>
            <a:r>
              <a:rPr lang="en-GB" sz="2400" dirty="0"/>
              <a:t>Helps understand demand </a:t>
            </a:r>
            <a:r>
              <a:rPr lang="en-GB" sz="2400" dirty="0" err="1"/>
              <a:t>behavior</a:t>
            </a:r>
            <a:endParaRPr sz="2400" dirty="0"/>
          </a:p>
        </p:txBody>
      </p:sp>
      <p:sp>
        <p:nvSpPr>
          <p:cNvPr id="4" name="Footer Placeholder 3">
            <a:extLst>
              <a:ext uri="{FF2B5EF4-FFF2-40B4-BE49-F238E27FC236}">
                <a16:creationId xmlns:a16="http://schemas.microsoft.com/office/drawing/2014/main" id="{3888F27C-84BF-E846-D355-CFBD36E6F937}"/>
              </a:ext>
            </a:extLst>
          </p:cNvPr>
          <p:cNvSpPr>
            <a:spLocks noGrp="1"/>
          </p:cNvSpPr>
          <p:nvPr>
            <p:ph type="ftr" sz="quarter" idx="11"/>
          </p:nvPr>
        </p:nvSpPr>
        <p:spPr/>
        <p:txBody>
          <a:bodyPr/>
          <a:lstStyle/>
          <a:p>
            <a:r>
              <a:rPr lang="en-GB" sz="1200" dirty="0">
                <a:effectLst/>
                <a:latin typeface="Poppins" pitchFamily="2" charset="77"/>
              </a:rPr>
              <a:t>Zainab </a:t>
            </a:r>
            <a:r>
              <a:rPr lang="en-GB" sz="1200" dirty="0" err="1">
                <a:effectLst/>
                <a:latin typeface="Poppins" pitchFamily="2" charset="77"/>
              </a:rPr>
              <a:t>Nashitah</a:t>
            </a:r>
            <a:endParaRPr lang="en-US" dirty="0"/>
          </a:p>
        </p:txBody>
      </p:sp>
      <p:sp>
        <p:nvSpPr>
          <p:cNvPr id="5" name="Slide Number Placeholder 4">
            <a:extLst>
              <a:ext uri="{FF2B5EF4-FFF2-40B4-BE49-F238E27FC236}">
                <a16:creationId xmlns:a16="http://schemas.microsoft.com/office/drawing/2014/main" id="{44900EAE-57E6-1C07-136C-81B92ACA256A}"/>
              </a:ext>
            </a:extLst>
          </p:cNvPr>
          <p:cNvSpPr>
            <a:spLocks noGrp="1"/>
          </p:cNvSpPr>
          <p:nvPr>
            <p:ph type="sldNum" sz="quarter" idx="12"/>
          </p:nvPr>
        </p:nvSpPr>
        <p:spPr/>
        <p:txBody>
          <a:bodyPr/>
          <a:lstStyle/>
          <a:p>
            <a:fld id="{C1FF6DA9-008F-8B48-92A6-B652298478BF}" type="slidenum">
              <a:rPr lang="en-US" smtClean="0"/>
              <a:t>25</a:t>
            </a:fld>
            <a:endParaRPr lang="en-US"/>
          </a:p>
        </p:txBody>
      </p:sp>
    </p:spTree>
    <p:extLst>
      <p:ext uri="{BB962C8B-B14F-4D97-AF65-F5344CB8AC3E}">
        <p14:creationId xmlns:p14="http://schemas.microsoft.com/office/powerpoint/2010/main" val="38328874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0" i="0" u="none" strike="noStrike" dirty="0">
                <a:solidFill>
                  <a:srgbClr val="000000"/>
                </a:solidFill>
                <a:effectLst/>
              </a:rPr>
              <a:t>Demand Variability</a:t>
            </a:r>
            <a:endParaRPr dirty="0"/>
          </a:p>
        </p:txBody>
      </p:sp>
      <p:sp>
        <p:nvSpPr>
          <p:cNvPr id="3" name="Content Placeholder 2"/>
          <p:cNvSpPr>
            <a:spLocks noGrp="1"/>
          </p:cNvSpPr>
          <p:nvPr>
            <p:ph idx="1"/>
          </p:nvPr>
        </p:nvSpPr>
        <p:spPr>
          <a:xfrm>
            <a:off x="457200" y="1600201"/>
            <a:ext cx="8229600" cy="2727356"/>
          </a:xfrm>
        </p:spPr>
        <p:txBody>
          <a:bodyPr>
            <a:normAutofit/>
          </a:bodyPr>
          <a:lstStyle/>
          <a:p>
            <a:pPr>
              <a:buFont typeface="Arial" panose="020B0604020202020204" pitchFamily="34" charset="0"/>
              <a:buChar char="•"/>
            </a:pPr>
            <a:r>
              <a:rPr lang="en-GB" sz="2400" dirty="0"/>
              <a:t>Demand does not stay constant</a:t>
            </a:r>
          </a:p>
          <a:p>
            <a:pPr>
              <a:buFont typeface="Arial" panose="020B0604020202020204" pitchFamily="34" charset="0"/>
              <a:buChar char="•"/>
            </a:pPr>
            <a:r>
              <a:rPr lang="en-GB" sz="2400" dirty="0"/>
              <a:t>Can change due to:</a:t>
            </a:r>
          </a:p>
          <a:p>
            <a:pPr lvl="1">
              <a:buFont typeface="Arial" panose="020B0604020202020204" pitchFamily="34" charset="0"/>
              <a:buChar char="•"/>
            </a:pPr>
            <a:r>
              <a:rPr lang="en-GB" sz="2400" dirty="0"/>
              <a:t>Customer </a:t>
            </a:r>
            <a:r>
              <a:rPr lang="en-GB" sz="2400" dirty="0" err="1"/>
              <a:t>behavior</a:t>
            </a:r>
            <a:endParaRPr lang="en-GB" sz="2400" dirty="0"/>
          </a:p>
          <a:p>
            <a:pPr lvl="1">
              <a:buFont typeface="Arial" panose="020B0604020202020204" pitchFamily="34" charset="0"/>
              <a:buChar char="•"/>
            </a:pPr>
            <a:r>
              <a:rPr lang="en-GB" sz="2400" dirty="0"/>
              <a:t>External factors (weather, economy)</a:t>
            </a:r>
          </a:p>
          <a:p>
            <a:r>
              <a:rPr lang="en-GB" sz="2400" dirty="0"/>
              <a:t>High variability increases planning difficulty.</a:t>
            </a:r>
          </a:p>
          <a:p>
            <a:r>
              <a:rPr lang="en-GB" sz="2400" dirty="0"/>
              <a:t>directly affects inventory risk and service performance.</a:t>
            </a:r>
            <a:endParaRPr sz="2400" dirty="0"/>
          </a:p>
        </p:txBody>
      </p:sp>
      <p:sp>
        <p:nvSpPr>
          <p:cNvPr id="4" name="Footer Placeholder 3">
            <a:extLst>
              <a:ext uri="{FF2B5EF4-FFF2-40B4-BE49-F238E27FC236}">
                <a16:creationId xmlns:a16="http://schemas.microsoft.com/office/drawing/2014/main" id="{E0B69296-4ABF-72DB-93E4-302005EB1F9D}"/>
              </a:ext>
            </a:extLst>
          </p:cNvPr>
          <p:cNvSpPr>
            <a:spLocks noGrp="1"/>
          </p:cNvSpPr>
          <p:nvPr>
            <p:ph type="ftr" sz="quarter" idx="11"/>
          </p:nvPr>
        </p:nvSpPr>
        <p:spPr/>
        <p:txBody>
          <a:bodyPr/>
          <a:lstStyle/>
          <a:p>
            <a:r>
              <a:rPr lang="en-GB" sz="1200" dirty="0">
                <a:effectLst/>
                <a:latin typeface="Poppins" pitchFamily="2" charset="77"/>
              </a:rPr>
              <a:t>Zainab </a:t>
            </a:r>
            <a:r>
              <a:rPr lang="en-GB" sz="1200" dirty="0" err="1">
                <a:effectLst/>
                <a:latin typeface="Poppins" pitchFamily="2" charset="77"/>
              </a:rPr>
              <a:t>Nashitah</a:t>
            </a:r>
            <a:endParaRPr lang="en-US" dirty="0"/>
          </a:p>
        </p:txBody>
      </p:sp>
      <p:sp>
        <p:nvSpPr>
          <p:cNvPr id="5" name="Slide Number Placeholder 4">
            <a:extLst>
              <a:ext uri="{FF2B5EF4-FFF2-40B4-BE49-F238E27FC236}">
                <a16:creationId xmlns:a16="http://schemas.microsoft.com/office/drawing/2014/main" id="{95441D50-59B5-4487-80D1-FE64274E6FDE}"/>
              </a:ext>
            </a:extLst>
          </p:cNvPr>
          <p:cNvSpPr>
            <a:spLocks noGrp="1"/>
          </p:cNvSpPr>
          <p:nvPr>
            <p:ph type="sldNum" sz="quarter" idx="12"/>
          </p:nvPr>
        </p:nvSpPr>
        <p:spPr/>
        <p:txBody>
          <a:bodyPr/>
          <a:lstStyle/>
          <a:p>
            <a:fld id="{C1FF6DA9-008F-8B48-92A6-B652298478BF}" type="slidenum">
              <a:rPr lang="en-US" smtClean="0"/>
              <a:t>26</a:t>
            </a:fld>
            <a:endParaRPr lang="en-US"/>
          </a:p>
        </p:txBody>
      </p:sp>
    </p:spTree>
    <p:extLst>
      <p:ext uri="{BB962C8B-B14F-4D97-AF65-F5344CB8AC3E}">
        <p14:creationId xmlns:p14="http://schemas.microsoft.com/office/powerpoint/2010/main" val="13861187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0" i="0" u="none" strike="noStrike" dirty="0">
                <a:solidFill>
                  <a:srgbClr val="000000"/>
                </a:solidFill>
                <a:effectLst/>
              </a:rPr>
              <a:t>Inventory Concepts: Safety Stock</a:t>
            </a:r>
            <a:endParaRPr dirty="0"/>
          </a:p>
        </p:txBody>
      </p:sp>
      <p:sp>
        <p:nvSpPr>
          <p:cNvPr id="3" name="Content Placeholder 2"/>
          <p:cNvSpPr>
            <a:spLocks noGrp="1"/>
          </p:cNvSpPr>
          <p:nvPr>
            <p:ph idx="1"/>
          </p:nvPr>
        </p:nvSpPr>
        <p:spPr>
          <a:xfrm>
            <a:off x="457200" y="1600201"/>
            <a:ext cx="8229600" cy="2727356"/>
          </a:xfrm>
        </p:spPr>
        <p:txBody>
          <a:bodyPr>
            <a:normAutofit/>
          </a:bodyPr>
          <a:lstStyle/>
          <a:p>
            <a:pPr>
              <a:buFont typeface="Arial" panose="020B0604020202020204" pitchFamily="34" charset="0"/>
              <a:buChar char="•"/>
            </a:pPr>
            <a:r>
              <a:rPr lang="en-GB" sz="2400" dirty="0"/>
              <a:t>Extra inventory kept to avoid stockouts</a:t>
            </a:r>
          </a:p>
          <a:p>
            <a:pPr>
              <a:buFont typeface="Arial" panose="020B0604020202020204" pitchFamily="34" charset="0"/>
              <a:buChar char="•"/>
            </a:pPr>
            <a:r>
              <a:rPr lang="en-GB" sz="2400" dirty="0"/>
              <a:t>Used when demand is uncertain</a:t>
            </a:r>
          </a:p>
          <a:p>
            <a:pPr>
              <a:buFont typeface="Arial" panose="020B0604020202020204" pitchFamily="34" charset="0"/>
              <a:buChar char="•"/>
            </a:pPr>
            <a:r>
              <a:rPr lang="en-GB" sz="2400" dirty="0"/>
              <a:t>Helps maintain service level</a:t>
            </a:r>
          </a:p>
          <a:p>
            <a:pPr>
              <a:buFont typeface="Arial" panose="020B0604020202020204" pitchFamily="34" charset="0"/>
              <a:buChar char="•"/>
            </a:pPr>
            <a:r>
              <a:rPr lang="en-GB" sz="2400" dirty="0"/>
              <a:t>Too much → high cost</a:t>
            </a:r>
          </a:p>
          <a:p>
            <a:pPr>
              <a:buFont typeface="Arial" panose="020B0604020202020204" pitchFamily="34" charset="0"/>
              <a:buChar char="•"/>
            </a:pPr>
            <a:r>
              <a:rPr lang="en-GB" sz="2400" dirty="0"/>
              <a:t>Too little → risk of shortage</a:t>
            </a:r>
            <a:endParaRPr sz="2400" dirty="0"/>
          </a:p>
        </p:txBody>
      </p:sp>
      <p:sp>
        <p:nvSpPr>
          <p:cNvPr id="4" name="Footer Placeholder 3">
            <a:extLst>
              <a:ext uri="{FF2B5EF4-FFF2-40B4-BE49-F238E27FC236}">
                <a16:creationId xmlns:a16="http://schemas.microsoft.com/office/drawing/2014/main" id="{303D5D53-23EF-8915-99BA-3A407BC9A6C6}"/>
              </a:ext>
            </a:extLst>
          </p:cNvPr>
          <p:cNvSpPr>
            <a:spLocks noGrp="1"/>
          </p:cNvSpPr>
          <p:nvPr>
            <p:ph type="ftr" sz="quarter" idx="11"/>
          </p:nvPr>
        </p:nvSpPr>
        <p:spPr/>
        <p:txBody>
          <a:bodyPr/>
          <a:lstStyle/>
          <a:p>
            <a:r>
              <a:rPr lang="en-GB" sz="1200" dirty="0">
                <a:effectLst/>
                <a:latin typeface="Poppins" pitchFamily="2" charset="77"/>
              </a:rPr>
              <a:t>Zainab </a:t>
            </a:r>
            <a:r>
              <a:rPr lang="en-GB" sz="1200" dirty="0" err="1">
                <a:effectLst/>
                <a:latin typeface="Poppins" pitchFamily="2" charset="77"/>
              </a:rPr>
              <a:t>Nashitah</a:t>
            </a:r>
            <a:endParaRPr lang="en-US" dirty="0"/>
          </a:p>
        </p:txBody>
      </p:sp>
      <p:sp>
        <p:nvSpPr>
          <p:cNvPr id="5" name="Slide Number Placeholder 4">
            <a:extLst>
              <a:ext uri="{FF2B5EF4-FFF2-40B4-BE49-F238E27FC236}">
                <a16:creationId xmlns:a16="http://schemas.microsoft.com/office/drawing/2014/main" id="{91E9CE95-AFD7-D41F-1B44-CDA4B1FAF12C}"/>
              </a:ext>
            </a:extLst>
          </p:cNvPr>
          <p:cNvSpPr>
            <a:spLocks noGrp="1"/>
          </p:cNvSpPr>
          <p:nvPr>
            <p:ph type="sldNum" sz="quarter" idx="12"/>
          </p:nvPr>
        </p:nvSpPr>
        <p:spPr/>
        <p:txBody>
          <a:bodyPr/>
          <a:lstStyle/>
          <a:p>
            <a:fld id="{C1FF6DA9-008F-8B48-92A6-B652298478BF}" type="slidenum">
              <a:rPr lang="en-US" smtClean="0"/>
              <a:t>27</a:t>
            </a:fld>
            <a:endParaRPr lang="en-US"/>
          </a:p>
        </p:txBody>
      </p:sp>
    </p:spTree>
    <p:extLst>
      <p:ext uri="{BB962C8B-B14F-4D97-AF65-F5344CB8AC3E}">
        <p14:creationId xmlns:p14="http://schemas.microsoft.com/office/powerpoint/2010/main" val="70410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0" i="0" u="none" strike="noStrike" dirty="0">
                <a:solidFill>
                  <a:srgbClr val="000000"/>
                </a:solidFill>
                <a:effectLst/>
              </a:rPr>
              <a:t>Inventory Concepts: Lead Time</a:t>
            </a:r>
            <a:endParaRPr dirty="0"/>
          </a:p>
        </p:txBody>
      </p:sp>
      <p:sp>
        <p:nvSpPr>
          <p:cNvPr id="3" name="Content Placeholder 2"/>
          <p:cNvSpPr>
            <a:spLocks noGrp="1"/>
          </p:cNvSpPr>
          <p:nvPr>
            <p:ph idx="1"/>
          </p:nvPr>
        </p:nvSpPr>
        <p:spPr>
          <a:xfrm>
            <a:off x="457200" y="1600201"/>
            <a:ext cx="8229600" cy="2727356"/>
          </a:xfrm>
        </p:spPr>
        <p:txBody>
          <a:bodyPr>
            <a:normAutofit/>
          </a:bodyPr>
          <a:lstStyle/>
          <a:p>
            <a:pPr>
              <a:buFont typeface="Arial" panose="020B0604020202020204" pitchFamily="34" charset="0"/>
              <a:buChar char="•"/>
            </a:pPr>
            <a:r>
              <a:rPr lang="en-GB" sz="2400" dirty="0"/>
              <a:t>Time between ordering and receiving products</a:t>
            </a:r>
          </a:p>
          <a:p>
            <a:pPr>
              <a:buFont typeface="Arial" panose="020B0604020202020204" pitchFamily="34" charset="0"/>
              <a:buChar char="•"/>
            </a:pPr>
            <a:r>
              <a:rPr lang="en-GB" sz="2400" dirty="0"/>
              <a:t>Includes production and delivery time</a:t>
            </a:r>
          </a:p>
          <a:p>
            <a:pPr>
              <a:buFont typeface="Arial" panose="020B0604020202020204" pitchFamily="34" charset="0"/>
              <a:buChar char="•"/>
            </a:pPr>
            <a:r>
              <a:rPr lang="en-GB" sz="2400" dirty="0"/>
              <a:t>Important for planning replenishment</a:t>
            </a:r>
          </a:p>
          <a:p>
            <a:pPr>
              <a:buFont typeface="Arial" panose="020B0604020202020204" pitchFamily="34" charset="0"/>
              <a:buChar char="•"/>
            </a:pPr>
            <a:r>
              <a:rPr lang="en-GB" sz="2400" dirty="0"/>
              <a:t>Longer lead time = higher uncertainty</a:t>
            </a:r>
            <a:endParaRPr sz="2400" dirty="0"/>
          </a:p>
        </p:txBody>
      </p:sp>
      <p:sp>
        <p:nvSpPr>
          <p:cNvPr id="4" name="Footer Placeholder 3">
            <a:extLst>
              <a:ext uri="{FF2B5EF4-FFF2-40B4-BE49-F238E27FC236}">
                <a16:creationId xmlns:a16="http://schemas.microsoft.com/office/drawing/2014/main" id="{AC933435-3020-C9F2-5795-A2812F8444FE}"/>
              </a:ext>
            </a:extLst>
          </p:cNvPr>
          <p:cNvSpPr>
            <a:spLocks noGrp="1"/>
          </p:cNvSpPr>
          <p:nvPr>
            <p:ph type="ftr" sz="quarter" idx="11"/>
          </p:nvPr>
        </p:nvSpPr>
        <p:spPr/>
        <p:txBody>
          <a:bodyPr/>
          <a:lstStyle/>
          <a:p>
            <a:r>
              <a:rPr lang="en-GB" sz="1200" dirty="0">
                <a:effectLst/>
                <a:latin typeface="Poppins" pitchFamily="2" charset="77"/>
              </a:rPr>
              <a:t>Zainab </a:t>
            </a:r>
            <a:r>
              <a:rPr lang="en-GB" sz="1200" dirty="0" err="1">
                <a:effectLst/>
                <a:latin typeface="Poppins" pitchFamily="2" charset="77"/>
              </a:rPr>
              <a:t>Nashitah</a:t>
            </a:r>
            <a:endParaRPr lang="en-US" dirty="0"/>
          </a:p>
        </p:txBody>
      </p:sp>
      <p:sp>
        <p:nvSpPr>
          <p:cNvPr id="5" name="Slide Number Placeholder 4">
            <a:extLst>
              <a:ext uri="{FF2B5EF4-FFF2-40B4-BE49-F238E27FC236}">
                <a16:creationId xmlns:a16="http://schemas.microsoft.com/office/drawing/2014/main" id="{BAB53ED1-A798-60DD-3B3E-495F1DC2BA8E}"/>
              </a:ext>
            </a:extLst>
          </p:cNvPr>
          <p:cNvSpPr>
            <a:spLocks noGrp="1"/>
          </p:cNvSpPr>
          <p:nvPr>
            <p:ph type="sldNum" sz="quarter" idx="12"/>
          </p:nvPr>
        </p:nvSpPr>
        <p:spPr/>
        <p:txBody>
          <a:bodyPr/>
          <a:lstStyle/>
          <a:p>
            <a:fld id="{C1FF6DA9-008F-8B48-92A6-B652298478BF}" type="slidenum">
              <a:rPr lang="en-US" smtClean="0"/>
              <a:t>28</a:t>
            </a:fld>
            <a:endParaRPr lang="en-US"/>
          </a:p>
        </p:txBody>
      </p:sp>
    </p:spTree>
    <p:extLst>
      <p:ext uri="{BB962C8B-B14F-4D97-AF65-F5344CB8AC3E}">
        <p14:creationId xmlns:p14="http://schemas.microsoft.com/office/powerpoint/2010/main" val="314503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85A74C-A622-9811-3099-A43FEDB08C9E}"/>
              </a:ext>
            </a:extLst>
          </p:cNvPr>
          <p:cNvSpPr txBox="1"/>
          <p:nvPr/>
        </p:nvSpPr>
        <p:spPr>
          <a:xfrm>
            <a:off x="1753496" y="2967335"/>
            <a:ext cx="5637007" cy="923330"/>
          </a:xfrm>
          <a:prstGeom prst="rect">
            <a:avLst/>
          </a:prstGeom>
          <a:noFill/>
        </p:spPr>
        <p:txBody>
          <a:bodyPr wrap="square" rtlCol="0">
            <a:spAutoFit/>
          </a:bodyPr>
          <a:lstStyle/>
          <a:p>
            <a:pPr algn="ctr"/>
            <a:r>
              <a:rPr lang="en-DE" sz="5400" dirty="0"/>
              <a:t>Dataset</a:t>
            </a:r>
          </a:p>
        </p:txBody>
      </p:sp>
      <p:sp>
        <p:nvSpPr>
          <p:cNvPr id="3" name="Footer Placeholder 2">
            <a:extLst>
              <a:ext uri="{FF2B5EF4-FFF2-40B4-BE49-F238E27FC236}">
                <a16:creationId xmlns:a16="http://schemas.microsoft.com/office/drawing/2014/main" id="{ED102D30-44C2-A318-FE70-EFA09F22D39E}"/>
              </a:ext>
            </a:extLst>
          </p:cNvPr>
          <p:cNvSpPr>
            <a:spLocks noGrp="1"/>
          </p:cNvSpPr>
          <p:nvPr>
            <p:ph type="ftr" sz="quarter" idx="11"/>
          </p:nvPr>
        </p:nvSpPr>
        <p:spPr/>
        <p:txBody>
          <a:bodyPr/>
          <a:lstStyle/>
          <a:p>
            <a:r>
              <a:rPr lang="en-DE" dirty="0"/>
              <a:t>May Zin Ko</a:t>
            </a:r>
            <a:endParaRPr lang="en-US" dirty="0"/>
          </a:p>
        </p:txBody>
      </p:sp>
      <p:sp>
        <p:nvSpPr>
          <p:cNvPr id="4" name="Slide Number Placeholder 3">
            <a:extLst>
              <a:ext uri="{FF2B5EF4-FFF2-40B4-BE49-F238E27FC236}">
                <a16:creationId xmlns:a16="http://schemas.microsoft.com/office/drawing/2014/main" id="{99D71FA6-8B77-CB95-2E59-28957AF20DB7}"/>
              </a:ext>
            </a:extLst>
          </p:cNvPr>
          <p:cNvSpPr>
            <a:spLocks noGrp="1"/>
          </p:cNvSpPr>
          <p:nvPr>
            <p:ph type="sldNum" sz="quarter" idx="12"/>
          </p:nvPr>
        </p:nvSpPr>
        <p:spPr/>
        <p:txBody>
          <a:bodyPr/>
          <a:lstStyle/>
          <a:p>
            <a:fld id="{C1FF6DA9-008F-8B48-92A6-B652298478BF}" type="slidenum">
              <a:rPr lang="en-US" smtClean="0"/>
              <a:t>29</a:t>
            </a:fld>
            <a:endParaRPr lang="en-US"/>
          </a:p>
        </p:txBody>
      </p:sp>
    </p:spTree>
    <p:extLst>
      <p:ext uri="{BB962C8B-B14F-4D97-AF65-F5344CB8AC3E}">
        <p14:creationId xmlns:p14="http://schemas.microsoft.com/office/powerpoint/2010/main" val="26427926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Dataset </a:t>
            </a:r>
            <a:r>
              <a:rPr lang="en-US" dirty="0"/>
              <a:t>Overview</a:t>
            </a:r>
            <a:endParaRPr dirty="0"/>
          </a:p>
        </p:txBody>
      </p:sp>
      <p:sp>
        <p:nvSpPr>
          <p:cNvPr id="3" name="Content Placeholder 2"/>
          <p:cNvSpPr>
            <a:spLocks noGrp="1"/>
          </p:cNvSpPr>
          <p:nvPr>
            <p:ph idx="1"/>
          </p:nvPr>
        </p:nvSpPr>
        <p:spPr>
          <a:xfrm>
            <a:off x="457200" y="1600201"/>
            <a:ext cx="8229600" cy="2265630"/>
          </a:xfrm>
        </p:spPr>
        <p:txBody>
          <a:bodyPr>
            <a:normAutofit/>
          </a:bodyPr>
          <a:lstStyle/>
          <a:p>
            <a:pPr algn="l" fontAlgn="base"/>
            <a:r>
              <a:rPr lang="en-GB" sz="2400" b="1" i="0" u="none" strike="noStrike" dirty="0">
                <a:solidFill>
                  <a:srgbClr val="202124"/>
                </a:solidFill>
                <a:effectLst/>
              </a:rPr>
              <a:t>Title: </a:t>
            </a:r>
            <a:r>
              <a:rPr lang="en-GB" sz="2400" i="0" u="none" strike="noStrike" dirty="0">
                <a:solidFill>
                  <a:srgbClr val="202124"/>
                </a:solidFill>
                <a:effectLst/>
              </a:rPr>
              <a:t>Forecasts for Product Demand</a:t>
            </a:r>
          </a:p>
          <a:p>
            <a:r>
              <a:rPr lang="en-GB" sz="2400" b="1" dirty="0"/>
              <a:t>Source: </a:t>
            </a:r>
            <a:r>
              <a:rPr lang="en-GB" sz="2400" dirty="0">
                <a:hlinkClick r:id="rId3"/>
              </a:rPr>
              <a:t>https://www.kaggle.com/datasets/felixzhao/productdemandforecasting</a:t>
            </a:r>
            <a:endParaRPr lang="en-GB" sz="2400" dirty="0"/>
          </a:p>
          <a:p>
            <a:r>
              <a:rPr lang="en-GB" sz="2400" b="1" dirty="0"/>
              <a:t>Content: </a:t>
            </a:r>
            <a:r>
              <a:rPr lang="en-GB" sz="2400" i="0" u="none" strike="noStrike" dirty="0">
                <a:solidFill>
                  <a:srgbClr val="3C4043"/>
                </a:solidFill>
                <a:effectLst/>
              </a:rPr>
              <a:t>Historical Product </a:t>
            </a:r>
            <a:r>
              <a:rPr lang="en-GB" sz="2400" i="0" u="none" strike="noStrike" dirty="0" err="1">
                <a:solidFill>
                  <a:srgbClr val="3C4043"/>
                </a:solidFill>
                <a:effectLst/>
              </a:rPr>
              <a:t>Demand.csv</a:t>
            </a:r>
            <a:endParaRPr sz="2400" dirty="0"/>
          </a:p>
        </p:txBody>
      </p:sp>
      <p:sp>
        <p:nvSpPr>
          <p:cNvPr id="4" name="Footer Placeholder 3">
            <a:extLst>
              <a:ext uri="{FF2B5EF4-FFF2-40B4-BE49-F238E27FC236}">
                <a16:creationId xmlns:a16="http://schemas.microsoft.com/office/drawing/2014/main" id="{D8FC11C2-810F-05D5-C489-78EEF6826334}"/>
              </a:ext>
            </a:extLst>
          </p:cNvPr>
          <p:cNvSpPr>
            <a:spLocks noGrp="1"/>
          </p:cNvSpPr>
          <p:nvPr>
            <p:ph type="ftr" sz="quarter" idx="11"/>
          </p:nvPr>
        </p:nvSpPr>
        <p:spPr/>
        <p:txBody>
          <a:bodyPr/>
          <a:lstStyle/>
          <a:p>
            <a:r>
              <a:rPr lang="en-DE" dirty="0"/>
              <a:t>May Zin Ko</a:t>
            </a:r>
            <a:endParaRPr lang="en-US" dirty="0"/>
          </a:p>
        </p:txBody>
      </p:sp>
      <p:sp>
        <p:nvSpPr>
          <p:cNvPr id="5" name="Slide Number Placeholder 4">
            <a:extLst>
              <a:ext uri="{FF2B5EF4-FFF2-40B4-BE49-F238E27FC236}">
                <a16:creationId xmlns:a16="http://schemas.microsoft.com/office/drawing/2014/main" id="{2FD0D455-5A3C-5994-7066-EFBFF5DC170E}"/>
              </a:ext>
            </a:extLst>
          </p:cNvPr>
          <p:cNvSpPr>
            <a:spLocks noGrp="1"/>
          </p:cNvSpPr>
          <p:nvPr>
            <p:ph type="sldNum" sz="quarter" idx="12"/>
          </p:nvPr>
        </p:nvSpPr>
        <p:spPr/>
        <p:txBody>
          <a:bodyPr/>
          <a:lstStyle/>
          <a:p>
            <a:fld id="{C1FF6DA9-008F-8B48-92A6-B652298478BF}" type="slidenum">
              <a:rPr lang="en-US" smtClean="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Dataset </a:t>
            </a:r>
            <a:r>
              <a:rPr lang="en-US" dirty="0"/>
              <a:t>Description</a:t>
            </a:r>
            <a:endParaRPr dirty="0"/>
          </a:p>
        </p:txBody>
      </p:sp>
      <p:sp>
        <p:nvSpPr>
          <p:cNvPr id="3" name="Content Placeholder 2"/>
          <p:cNvSpPr>
            <a:spLocks noGrp="1"/>
          </p:cNvSpPr>
          <p:nvPr>
            <p:ph idx="1"/>
          </p:nvPr>
        </p:nvSpPr>
        <p:spPr>
          <a:xfrm>
            <a:off x="457200" y="1600201"/>
            <a:ext cx="8229600" cy="3477408"/>
          </a:xfrm>
        </p:spPr>
        <p:txBody>
          <a:bodyPr>
            <a:noAutofit/>
          </a:bodyPr>
          <a:lstStyle/>
          <a:p>
            <a:pPr algn="l" fontAlgn="base"/>
            <a:r>
              <a:rPr lang="en-GB" sz="2400" dirty="0"/>
              <a:t>Historical product demand from a global manufacturing company</a:t>
            </a:r>
          </a:p>
          <a:p>
            <a:pPr algn="l" fontAlgn="base"/>
            <a:r>
              <a:rPr lang="en-GB" sz="2400" dirty="0"/>
              <a:t>Thousands of products across multiple product categories</a:t>
            </a:r>
          </a:p>
          <a:p>
            <a:pPr algn="l" fontAlgn="base"/>
            <a:r>
              <a:rPr lang="en-GB" sz="2400" dirty="0"/>
              <a:t>Four central warehouses responsible for regional distribution</a:t>
            </a:r>
          </a:p>
          <a:p>
            <a:pPr algn="l" fontAlgn="base"/>
            <a:r>
              <a:rPr lang="en-GB" sz="2400" dirty="0"/>
              <a:t>Products are shipped globally with long lead times (over one month)</a:t>
            </a:r>
          </a:p>
          <a:p>
            <a:pPr algn="l" fontAlgn="base"/>
            <a:r>
              <a:rPr lang="en-GB" sz="2400" dirty="0"/>
              <a:t>Accurate demand forecasting helps improve planning and reduce costs</a:t>
            </a:r>
            <a:endParaRPr sz="2400" dirty="0"/>
          </a:p>
        </p:txBody>
      </p:sp>
      <p:sp>
        <p:nvSpPr>
          <p:cNvPr id="4" name="Footer Placeholder 3">
            <a:extLst>
              <a:ext uri="{FF2B5EF4-FFF2-40B4-BE49-F238E27FC236}">
                <a16:creationId xmlns:a16="http://schemas.microsoft.com/office/drawing/2014/main" id="{19469E08-258B-D4A3-0382-48F7E2192706}"/>
              </a:ext>
            </a:extLst>
          </p:cNvPr>
          <p:cNvSpPr>
            <a:spLocks noGrp="1"/>
          </p:cNvSpPr>
          <p:nvPr>
            <p:ph type="ftr" sz="quarter" idx="11"/>
          </p:nvPr>
        </p:nvSpPr>
        <p:spPr/>
        <p:txBody>
          <a:bodyPr/>
          <a:lstStyle/>
          <a:p>
            <a:r>
              <a:rPr lang="en-DE" dirty="0"/>
              <a:t>May Zin Ko</a:t>
            </a:r>
            <a:endParaRPr lang="en-US" dirty="0"/>
          </a:p>
        </p:txBody>
      </p:sp>
      <p:sp>
        <p:nvSpPr>
          <p:cNvPr id="5" name="Slide Number Placeholder 4">
            <a:extLst>
              <a:ext uri="{FF2B5EF4-FFF2-40B4-BE49-F238E27FC236}">
                <a16:creationId xmlns:a16="http://schemas.microsoft.com/office/drawing/2014/main" id="{F31DFD39-BCD5-D278-4BB3-01AEACB979A2}"/>
              </a:ext>
            </a:extLst>
          </p:cNvPr>
          <p:cNvSpPr>
            <a:spLocks noGrp="1"/>
          </p:cNvSpPr>
          <p:nvPr>
            <p:ph type="sldNum" sz="quarter" idx="12"/>
          </p:nvPr>
        </p:nvSpPr>
        <p:spPr/>
        <p:txBody>
          <a:bodyPr/>
          <a:lstStyle/>
          <a:p>
            <a:fld id="{C1FF6DA9-008F-8B48-92A6-B652298478BF}" type="slidenum">
              <a:rPr lang="en-US" smtClean="0"/>
              <a:t>31</a:t>
            </a:fld>
            <a:endParaRPr lang="en-US"/>
          </a:p>
        </p:txBody>
      </p:sp>
    </p:spTree>
    <p:extLst>
      <p:ext uri="{BB962C8B-B14F-4D97-AF65-F5344CB8AC3E}">
        <p14:creationId xmlns:p14="http://schemas.microsoft.com/office/powerpoint/2010/main" val="33498515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F04E0-805F-7D5A-C489-A8DF6ED55963}"/>
              </a:ext>
            </a:extLst>
          </p:cNvPr>
          <p:cNvSpPr>
            <a:spLocks noGrp="1"/>
          </p:cNvSpPr>
          <p:nvPr>
            <p:ph type="title"/>
          </p:nvPr>
        </p:nvSpPr>
        <p:spPr/>
        <p:txBody>
          <a:bodyPr/>
          <a:lstStyle/>
          <a:p>
            <a:r>
              <a:rPr lang="en-DE" dirty="0"/>
              <a:t>Data Understanding</a:t>
            </a:r>
          </a:p>
        </p:txBody>
      </p:sp>
      <p:sp>
        <p:nvSpPr>
          <p:cNvPr id="3" name="Text Placeholder 2">
            <a:extLst>
              <a:ext uri="{FF2B5EF4-FFF2-40B4-BE49-F238E27FC236}">
                <a16:creationId xmlns:a16="http://schemas.microsoft.com/office/drawing/2014/main" id="{6D9A7C7A-5BB8-7749-90B9-FFE2DCF8DEB4}"/>
              </a:ext>
            </a:extLst>
          </p:cNvPr>
          <p:cNvSpPr>
            <a:spLocks noGrp="1"/>
          </p:cNvSpPr>
          <p:nvPr>
            <p:ph type="body" idx="1"/>
          </p:nvPr>
        </p:nvSpPr>
        <p:spPr/>
        <p:txBody>
          <a:bodyPr/>
          <a:lstStyle/>
          <a:p>
            <a:r>
              <a:rPr lang="en-DE" dirty="0"/>
              <a:t>Features</a:t>
            </a:r>
          </a:p>
        </p:txBody>
      </p:sp>
      <p:sp>
        <p:nvSpPr>
          <p:cNvPr id="4" name="Content Placeholder 3">
            <a:extLst>
              <a:ext uri="{FF2B5EF4-FFF2-40B4-BE49-F238E27FC236}">
                <a16:creationId xmlns:a16="http://schemas.microsoft.com/office/drawing/2014/main" id="{8DBB2F6C-1704-CC7B-8985-41F575127BBA}"/>
              </a:ext>
            </a:extLst>
          </p:cNvPr>
          <p:cNvSpPr>
            <a:spLocks noGrp="1"/>
          </p:cNvSpPr>
          <p:nvPr>
            <p:ph sz="half" idx="2"/>
          </p:nvPr>
        </p:nvSpPr>
        <p:spPr/>
        <p:txBody>
          <a:bodyPr/>
          <a:lstStyle/>
          <a:p>
            <a:r>
              <a:rPr lang="en-DE" dirty="0"/>
              <a:t>Product_Code</a:t>
            </a:r>
          </a:p>
          <a:p>
            <a:r>
              <a:rPr lang="en-DE" dirty="0"/>
              <a:t>Warehouse (4 warehouses)</a:t>
            </a:r>
          </a:p>
          <a:p>
            <a:r>
              <a:rPr lang="en-DE" dirty="0"/>
              <a:t>Product_Category</a:t>
            </a:r>
          </a:p>
          <a:p>
            <a:r>
              <a:rPr lang="en-DE" dirty="0"/>
              <a:t>Date</a:t>
            </a:r>
          </a:p>
          <a:p>
            <a:r>
              <a:rPr lang="en-DE" dirty="0"/>
              <a:t>Order_Demand</a:t>
            </a:r>
          </a:p>
        </p:txBody>
      </p:sp>
      <p:sp>
        <p:nvSpPr>
          <p:cNvPr id="5" name="Text Placeholder 4">
            <a:extLst>
              <a:ext uri="{FF2B5EF4-FFF2-40B4-BE49-F238E27FC236}">
                <a16:creationId xmlns:a16="http://schemas.microsoft.com/office/drawing/2014/main" id="{946D7260-C499-139F-D016-BAC68B41C123}"/>
              </a:ext>
            </a:extLst>
          </p:cNvPr>
          <p:cNvSpPr>
            <a:spLocks noGrp="1"/>
          </p:cNvSpPr>
          <p:nvPr>
            <p:ph type="body" sz="quarter" idx="3"/>
          </p:nvPr>
        </p:nvSpPr>
        <p:spPr/>
        <p:txBody>
          <a:bodyPr/>
          <a:lstStyle/>
          <a:p>
            <a:r>
              <a:rPr lang="en-DE" dirty="0"/>
              <a:t>Characteristics</a:t>
            </a:r>
          </a:p>
        </p:txBody>
      </p:sp>
      <p:sp>
        <p:nvSpPr>
          <p:cNvPr id="6" name="Content Placeholder 5">
            <a:extLst>
              <a:ext uri="{FF2B5EF4-FFF2-40B4-BE49-F238E27FC236}">
                <a16:creationId xmlns:a16="http://schemas.microsoft.com/office/drawing/2014/main" id="{A3D17E6B-BEC7-DF19-BB82-3F2E6BCC30C6}"/>
              </a:ext>
            </a:extLst>
          </p:cNvPr>
          <p:cNvSpPr>
            <a:spLocks noGrp="1"/>
          </p:cNvSpPr>
          <p:nvPr>
            <p:ph sz="quarter" idx="4"/>
          </p:nvPr>
        </p:nvSpPr>
        <p:spPr/>
        <p:txBody>
          <a:bodyPr/>
          <a:lstStyle/>
          <a:p>
            <a:r>
              <a:rPr lang="en-DE" dirty="0"/>
              <a:t>Demand values show high variability</a:t>
            </a:r>
          </a:p>
          <a:p>
            <a:r>
              <a:rPr lang="en-GB" dirty="0"/>
              <a:t>Seasonal patterns exist </a:t>
            </a:r>
          </a:p>
          <a:p>
            <a:r>
              <a:rPr lang="en-GB" dirty="0"/>
              <a:t>Demand is highly concentrated (top 20% of products = 80% of demand )</a:t>
            </a:r>
          </a:p>
          <a:p>
            <a:r>
              <a:rPr lang="en-DE" dirty="0"/>
              <a:t>Demand differs across warehouses</a:t>
            </a:r>
          </a:p>
          <a:p>
            <a:pPr marL="457200" lvl="1" indent="0">
              <a:buNone/>
            </a:pPr>
            <a:endParaRPr lang="en-DE" dirty="0"/>
          </a:p>
        </p:txBody>
      </p:sp>
      <p:sp>
        <p:nvSpPr>
          <p:cNvPr id="7" name="Footer Placeholder 6">
            <a:extLst>
              <a:ext uri="{FF2B5EF4-FFF2-40B4-BE49-F238E27FC236}">
                <a16:creationId xmlns:a16="http://schemas.microsoft.com/office/drawing/2014/main" id="{80840938-4A7E-C250-CE32-562E2A585036}"/>
              </a:ext>
            </a:extLst>
          </p:cNvPr>
          <p:cNvSpPr>
            <a:spLocks noGrp="1"/>
          </p:cNvSpPr>
          <p:nvPr>
            <p:ph type="ftr" sz="quarter" idx="11"/>
          </p:nvPr>
        </p:nvSpPr>
        <p:spPr/>
        <p:txBody>
          <a:bodyPr/>
          <a:lstStyle/>
          <a:p>
            <a:r>
              <a:rPr lang="en-US" dirty="0"/>
              <a:t>May Zin Ko</a:t>
            </a:r>
          </a:p>
        </p:txBody>
      </p:sp>
      <p:sp>
        <p:nvSpPr>
          <p:cNvPr id="8" name="Slide Number Placeholder 7">
            <a:extLst>
              <a:ext uri="{FF2B5EF4-FFF2-40B4-BE49-F238E27FC236}">
                <a16:creationId xmlns:a16="http://schemas.microsoft.com/office/drawing/2014/main" id="{98B4A26C-CA33-7B0F-0BE2-45D2D998C43E}"/>
              </a:ext>
            </a:extLst>
          </p:cNvPr>
          <p:cNvSpPr>
            <a:spLocks noGrp="1"/>
          </p:cNvSpPr>
          <p:nvPr>
            <p:ph type="sldNum" sz="quarter" idx="12"/>
          </p:nvPr>
        </p:nvSpPr>
        <p:spPr/>
        <p:txBody>
          <a:bodyPr/>
          <a:lstStyle/>
          <a:p>
            <a:fld id="{C1FF6DA9-008F-8B48-92A6-B652298478BF}" type="slidenum">
              <a:rPr lang="en-US" smtClean="0"/>
              <a:t>32</a:t>
            </a:fld>
            <a:endParaRPr lang="en-US"/>
          </a:p>
        </p:txBody>
      </p:sp>
    </p:spTree>
    <p:extLst>
      <p:ext uri="{BB962C8B-B14F-4D97-AF65-F5344CB8AC3E}">
        <p14:creationId xmlns:p14="http://schemas.microsoft.com/office/powerpoint/2010/main" val="30289114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0" i="0" u="none" strike="noStrike" dirty="0">
                <a:solidFill>
                  <a:srgbClr val="000000"/>
                </a:solidFill>
                <a:effectLst/>
              </a:rPr>
              <a:t>Data Quality &amp; Structure</a:t>
            </a:r>
            <a:endParaRPr dirty="0"/>
          </a:p>
        </p:txBody>
      </p:sp>
      <p:sp>
        <p:nvSpPr>
          <p:cNvPr id="3" name="Content Placeholder 2"/>
          <p:cNvSpPr>
            <a:spLocks noGrp="1"/>
          </p:cNvSpPr>
          <p:nvPr>
            <p:ph idx="1"/>
          </p:nvPr>
        </p:nvSpPr>
        <p:spPr>
          <a:xfrm>
            <a:off x="457200" y="1600201"/>
            <a:ext cx="8229600" cy="3143816"/>
          </a:xfrm>
        </p:spPr>
        <p:txBody>
          <a:bodyPr>
            <a:normAutofit/>
          </a:bodyPr>
          <a:lstStyle/>
          <a:p>
            <a:r>
              <a:rPr lang="en-GB" sz="2400" dirty="0"/>
              <a:t>Presence of missing values in some records</a:t>
            </a:r>
          </a:p>
          <a:p>
            <a:r>
              <a:rPr lang="en-GB" sz="2400" dirty="0"/>
              <a:t>Inconsistent formatting in demand values (e.g., spaces)</a:t>
            </a:r>
          </a:p>
          <a:p>
            <a:r>
              <a:rPr lang="en-GB" sz="2400" dirty="0"/>
              <a:t>Requires data cleaning and pre-processing</a:t>
            </a:r>
          </a:p>
        </p:txBody>
      </p:sp>
      <p:sp>
        <p:nvSpPr>
          <p:cNvPr id="4" name="Footer Placeholder 3">
            <a:extLst>
              <a:ext uri="{FF2B5EF4-FFF2-40B4-BE49-F238E27FC236}">
                <a16:creationId xmlns:a16="http://schemas.microsoft.com/office/drawing/2014/main" id="{9DC09364-AB87-8169-543C-193CC79E7F25}"/>
              </a:ext>
            </a:extLst>
          </p:cNvPr>
          <p:cNvSpPr>
            <a:spLocks noGrp="1"/>
          </p:cNvSpPr>
          <p:nvPr>
            <p:ph type="ftr" sz="quarter" idx="11"/>
          </p:nvPr>
        </p:nvSpPr>
        <p:spPr/>
        <p:txBody>
          <a:bodyPr/>
          <a:lstStyle/>
          <a:p>
            <a:r>
              <a:rPr lang="en-DE" dirty="0"/>
              <a:t>May Zin Ko</a:t>
            </a:r>
            <a:endParaRPr lang="en-US" dirty="0"/>
          </a:p>
        </p:txBody>
      </p:sp>
      <p:sp>
        <p:nvSpPr>
          <p:cNvPr id="5" name="Slide Number Placeholder 4">
            <a:extLst>
              <a:ext uri="{FF2B5EF4-FFF2-40B4-BE49-F238E27FC236}">
                <a16:creationId xmlns:a16="http://schemas.microsoft.com/office/drawing/2014/main" id="{74A6BE53-6285-149A-4E3B-103D922FD34A}"/>
              </a:ext>
            </a:extLst>
          </p:cNvPr>
          <p:cNvSpPr>
            <a:spLocks noGrp="1"/>
          </p:cNvSpPr>
          <p:nvPr>
            <p:ph type="sldNum" sz="quarter" idx="12"/>
          </p:nvPr>
        </p:nvSpPr>
        <p:spPr/>
        <p:txBody>
          <a:bodyPr/>
          <a:lstStyle/>
          <a:p>
            <a:fld id="{C1FF6DA9-008F-8B48-92A6-B652298478BF}" type="slidenum">
              <a:rPr lang="en-US" smtClean="0"/>
              <a:t>33</a:t>
            </a:fld>
            <a:endParaRPr lang="en-US"/>
          </a:p>
        </p:txBody>
      </p:sp>
      <p:pic>
        <p:nvPicPr>
          <p:cNvPr id="7" name="Picture 6">
            <a:extLst>
              <a:ext uri="{FF2B5EF4-FFF2-40B4-BE49-F238E27FC236}">
                <a16:creationId xmlns:a16="http://schemas.microsoft.com/office/drawing/2014/main" id="{06A0FF7D-5690-FB90-3E10-B39656471A93}"/>
              </a:ext>
            </a:extLst>
          </p:cNvPr>
          <p:cNvPicPr>
            <a:picLocks noChangeAspect="1"/>
          </p:cNvPicPr>
          <p:nvPr/>
        </p:nvPicPr>
        <p:blipFill>
          <a:blip r:embed="rId3"/>
          <a:stretch>
            <a:fillRect/>
          </a:stretch>
        </p:blipFill>
        <p:spPr>
          <a:xfrm>
            <a:off x="295686" y="3298130"/>
            <a:ext cx="8391114" cy="1856800"/>
          </a:xfrm>
          <a:prstGeom prst="rect">
            <a:avLst/>
          </a:prstGeom>
        </p:spPr>
      </p:pic>
    </p:spTree>
    <p:extLst>
      <p:ext uri="{BB962C8B-B14F-4D97-AF65-F5344CB8AC3E}">
        <p14:creationId xmlns:p14="http://schemas.microsoft.com/office/powerpoint/2010/main" val="8483331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Data Preparation</a:t>
            </a:r>
            <a:r>
              <a:rPr lang="en-US" dirty="0"/>
              <a:t>: Cleaning</a:t>
            </a:r>
            <a:endParaRPr dirty="0"/>
          </a:p>
        </p:txBody>
      </p:sp>
      <p:sp>
        <p:nvSpPr>
          <p:cNvPr id="3" name="Content Placeholder 2"/>
          <p:cNvSpPr>
            <a:spLocks noGrp="1"/>
          </p:cNvSpPr>
          <p:nvPr>
            <p:ph idx="1"/>
          </p:nvPr>
        </p:nvSpPr>
        <p:spPr>
          <a:xfrm>
            <a:off x="457200" y="1600201"/>
            <a:ext cx="8229600" cy="1371600"/>
          </a:xfrm>
        </p:spPr>
        <p:txBody>
          <a:bodyPr>
            <a:normAutofit/>
          </a:bodyPr>
          <a:lstStyle/>
          <a:p>
            <a:r>
              <a:rPr lang="en-GB" sz="1600" dirty="0"/>
              <a:t>Removed 11,239 rows with missing Date values</a:t>
            </a:r>
          </a:p>
          <a:p>
            <a:r>
              <a:rPr lang="en-GB" sz="1600" dirty="0"/>
              <a:t>Removed 5,899 parentheses values e.g. (100)  order cancellations</a:t>
            </a:r>
          </a:p>
          <a:p>
            <a:r>
              <a:rPr lang="en-GB" sz="1600" dirty="0"/>
              <a:t>Converted Date to datetime, </a:t>
            </a:r>
            <a:r>
              <a:rPr lang="en-GB" sz="1600" dirty="0" err="1"/>
              <a:t>Order_Demand</a:t>
            </a:r>
            <a:r>
              <a:rPr lang="en-GB" sz="1600" dirty="0"/>
              <a:t> to numeric (integer)</a:t>
            </a:r>
          </a:p>
          <a:p>
            <a:r>
              <a:rPr lang="en-GB" sz="1600" dirty="0"/>
              <a:t>Removed duplicates appearing 5 or more times - likely system errors</a:t>
            </a:r>
            <a:endParaRPr sz="1600" dirty="0"/>
          </a:p>
        </p:txBody>
      </p:sp>
      <p:sp>
        <p:nvSpPr>
          <p:cNvPr id="4" name="Footer Placeholder 3">
            <a:extLst>
              <a:ext uri="{FF2B5EF4-FFF2-40B4-BE49-F238E27FC236}">
                <a16:creationId xmlns:a16="http://schemas.microsoft.com/office/drawing/2014/main" id="{5A12ADE1-19B3-90EA-B3DC-A324662DE2F5}"/>
              </a:ext>
            </a:extLst>
          </p:cNvPr>
          <p:cNvSpPr>
            <a:spLocks noGrp="1"/>
          </p:cNvSpPr>
          <p:nvPr>
            <p:ph type="ftr" sz="quarter" idx="11"/>
          </p:nvPr>
        </p:nvSpPr>
        <p:spPr/>
        <p:txBody>
          <a:bodyPr/>
          <a:lstStyle/>
          <a:p>
            <a:r>
              <a:rPr lang="en-DE" dirty="0"/>
              <a:t>May Zin Ko</a:t>
            </a:r>
            <a:endParaRPr lang="en-US" dirty="0"/>
          </a:p>
        </p:txBody>
      </p:sp>
      <p:sp>
        <p:nvSpPr>
          <p:cNvPr id="5" name="Slide Number Placeholder 4">
            <a:extLst>
              <a:ext uri="{FF2B5EF4-FFF2-40B4-BE49-F238E27FC236}">
                <a16:creationId xmlns:a16="http://schemas.microsoft.com/office/drawing/2014/main" id="{AA71C747-ED77-7556-CBC7-99C77634B706}"/>
              </a:ext>
            </a:extLst>
          </p:cNvPr>
          <p:cNvSpPr>
            <a:spLocks noGrp="1"/>
          </p:cNvSpPr>
          <p:nvPr>
            <p:ph type="sldNum" sz="quarter" idx="12"/>
          </p:nvPr>
        </p:nvSpPr>
        <p:spPr/>
        <p:txBody>
          <a:bodyPr/>
          <a:lstStyle/>
          <a:p>
            <a:fld id="{C1FF6DA9-008F-8B48-92A6-B652298478BF}" type="slidenum">
              <a:rPr lang="en-US" smtClean="0"/>
              <a:t>34</a:t>
            </a:fld>
            <a:endParaRPr lang="en-US"/>
          </a:p>
        </p:txBody>
      </p:sp>
      <p:pic>
        <p:nvPicPr>
          <p:cNvPr id="6" name="Picture 5">
            <a:extLst>
              <a:ext uri="{FF2B5EF4-FFF2-40B4-BE49-F238E27FC236}">
                <a16:creationId xmlns:a16="http://schemas.microsoft.com/office/drawing/2014/main" id="{38128EC0-F5EB-BDE9-4305-6B93AA1BC085}"/>
              </a:ext>
            </a:extLst>
          </p:cNvPr>
          <p:cNvPicPr>
            <a:picLocks noChangeAspect="1"/>
          </p:cNvPicPr>
          <p:nvPr/>
        </p:nvPicPr>
        <p:blipFill>
          <a:blip r:embed="rId3"/>
          <a:stretch>
            <a:fillRect/>
          </a:stretch>
        </p:blipFill>
        <p:spPr>
          <a:xfrm>
            <a:off x="2308860" y="2827338"/>
            <a:ext cx="6835140" cy="3529012"/>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Descriptive Analysis</a:t>
            </a:r>
          </a:p>
        </p:txBody>
      </p:sp>
      <p:sp>
        <p:nvSpPr>
          <p:cNvPr id="3" name="Content Placeholder 2"/>
          <p:cNvSpPr>
            <a:spLocks noGrp="1"/>
          </p:cNvSpPr>
          <p:nvPr>
            <p:ph idx="1"/>
          </p:nvPr>
        </p:nvSpPr>
        <p:spPr/>
        <p:txBody>
          <a:bodyPr>
            <a:normAutofit/>
          </a:bodyPr>
          <a:lstStyle/>
          <a:p>
            <a:r>
              <a:rPr lang="en-US" dirty="0"/>
              <a:t>Overall Demand Trend</a:t>
            </a:r>
          </a:p>
          <a:p>
            <a:r>
              <a:rPr lang="en-US" dirty="0"/>
              <a:t>Demand by Warehouse</a:t>
            </a:r>
            <a:endParaRPr dirty="0"/>
          </a:p>
          <a:p>
            <a:r>
              <a:rPr lang="en-US" dirty="0"/>
              <a:t>Demand by Product Category</a:t>
            </a:r>
            <a:endParaRPr dirty="0"/>
          </a:p>
          <a:p>
            <a:r>
              <a:rPr lang="en-GB" dirty="0"/>
              <a:t>Stationarity Test (ADF)</a:t>
            </a:r>
            <a:endParaRPr dirty="0"/>
          </a:p>
        </p:txBody>
      </p:sp>
      <p:sp>
        <p:nvSpPr>
          <p:cNvPr id="4" name="Footer Placeholder 3">
            <a:extLst>
              <a:ext uri="{FF2B5EF4-FFF2-40B4-BE49-F238E27FC236}">
                <a16:creationId xmlns:a16="http://schemas.microsoft.com/office/drawing/2014/main" id="{CD0D9D5D-560E-5DE2-6E0A-3F4F99E733DD}"/>
              </a:ext>
            </a:extLst>
          </p:cNvPr>
          <p:cNvSpPr>
            <a:spLocks noGrp="1"/>
          </p:cNvSpPr>
          <p:nvPr>
            <p:ph type="ftr" sz="quarter" idx="11"/>
          </p:nvPr>
        </p:nvSpPr>
        <p:spPr/>
        <p:txBody>
          <a:bodyPr/>
          <a:lstStyle/>
          <a:p>
            <a:r>
              <a:rPr lang="en-DE" dirty="0"/>
              <a:t>May Zin Ko</a:t>
            </a:r>
            <a:endParaRPr lang="en-US" dirty="0"/>
          </a:p>
        </p:txBody>
      </p:sp>
      <p:sp>
        <p:nvSpPr>
          <p:cNvPr id="5" name="Slide Number Placeholder 4">
            <a:extLst>
              <a:ext uri="{FF2B5EF4-FFF2-40B4-BE49-F238E27FC236}">
                <a16:creationId xmlns:a16="http://schemas.microsoft.com/office/drawing/2014/main" id="{68B25F62-DB59-6607-408B-59C5B10EACD9}"/>
              </a:ext>
            </a:extLst>
          </p:cNvPr>
          <p:cNvSpPr>
            <a:spLocks noGrp="1"/>
          </p:cNvSpPr>
          <p:nvPr>
            <p:ph type="sldNum" sz="quarter" idx="12"/>
          </p:nvPr>
        </p:nvSpPr>
        <p:spPr/>
        <p:txBody>
          <a:bodyPr/>
          <a:lstStyle/>
          <a:p>
            <a:fld id="{C1FF6DA9-008F-8B48-92A6-B652298478BF}" type="slidenum">
              <a:rPr lang="en-US" smtClean="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Analysis: </a:t>
            </a:r>
            <a:r>
              <a:rPr lang="en-US" dirty="0"/>
              <a:t>Overall Demand Trend</a:t>
            </a:r>
          </a:p>
        </p:txBody>
      </p:sp>
      <p:sp>
        <p:nvSpPr>
          <p:cNvPr id="3" name="Content Placeholder 2"/>
          <p:cNvSpPr>
            <a:spLocks noGrp="1"/>
          </p:cNvSpPr>
          <p:nvPr>
            <p:ph idx="1"/>
          </p:nvPr>
        </p:nvSpPr>
        <p:spPr/>
        <p:txBody>
          <a:bodyPr>
            <a:normAutofit/>
          </a:bodyPr>
          <a:lstStyle/>
          <a:p>
            <a:r>
              <a:rPr lang="en-GB" sz="2400" dirty="0" err="1"/>
              <a:t>Whse_J</a:t>
            </a:r>
            <a:r>
              <a:rPr lang="en-GB" sz="2400" dirty="0"/>
              <a:t> dominates - accounting for ~73% of all orders</a:t>
            </a:r>
          </a:p>
          <a:p>
            <a:r>
              <a:rPr lang="en-GB" sz="2400" dirty="0" err="1"/>
              <a:t>Whse_J</a:t>
            </a:r>
            <a:r>
              <a:rPr lang="en-GB" sz="2400" dirty="0"/>
              <a:t> shows upward trend, </a:t>
            </a:r>
            <a:r>
              <a:rPr lang="en-GB" sz="2400" dirty="0" err="1"/>
              <a:t>Whse_S</a:t>
            </a:r>
            <a:r>
              <a:rPr lang="en-GB" sz="2400" dirty="0"/>
              <a:t> shows downward trend</a:t>
            </a:r>
          </a:p>
          <a:p>
            <a:r>
              <a:rPr lang="en-GB" sz="2400" dirty="0" err="1"/>
              <a:t>Whse_C</a:t>
            </a:r>
            <a:r>
              <a:rPr lang="en-GB" sz="2400" dirty="0"/>
              <a:t> and </a:t>
            </a:r>
            <a:r>
              <a:rPr lang="en-GB" sz="2400" dirty="0" err="1"/>
              <a:t>Whse_A</a:t>
            </a:r>
            <a:r>
              <a:rPr lang="en-GB" sz="2400" dirty="0"/>
              <a:t> remain relatively stable throughout</a:t>
            </a:r>
            <a:endParaRPr sz="2400" dirty="0"/>
          </a:p>
        </p:txBody>
      </p:sp>
      <p:sp>
        <p:nvSpPr>
          <p:cNvPr id="4" name="Footer Placeholder 3">
            <a:extLst>
              <a:ext uri="{FF2B5EF4-FFF2-40B4-BE49-F238E27FC236}">
                <a16:creationId xmlns:a16="http://schemas.microsoft.com/office/drawing/2014/main" id="{334BC9DE-2971-8605-462E-266EEA7B2EC4}"/>
              </a:ext>
            </a:extLst>
          </p:cNvPr>
          <p:cNvSpPr>
            <a:spLocks noGrp="1"/>
          </p:cNvSpPr>
          <p:nvPr>
            <p:ph type="ftr" sz="quarter" idx="11"/>
          </p:nvPr>
        </p:nvSpPr>
        <p:spPr/>
        <p:txBody>
          <a:bodyPr/>
          <a:lstStyle/>
          <a:p>
            <a:r>
              <a:rPr lang="en-DE" dirty="0"/>
              <a:t>May Zin Ko</a:t>
            </a:r>
            <a:endParaRPr lang="en-US" dirty="0"/>
          </a:p>
        </p:txBody>
      </p:sp>
      <p:sp>
        <p:nvSpPr>
          <p:cNvPr id="5" name="Slide Number Placeholder 4">
            <a:extLst>
              <a:ext uri="{FF2B5EF4-FFF2-40B4-BE49-F238E27FC236}">
                <a16:creationId xmlns:a16="http://schemas.microsoft.com/office/drawing/2014/main" id="{F2CFCAEC-2015-4544-635E-831171A8F46F}"/>
              </a:ext>
            </a:extLst>
          </p:cNvPr>
          <p:cNvSpPr>
            <a:spLocks noGrp="1"/>
          </p:cNvSpPr>
          <p:nvPr>
            <p:ph type="sldNum" sz="quarter" idx="12"/>
          </p:nvPr>
        </p:nvSpPr>
        <p:spPr/>
        <p:txBody>
          <a:bodyPr/>
          <a:lstStyle/>
          <a:p>
            <a:fld id="{C1FF6DA9-008F-8B48-92A6-B652298478BF}" type="slidenum">
              <a:rPr lang="en-US" smtClean="0"/>
              <a:t>36</a:t>
            </a:fld>
            <a:endParaRPr lang="en-US"/>
          </a:p>
        </p:txBody>
      </p:sp>
      <p:pic>
        <p:nvPicPr>
          <p:cNvPr id="7" name="Picture 6">
            <a:extLst>
              <a:ext uri="{FF2B5EF4-FFF2-40B4-BE49-F238E27FC236}">
                <a16:creationId xmlns:a16="http://schemas.microsoft.com/office/drawing/2014/main" id="{CCCF288B-DD2E-CAD9-6C1F-378AA0A420E8}"/>
              </a:ext>
            </a:extLst>
          </p:cNvPr>
          <p:cNvPicPr>
            <a:picLocks noChangeAspect="1"/>
          </p:cNvPicPr>
          <p:nvPr/>
        </p:nvPicPr>
        <p:blipFill>
          <a:blip r:embed="rId3"/>
          <a:stretch>
            <a:fillRect/>
          </a:stretch>
        </p:blipFill>
        <p:spPr>
          <a:xfrm>
            <a:off x="685800" y="3019195"/>
            <a:ext cx="7772400" cy="3289530"/>
          </a:xfrm>
          <a:prstGeom prst="rect">
            <a:avLst/>
          </a:prstGeom>
        </p:spPr>
      </p:pic>
    </p:spTree>
    <p:extLst>
      <p:ext uri="{BB962C8B-B14F-4D97-AF65-F5344CB8AC3E}">
        <p14:creationId xmlns:p14="http://schemas.microsoft.com/office/powerpoint/2010/main" val="17618776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Analysis: </a:t>
            </a:r>
            <a:r>
              <a:rPr lang="en-GB" b="0" i="0" u="none" strike="noStrike" dirty="0">
                <a:solidFill>
                  <a:srgbClr val="000000"/>
                </a:solidFill>
                <a:effectLst/>
                <a:latin typeface="-webkit-standard"/>
              </a:rPr>
              <a:t>Demand by Warehouse</a:t>
            </a:r>
            <a:endParaRPr lang="en-US" dirty="0"/>
          </a:p>
        </p:txBody>
      </p:sp>
      <p:sp>
        <p:nvSpPr>
          <p:cNvPr id="3" name="Content Placeholder 2"/>
          <p:cNvSpPr>
            <a:spLocks noGrp="1"/>
          </p:cNvSpPr>
          <p:nvPr>
            <p:ph idx="1"/>
          </p:nvPr>
        </p:nvSpPr>
        <p:spPr/>
        <p:txBody>
          <a:bodyPr>
            <a:normAutofit/>
          </a:bodyPr>
          <a:lstStyle/>
          <a:p>
            <a:pPr>
              <a:buFont typeface="Arial" panose="020B0604020202020204" pitchFamily="34" charset="0"/>
              <a:buChar char="•"/>
            </a:pPr>
            <a:r>
              <a:rPr lang="en-GB" sz="2000" dirty="0" err="1"/>
              <a:t>Whse_J</a:t>
            </a:r>
            <a:r>
              <a:rPr lang="en-GB" sz="2000" dirty="0"/>
              <a:t> handles ~764,000 orders - 73% of total demand</a:t>
            </a:r>
          </a:p>
          <a:p>
            <a:pPr>
              <a:buFont typeface="Arial" panose="020B0604020202020204" pitchFamily="34" charset="0"/>
              <a:buChar char="•"/>
            </a:pPr>
            <a:r>
              <a:rPr lang="en-GB" sz="2000" dirty="0" err="1"/>
              <a:t>Whse_A</a:t>
            </a:r>
            <a:r>
              <a:rPr lang="en-GB" sz="2000" dirty="0"/>
              <a:t> second with ~153,000, </a:t>
            </a:r>
            <a:r>
              <a:rPr lang="en-GB" sz="2000" dirty="0" err="1"/>
              <a:t>Whse_S</a:t>
            </a:r>
            <a:r>
              <a:rPr lang="en-GB" sz="2000" dirty="0"/>
              <a:t> ~88,000, </a:t>
            </a:r>
            <a:r>
              <a:rPr lang="en-GB" sz="2000" dirty="0" err="1"/>
              <a:t>Whse_C</a:t>
            </a:r>
            <a:r>
              <a:rPr lang="en-GB" sz="2000" dirty="0"/>
              <a:t> ~42,000</a:t>
            </a:r>
          </a:p>
          <a:p>
            <a:pPr>
              <a:buFont typeface="Arial" panose="020B0604020202020204" pitchFamily="34" charset="0"/>
              <a:buChar char="•"/>
            </a:pPr>
            <a:r>
              <a:rPr lang="en-GB" sz="2000" dirty="0"/>
              <a:t>Demand is highly concentrated - one warehouse dominates</a:t>
            </a:r>
            <a:endParaRPr lang="en-GB" sz="2400" dirty="0"/>
          </a:p>
        </p:txBody>
      </p:sp>
      <p:sp>
        <p:nvSpPr>
          <p:cNvPr id="4" name="Footer Placeholder 3">
            <a:extLst>
              <a:ext uri="{FF2B5EF4-FFF2-40B4-BE49-F238E27FC236}">
                <a16:creationId xmlns:a16="http://schemas.microsoft.com/office/drawing/2014/main" id="{37B65B29-5DBD-E88C-D2B8-0E2FD80BF2D6}"/>
              </a:ext>
            </a:extLst>
          </p:cNvPr>
          <p:cNvSpPr>
            <a:spLocks noGrp="1"/>
          </p:cNvSpPr>
          <p:nvPr>
            <p:ph type="ftr" sz="quarter" idx="11"/>
          </p:nvPr>
        </p:nvSpPr>
        <p:spPr/>
        <p:txBody>
          <a:bodyPr/>
          <a:lstStyle/>
          <a:p>
            <a:r>
              <a:rPr lang="en-DE" dirty="0"/>
              <a:t>May Zin Ko</a:t>
            </a:r>
            <a:endParaRPr lang="en-US" dirty="0"/>
          </a:p>
        </p:txBody>
      </p:sp>
      <p:sp>
        <p:nvSpPr>
          <p:cNvPr id="5" name="Slide Number Placeholder 4">
            <a:extLst>
              <a:ext uri="{FF2B5EF4-FFF2-40B4-BE49-F238E27FC236}">
                <a16:creationId xmlns:a16="http://schemas.microsoft.com/office/drawing/2014/main" id="{971DDEDE-8290-07EC-1FE7-AC5A78264F9E}"/>
              </a:ext>
            </a:extLst>
          </p:cNvPr>
          <p:cNvSpPr>
            <a:spLocks noGrp="1"/>
          </p:cNvSpPr>
          <p:nvPr>
            <p:ph type="sldNum" sz="quarter" idx="12"/>
          </p:nvPr>
        </p:nvSpPr>
        <p:spPr/>
        <p:txBody>
          <a:bodyPr/>
          <a:lstStyle/>
          <a:p>
            <a:fld id="{C1FF6DA9-008F-8B48-92A6-B652298478BF}" type="slidenum">
              <a:rPr lang="en-US" smtClean="0"/>
              <a:t>37</a:t>
            </a:fld>
            <a:endParaRPr lang="en-US"/>
          </a:p>
        </p:txBody>
      </p:sp>
      <p:pic>
        <p:nvPicPr>
          <p:cNvPr id="6" name="Picture 5">
            <a:extLst>
              <a:ext uri="{FF2B5EF4-FFF2-40B4-BE49-F238E27FC236}">
                <a16:creationId xmlns:a16="http://schemas.microsoft.com/office/drawing/2014/main" id="{6927229A-9586-71E4-2B20-F39220FA731A}"/>
              </a:ext>
            </a:extLst>
          </p:cNvPr>
          <p:cNvPicPr>
            <a:picLocks noChangeAspect="1"/>
          </p:cNvPicPr>
          <p:nvPr/>
        </p:nvPicPr>
        <p:blipFill>
          <a:blip r:embed="rId3"/>
          <a:stretch>
            <a:fillRect/>
          </a:stretch>
        </p:blipFill>
        <p:spPr>
          <a:xfrm>
            <a:off x="2823210" y="2959736"/>
            <a:ext cx="5657850" cy="3348989"/>
          </a:xfrm>
          <a:prstGeom prst="rect">
            <a:avLst/>
          </a:prstGeom>
        </p:spPr>
      </p:pic>
    </p:spTree>
    <p:extLst>
      <p:ext uri="{BB962C8B-B14F-4D97-AF65-F5344CB8AC3E}">
        <p14:creationId xmlns:p14="http://schemas.microsoft.com/office/powerpoint/2010/main" val="37743652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Analysis: </a:t>
            </a:r>
            <a:r>
              <a:rPr lang="en-GB" b="0" i="0" u="none" strike="noStrike" dirty="0">
                <a:solidFill>
                  <a:srgbClr val="000000"/>
                </a:solidFill>
                <a:effectLst/>
              </a:rPr>
              <a:t>Demand by Product Category</a:t>
            </a:r>
            <a:endParaRPr lang="en-US" dirty="0"/>
          </a:p>
        </p:txBody>
      </p:sp>
      <p:sp>
        <p:nvSpPr>
          <p:cNvPr id="3" name="Content Placeholder 2"/>
          <p:cNvSpPr>
            <a:spLocks noGrp="1"/>
          </p:cNvSpPr>
          <p:nvPr>
            <p:ph idx="1"/>
          </p:nvPr>
        </p:nvSpPr>
        <p:spPr>
          <a:xfrm>
            <a:off x="457199" y="1600200"/>
            <a:ext cx="8686801" cy="1142999"/>
          </a:xfrm>
        </p:spPr>
        <p:txBody>
          <a:bodyPr>
            <a:noAutofit/>
          </a:bodyPr>
          <a:lstStyle/>
          <a:p>
            <a:r>
              <a:rPr lang="en-GB" sz="2000" dirty="0"/>
              <a:t>Category_019 dominates in every single warehouse</a:t>
            </a:r>
          </a:p>
          <a:p>
            <a:r>
              <a:rPr lang="en-GB" sz="2000" dirty="0"/>
              <a:t>One category drives most demand - others are significantly lower</a:t>
            </a:r>
          </a:p>
          <a:p>
            <a:r>
              <a:rPr lang="en-GB" sz="2000" dirty="0"/>
              <a:t>Supports ABC analysis - focus forecasting on top categories</a:t>
            </a:r>
          </a:p>
        </p:txBody>
      </p:sp>
      <p:sp>
        <p:nvSpPr>
          <p:cNvPr id="4" name="Footer Placeholder 3">
            <a:extLst>
              <a:ext uri="{FF2B5EF4-FFF2-40B4-BE49-F238E27FC236}">
                <a16:creationId xmlns:a16="http://schemas.microsoft.com/office/drawing/2014/main" id="{20064D47-090A-19C2-5CCD-116C3F61DF9E}"/>
              </a:ext>
            </a:extLst>
          </p:cNvPr>
          <p:cNvSpPr>
            <a:spLocks noGrp="1"/>
          </p:cNvSpPr>
          <p:nvPr>
            <p:ph type="ftr" sz="quarter" idx="11"/>
          </p:nvPr>
        </p:nvSpPr>
        <p:spPr/>
        <p:txBody>
          <a:bodyPr/>
          <a:lstStyle/>
          <a:p>
            <a:r>
              <a:rPr lang="en-DE" dirty="0"/>
              <a:t>May Zin Ko</a:t>
            </a:r>
            <a:endParaRPr lang="en-US" dirty="0"/>
          </a:p>
        </p:txBody>
      </p:sp>
      <p:sp>
        <p:nvSpPr>
          <p:cNvPr id="5" name="Slide Number Placeholder 4">
            <a:extLst>
              <a:ext uri="{FF2B5EF4-FFF2-40B4-BE49-F238E27FC236}">
                <a16:creationId xmlns:a16="http://schemas.microsoft.com/office/drawing/2014/main" id="{71133CA6-DB49-28CF-93F5-C6875FC8D6F1}"/>
              </a:ext>
            </a:extLst>
          </p:cNvPr>
          <p:cNvSpPr>
            <a:spLocks noGrp="1"/>
          </p:cNvSpPr>
          <p:nvPr>
            <p:ph type="sldNum" sz="quarter" idx="12"/>
          </p:nvPr>
        </p:nvSpPr>
        <p:spPr/>
        <p:txBody>
          <a:bodyPr/>
          <a:lstStyle/>
          <a:p>
            <a:fld id="{C1FF6DA9-008F-8B48-92A6-B652298478BF}" type="slidenum">
              <a:rPr lang="en-US" smtClean="0"/>
              <a:t>38</a:t>
            </a:fld>
            <a:endParaRPr lang="en-US"/>
          </a:p>
        </p:txBody>
      </p:sp>
      <p:pic>
        <p:nvPicPr>
          <p:cNvPr id="7" name="Picture 6">
            <a:extLst>
              <a:ext uri="{FF2B5EF4-FFF2-40B4-BE49-F238E27FC236}">
                <a16:creationId xmlns:a16="http://schemas.microsoft.com/office/drawing/2014/main" id="{69EAF0F0-88C7-E66E-7E30-E398AE989BCF}"/>
              </a:ext>
            </a:extLst>
          </p:cNvPr>
          <p:cNvPicPr>
            <a:picLocks noChangeAspect="1"/>
          </p:cNvPicPr>
          <p:nvPr/>
        </p:nvPicPr>
        <p:blipFill>
          <a:blip r:embed="rId3"/>
          <a:stretch>
            <a:fillRect/>
          </a:stretch>
        </p:blipFill>
        <p:spPr>
          <a:xfrm>
            <a:off x="3124200" y="2743199"/>
            <a:ext cx="5562600" cy="3680305"/>
          </a:xfrm>
          <a:prstGeom prst="rect">
            <a:avLst/>
          </a:prstGeom>
        </p:spPr>
      </p:pic>
    </p:spTree>
    <p:extLst>
      <p:ext uri="{BB962C8B-B14F-4D97-AF65-F5344CB8AC3E}">
        <p14:creationId xmlns:p14="http://schemas.microsoft.com/office/powerpoint/2010/main" val="3770586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Analysis: Stationarity Test (ADF)</a:t>
            </a:r>
            <a:endParaRPr lang="en-US" dirty="0"/>
          </a:p>
        </p:txBody>
      </p:sp>
      <p:sp>
        <p:nvSpPr>
          <p:cNvPr id="3" name="Content Placeholder 2"/>
          <p:cNvSpPr>
            <a:spLocks noGrp="1"/>
          </p:cNvSpPr>
          <p:nvPr>
            <p:ph idx="1"/>
          </p:nvPr>
        </p:nvSpPr>
        <p:spPr/>
        <p:txBody>
          <a:bodyPr>
            <a:normAutofit/>
          </a:bodyPr>
          <a:lstStyle/>
          <a:p>
            <a:r>
              <a:rPr lang="en-GB" sz="2000" dirty="0" err="1"/>
              <a:t>Whse_J</a:t>
            </a:r>
            <a:r>
              <a:rPr lang="en-GB" sz="2000" dirty="0"/>
              <a:t> and </a:t>
            </a:r>
            <a:r>
              <a:rPr lang="en-GB" sz="2000" dirty="0" err="1"/>
              <a:t>Whse_S</a:t>
            </a:r>
            <a:r>
              <a:rPr lang="en-GB" sz="2000" dirty="0"/>
              <a:t> — Not Stationary (p &gt; 0.05) → require ARIMA</a:t>
            </a:r>
          </a:p>
          <a:p>
            <a:r>
              <a:rPr lang="en-GB" sz="2000" dirty="0" err="1"/>
              <a:t>Whse_C</a:t>
            </a:r>
            <a:r>
              <a:rPr lang="en-GB" sz="2000" dirty="0"/>
              <a:t> and </a:t>
            </a:r>
            <a:r>
              <a:rPr lang="en-GB" sz="2000" dirty="0" err="1"/>
              <a:t>Whse_A</a:t>
            </a:r>
            <a:r>
              <a:rPr lang="en-GB" sz="2000" dirty="0"/>
              <a:t> — Stationary (p ≤ 0.05) → can use ARMA directly</a:t>
            </a:r>
            <a:endParaRPr sz="2400" dirty="0"/>
          </a:p>
        </p:txBody>
      </p:sp>
      <p:sp>
        <p:nvSpPr>
          <p:cNvPr id="4" name="Footer Placeholder 3">
            <a:extLst>
              <a:ext uri="{FF2B5EF4-FFF2-40B4-BE49-F238E27FC236}">
                <a16:creationId xmlns:a16="http://schemas.microsoft.com/office/drawing/2014/main" id="{88E8AD3A-D707-00A2-53EC-B34DD3F76F3F}"/>
              </a:ext>
            </a:extLst>
          </p:cNvPr>
          <p:cNvSpPr>
            <a:spLocks noGrp="1"/>
          </p:cNvSpPr>
          <p:nvPr>
            <p:ph type="ftr" sz="quarter" idx="11"/>
          </p:nvPr>
        </p:nvSpPr>
        <p:spPr/>
        <p:txBody>
          <a:bodyPr/>
          <a:lstStyle/>
          <a:p>
            <a:r>
              <a:rPr lang="en-DE" dirty="0"/>
              <a:t>May Zin Ko</a:t>
            </a:r>
            <a:endParaRPr lang="en-US" dirty="0"/>
          </a:p>
        </p:txBody>
      </p:sp>
      <p:sp>
        <p:nvSpPr>
          <p:cNvPr id="5" name="Slide Number Placeholder 4">
            <a:extLst>
              <a:ext uri="{FF2B5EF4-FFF2-40B4-BE49-F238E27FC236}">
                <a16:creationId xmlns:a16="http://schemas.microsoft.com/office/drawing/2014/main" id="{A3E3ECEF-AE2F-2F4F-C8D0-D715E1817A15}"/>
              </a:ext>
            </a:extLst>
          </p:cNvPr>
          <p:cNvSpPr>
            <a:spLocks noGrp="1"/>
          </p:cNvSpPr>
          <p:nvPr>
            <p:ph type="sldNum" sz="quarter" idx="12"/>
          </p:nvPr>
        </p:nvSpPr>
        <p:spPr/>
        <p:txBody>
          <a:bodyPr/>
          <a:lstStyle/>
          <a:p>
            <a:fld id="{C1FF6DA9-008F-8B48-92A6-B652298478BF}" type="slidenum">
              <a:rPr lang="en-US" smtClean="0"/>
              <a:t>39</a:t>
            </a:fld>
            <a:endParaRPr lang="en-US"/>
          </a:p>
        </p:txBody>
      </p:sp>
      <p:pic>
        <p:nvPicPr>
          <p:cNvPr id="6" name="Picture 5">
            <a:extLst>
              <a:ext uri="{FF2B5EF4-FFF2-40B4-BE49-F238E27FC236}">
                <a16:creationId xmlns:a16="http://schemas.microsoft.com/office/drawing/2014/main" id="{244C0068-1B5B-9451-6721-9C804B04B29C}"/>
              </a:ext>
            </a:extLst>
          </p:cNvPr>
          <p:cNvPicPr>
            <a:picLocks noChangeAspect="1"/>
          </p:cNvPicPr>
          <p:nvPr/>
        </p:nvPicPr>
        <p:blipFill>
          <a:blip r:embed="rId3"/>
          <a:stretch>
            <a:fillRect/>
          </a:stretch>
        </p:blipFill>
        <p:spPr>
          <a:xfrm>
            <a:off x="1165860" y="2486074"/>
            <a:ext cx="7292340" cy="3870276"/>
          </a:xfrm>
          <a:prstGeom prst="rect">
            <a:avLst/>
          </a:prstGeom>
        </p:spPr>
      </p:pic>
    </p:spTree>
    <p:extLst>
      <p:ext uri="{BB962C8B-B14F-4D97-AF65-F5344CB8AC3E}">
        <p14:creationId xmlns:p14="http://schemas.microsoft.com/office/powerpoint/2010/main" val="5691930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85A74C-A622-9811-3099-A43FEDB08C9E}"/>
              </a:ext>
            </a:extLst>
          </p:cNvPr>
          <p:cNvSpPr txBox="1"/>
          <p:nvPr/>
        </p:nvSpPr>
        <p:spPr>
          <a:xfrm>
            <a:off x="1753496" y="2967335"/>
            <a:ext cx="5637007" cy="923330"/>
          </a:xfrm>
          <a:prstGeom prst="rect">
            <a:avLst/>
          </a:prstGeom>
          <a:noFill/>
        </p:spPr>
        <p:txBody>
          <a:bodyPr wrap="square" rtlCol="0">
            <a:spAutoFit/>
          </a:bodyPr>
          <a:lstStyle/>
          <a:p>
            <a:pPr algn="ctr"/>
            <a:r>
              <a:rPr lang="en-DE" sz="5400" dirty="0"/>
              <a:t>ML Algorithms</a:t>
            </a:r>
          </a:p>
        </p:txBody>
      </p:sp>
      <p:sp>
        <p:nvSpPr>
          <p:cNvPr id="4" name="Slide Number Placeholder 3">
            <a:extLst>
              <a:ext uri="{FF2B5EF4-FFF2-40B4-BE49-F238E27FC236}">
                <a16:creationId xmlns:a16="http://schemas.microsoft.com/office/drawing/2014/main" id="{A5BC57A6-3A0B-600E-319A-657E3CBA5F1F}"/>
              </a:ext>
            </a:extLst>
          </p:cNvPr>
          <p:cNvSpPr>
            <a:spLocks noGrp="1"/>
          </p:cNvSpPr>
          <p:nvPr>
            <p:ph type="sldNum" sz="quarter" idx="12"/>
          </p:nvPr>
        </p:nvSpPr>
        <p:spPr/>
        <p:txBody>
          <a:bodyPr/>
          <a:lstStyle/>
          <a:p>
            <a:fld id="{C1FF6DA9-008F-8B48-92A6-B652298478BF}" type="slidenum">
              <a:rPr lang="en-US" smtClean="0"/>
              <a:t>40</a:t>
            </a:fld>
            <a:endParaRPr lang="en-US"/>
          </a:p>
        </p:txBody>
      </p:sp>
    </p:spTree>
    <p:extLst>
      <p:ext uri="{BB962C8B-B14F-4D97-AF65-F5344CB8AC3E}">
        <p14:creationId xmlns:p14="http://schemas.microsoft.com/office/powerpoint/2010/main" val="1128686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0" i="0" u="none" strike="noStrike" dirty="0">
                <a:solidFill>
                  <a:srgbClr val="000000"/>
                </a:solidFill>
                <a:effectLst/>
              </a:rPr>
              <a:t>ML Algorithms (Overview)</a:t>
            </a:r>
            <a:endParaRPr lang="en-GB" dirty="0"/>
          </a:p>
        </p:txBody>
      </p:sp>
      <p:sp>
        <p:nvSpPr>
          <p:cNvPr id="3" name="Content Placeholder 2"/>
          <p:cNvSpPr>
            <a:spLocks noGrp="1"/>
          </p:cNvSpPr>
          <p:nvPr>
            <p:ph idx="1"/>
          </p:nvPr>
        </p:nvSpPr>
        <p:spPr/>
        <p:txBody>
          <a:bodyPr/>
          <a:lstStyle/>
          <a:p>
            <a:r>
              <a:rPr lang="en-GB" dirty="0"/>
              <a:t>ARMA vs ARIMA</a:t>
            </a:r>
            <a:endParaRPr lang="en-US" dirty="0"/>
          </a:p>
          <a:p>
            <a:r>
              <a:rPr lang="en-US" dirty="0"/>
              <a:t>Random Forest</a:t>
            </a:r>
          </a:p>
        </p:txBody>
      </p:sp>
      <p:sp>
        <p:nvSpPr>
          <p:cNvPr id="4" name="Footer Placeholder 3">
            <a:extLst>
              <a:ext uri="{FF2B5EF4-FFF2-40B4-BE49-F238E27FC236}">
                <a16:creationId xmlns:a16="http://schemas.microsoft.com/office/drawing/2014/main" id="{9709C039-DD3D-E5B2-33D5-CA03FDAF68C4}"/>
              </a:ext>
            </a:extLst>
          </p:cNvPr>
          <p:cNvSpPr>
            <a:spLocks noGrp="1"/>
          </p:cNvSpPr>
          <p:nvPr>
            <p:ph type="ftr" sz="quarter" idx="11"/>
          </p:nvPr>
        </p:nvSpPr>
        <p:spPr/>
        <p:txBody>
          <a:bodyPr/>
          <a:lstStyle/>
          <a:p>
            <a:r>
              <a:rPr lang="en-GB" sz="1200" dirty="0">
                <a:effectLst/>
                <a:latin typeface="Poppins" pitchFamily="2" charset="77"/>
              </a:rPr>
              <a:t>May Zin Ko</a:t>
            </a:r>
            <a:endParaRPr lang="en-US" dirty="0"/>
          </a:p>
        </p:txBody>
      </p:sp>
      <p:sp>
        <p:nvSpPr>
          <p:cNvPr id="5" name="Slide Number Placeholder 4">
            <a:extLst>
              <a:ext uri="{FF2B5EF4-FFF2-40B4-BE49-F238E27FC236}">
                <a16:creationId xmlns:a16="http://schemas.microsoft.com/office/drawing/2014/main" id="{91DDC97A-F6AF-9754-B7E3-605888B52C2B}"/>
              </a:ext>
            </a:extLst>
          </p:cNvPr>
          <p:cNvSpPr>
            <a:spLocks noGrp="1"/>
          </p:cNvSpPr>
          <p:nvPr>
            <p:ph type="sldNum" sz="quarter" idx="12"/>
          </p:nvPr>
        </p:nvSpPr>
        <p:spPr/>
        <p:txBody>
          <a:bodyPr/>
          <a:lstStyle/>
          <a:p>
            <a:fld id="{C1FF6DA9-008F-8B48-92A6-B652298478BF}" type="slidenum">
              <a:rPr lang="en-US" smtClean="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ML Algorithm: ARMA vs ARIMA</a:t>
            </a:r>
            <a:endParaRPr dirty="0"/>
          </a:p>
        </p:txBody>
      </p:sp>
      <p:pic>
        <p:nvPicPr>
          <p:cNvPr id="6" name="Content Placeholder 5">
            <a:extLst>
              <a:ext uri="{FF2B5EF4-FFF2-40B4-BE49-F238E27FC236}">
                <a16:creationId xmlns:a16="http://schemas.microsoft.com/office/drawing/2014/main" id="{5B080156-3754-BEDF-C9C4-EA66D13BFBFB}"/>
              </a:ext>
            </a:extLst>
          </p:cNvPr>
          <p:cNvPicPr>
            <a:picLocks noGrp="1" noChangeAspect="1"/>
          </p:cNvPicPr>
          <p:nvPr>
            <p:ph idx="1"/>
          </p:nvPr>
        </p:nvPicPr>
        <p:blipFill>
          <a:blip r:embed="rId3"/>
          <a:stretch>
            <a:fillRect/>
          </a:stretch>
        </p:blipFill>
        <p:spPr>
          <a:xfrm>
            <a:off x="1102095" y="1600200"/>
            <a:ext cx="6939809" cy="4525963"/>
          </a:xfrm>
          <a:prstGeom prst="rect">
            <a:avLst/>
          </a:prstGeom>
        </p:spPr>
      </p:pic>
      <p:sp>
        <p:nvSpPr>
          <p:cNvPr id="4" name="Footer Placeholder 3">
            <a:extLst>
              <a:ext uri="{FF2B5EF4-FFF2-40B4-BE49-F238E27FC236}">
                <a16:creationId xmlns:a16="http://schemas.microsoft.com/office/drawing/2014/main" id="{2C46E1FB-AF3F-86D4-E28C-91E4F88F1767}"/>
              </a:ext>
            </a:extLst>
          </p:cNvPr>
          <p:cNvSpPr>
            <a:spLocks noGrp="1"/>
          </p:cNvSpPr>
          <p:nvPr>
            <p:ph type="ftr" sz="quarter" idx="11"/>
          </p:nvPr>
        </p:nvSpPr>
        <p:spPr/>
        <p:txBody>
          <a:bodyPr/>
          <a:lstStyle/>
          <a:p>
            <a:r>
              <a:rPr lang="en-GB" sz="1200" dirty="0">
                <a:effectLst/>
                <a:latin typeface="Poppins" pitchFamily="2" charset="77"/>
              </a:rPr>
              <a:t>May Zin Ko</a:t>
            </a:r>
            <a:endParaRPr lang="en-US" dirty="0"/>
          </a:p>
        </p:txBody>
      </p:sp>
      <p:sp>
        <p:nvSpPr>
          <p:cNvPr id="5" name="Slide Number Placeholder 4">
            <a:extLst>
              <a:ext uri="{FF2B5EF4-FFF2-40B4-BE49-F238E27FC236}">
                <a16:creationId xmlns:a16="http://schemas.microsoft.com/office/drawing/2014/main" id="{FBB7CAD5-0BF2-0F56-CEF9-3D238AC24849}"/>
              </a:ext>
            </a:extLst>
          </p:cNvPr>
          <p:cNvSpPr>
            <a:spLocks noGrp="1"/>
          </p:cNvSpPr>
          <p:nvPr>
            <p:ph type="sldNum" sz="quarter" idx="12"/>
          </p:nvPr>
        </p:nvSpPr>
        <p:spPr/>
        <p:txBody>
          <a:bodyPr/>
          <a:lstStyle/>
          <a:p>
            <a:fld id="{C1FF6DA9-008F-8B48-92A6-B652298478BF}" type="slidenum">
              <a:rPr lang="en-US" smtClean="0"/>
              <a:t>42</a:t>
            </a:fld>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0" i="0" u="none" strike="noStrike" dirty="0">
                <a:solidFill>
                  <a:srgbClr val="000000"/>
                </a:solidFill>
                <a:effectLst/>
                <a:latin typeface="-webkit-standard"/>
              </a:rPr>
              <a:t>Random Forest</a:t>
            </a:r>
            <a:endParaRPr dirty="0"/>
          </a:p>
        </p:txBody>
      </p:sp>
      <p:pic>
        <p:nvPicPr>
          <p:cNvPr id="7" name="Content Placeholder 6">
            <a:extLst>
              <a:ext uri="{FF2B5EF4-FFF2-40B4-BE49-F238E27FC236}">
                <a16:creationId xmlns:a16="http://schemas.microsoft.com/office/drawing/2014/main" id="{632DF19D-4628-D9A8-4D73-7798C8E13A09}"/>
              </a:ext>
            </a:extLst>
          </p:cNvPr>
          <p:cNvPicPr>
            <a:picLocks noGrp="1" noChangeAspect="1"/>
          </p:cNvPicPr>
          <p:nvPr>
            <p:ph idx="1"/>
          </p:nvPr>
        </p:nvPicPr>
        <p:blipFill>
          <a:blip r:embed="rId3"/>
          <a:stretch>
            <a:fillRect/>
          </a:stretch>
        </p:blipFill>
        <p:spPr>
          <a:xfrm>
            <a:off x="457200" y="1738692"/>
            <a:ext cx="8229600" cy="4248978"/>
          </a:xfrm>
          <a:prstGeom prst="rect">
            <a:avLst/>
          </a:prstGeom>
        </p:spPr>
      </p:pic>
      <p:sp>
        <p:nvSpPr>
          <p:cNvPr id="4" name="Footer Placeholder 3">
            <a:extLst>
              <a:ext uri="{FF2B5EF4-FFF2-40B4-BE49-F238E27FC236}">
                <a16:creationId xmlns:a16="http://schemas.microsoft.com/office/drawing/2014/main" id="{2CF5822F-F142-F2DC-5CFB-3B0EB066C217}"/>
              </a:ext>
            </a:extLst>
          </p:cNvPr>
          <p:cNvSpPr>
            <a:spLocks noGrp="1"/>
          </p:cNvSpPr>
          <p:nvPr>
            <p:ph type="ftr" sz="quarter" idx="11"/>
          </p:nvPr>
        </p:nvSpPr>
        <p:spPr/>
        <p:txBody>
          <a:bodyPr/>
          <a:lstStyle/>
          <a:p>
            <a:r>
              <a:rPr lang="en-GB" sz="1200" dirty="0">
                <a:effectLst/>
                <a:latin typeface="Poppins" pitchFamily="2" charset="77"/>
              </a:rPr>
              <a:t>May Zin Ko</a:t>
            </a:r>
            <a:endParaRPr lang="en-US" dirty="0"/>
          </a:p>
        </p:txBody>
      </p:sp>
      <p:sp>
        <p:nvSpPr>
          <p:cNvPr id="5" name="Slide Number Placeholder 4">
            <a:extLst>
              <a:ext uri="{FF2B5EF4-FFF2-40B4-BE49-F238E27FC236}">
                <a16:creationId xmlns:a16="http://schemas.microsoft.com/office/drawing/2014/main" id="{BB86A317-7142-F3DD-55C2-6B803F6E8D11}"/>
              </a:ext>
            </a:extLst>
          </p:cNvPr>
          <p:cNvSpPr>
            <a:spLocks noGrp="1"/>
          </p:cNvSpPr>
          <p:nvPr>
            <p:ph type="sldNum" sz="quarter" idx="12"/>
          </p:nvPr>
        </p:nvSpPr>
        <p:spPr/>
        <p:txBody>
          <a:bodyPr/>
          <a:lstStyle/>
          <a:p>
            <a:fld id="{C1FF6DA9-008F-8B48-92A6-B652298478BF}" type="slidenum">
              <a:rPr lang="en-US" smtClean="0"/>
              <a:t>43</a:t>
            </a:fld>
            <a:endParaRPr lang="en-US" dirty="0"/>
          </a:p>
        </p:txBody>
      </p:sp>
    </p:spTree>
    <p:extLst>
      <p:ext uri="{BB962C8B-B14F-4D97-AF65-F5344CB8AC3E}">
        <p14:creationId xmlns:p14="http://schemas.microsoft.com/office/powerpoint/2010/main" val="38639211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85A74C-A622-9811-3099-A43FEDB08C9E}"/>
              </a:ext>
            </a:extLst>
          </p:cNvPr>
          <p:cNvSpPr txBox="1"/>
          <p:nvPr/>
        </p:nvSpPr>
        <p:spPr>
          <a:xfrm>
            <a:off x="1753496" y="2967335"/>
            <a:ext cx="5637007" cy="923330"/>
          </a:xfrm>
          <a:prstGeom prst="rect">
            <a:avLst/>
          </a:prstGeom>
          <a:noFill/>
        </p:spPr>
        <p:txBody>
          <a:bodyPr wrap="square" rtlCol="0">
            <a:spAutoFit/>
          </a:bodyPr>
          <a:lstStyle/>
          <a:p>
            <a:pPr algn="ctr"/>
            <a:r>
              <a:rPr lang="en-DE" sz="5400" dirty="0"/>
              <a:t>Next Steps</a:t>
            </a:r>
          </a:p>
        </p:txBody>
      </p:sp>
      <p:sp>
        <p:nvSpPr>
          <p:cNvPr id="3" name="Footer Placeholder 2">
            <a:extLst>
              <a:ext uri="{FF2B5EF4-FFF2-40B4-BE49-F238E27FC236}">
                <a16:creationId xmlns:a16="http://schemas.microsoft.com/office/drawing/2014/main" id="{7DFE662F-C083-9B0E-1044-1107D6BADB3A}"/>
              </a:ext>
            </a:extLst>
          </p:cNvPr>
          <p:cNvSpPr>
            <a:spLocks noGrp="1"/>
          </p:cNvSpPr>
          <p:nvPr>
            <p:ph type="ftr" sz="quarter" idx="11"/>
          </p:nvPr>
        </p:nvSpPr>
        <p:spPr/>
        <p:txBody>
          <a:bodyPr/>
          <a:lstStyle/>
          <a:p>
            <a:r>
              <a:rPr lang="en-GB" sz="1200" dirty="0">
                <a:effectLst/>
                <a:latin typeface="Poppins" pitchFamily="2" charset="77"/>
              </a:rPr>
              <a:t>Louis </a:t>
            </a:r>
            <a:r>
              <a:rPr lang="en-GB" sz="1200" dirty="0" err="1">
                <a:effectLst/>
                <a:latin typeface="Poppins" pitchFamily="2" charset="77"/>
              </a:rPr>
              <a:t>Odinkemelu</a:t>
            </a:r>
            <a:endParaRPr lang="en-US" dirty="0"/>
          </a:p>
        </p:txBody>
      </p:sp>
      <p:sp>
        <p:nvSpPr>
          <p:cNvPr id="4" name="Slide Number Placeholder 3">
            <a:extLst>
              <a:ext uri="{FF2B5EF4-FFF2-40B4-BE49-F238E27FC236}">
                <a16:creationId xmlns:a16="http://schemas.microsoft.com/office/drawing/2014/main" id="{12E154DC-8454-9AD6-3C46-B4C9A445ADDC}"/>
              </a:ext>
            </a:extLst>
          </p:cNvPr>
          <p:cNvSpPr>
            <a:spLocks noGrp="1"/>
          </p:cNvSpPr>
          <p:nvPr>
            <p:ph type="sldNum" sz="quarter" idx="12"/>
          </p:nvPr>
        </p:nvSpPr>
        <p:spPr/>
        <p:txBody>
          <a:bodyPr/>
          <a:lstStyle/>
          <a:p>
            <a:fld id="{C1FF6DA9-008F-8B48-92A6-B652298478BF}" type="slidenum">
              <a:rPr lang="en-US" smtClean="0"/>
              <a:t>44</a:t>
            </a:fld>
            <a:endParaRPr lang="en-US"/>
          </a:p>
        </p:txBody>
      </p:sp>
    </p:spTree>
    <p:extLst>
      <p:ext uri="{BB962C8B-B14F-4D97-AF65-F5344CB8AC3E}">
        <p14:creationId xmlns:p14="http://schemas.microsoft.com/office/powerpoint/2010/main" val="37877946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Next Steps</a:t>
            </a:r>
          </a:p>
        </p:txBody>
      </p:sp>
      <p:sp>
        <p:nvSpPr>
          <p:cNvPr id="3" name="Content Placeholder 2"/>
          <p:cNvSpPr>
            <a:spLocks noGrp="1"/>
          </p:cNvSpPr>
          <p:nvPr>
            <p:ph idx="1"/>
          </p:nvPr>
        </p:nvSpPr>
        <p:spPr/>
        <p:txBody>
          <a:bodyPr>
            <a:normAutofit/>
          </a:bodyPr>
          <a:lstStyle/>
          <a:p>
            <a:r>
              <a:rPr lang="en-GB" sz="2400" b="0" i="0" u="none" strike="noStrike" dirty="0">
                <a:solidFill>
                  <a:srgbClr val="000000"/>
                </a:solidFill>
                <a:effectLst/>
                <a:latin typeface="-webkit-standard"/>
              </a:rPr>
              <a:t>Short-Term (Next Phase)</a:t>
            </a:r>
          </a:p>
          <a:p>
            <a:pPr lvl="1"/>
            <a:r>
              <a:rPr lang="en-GB" sz="2400" dirty="0"/>
              <a:t>Apply advanced forecasting models</a:t>
            </a:r>
          </a:p>
          <a:p>
            <a:pPr lvl="1"/>
            <a:r>
              <a:rPr lang="en-GB" sz="2400" dirty="0"/>
              <a:t>Improve accuracy of demand prediction</a:t>
            </a:r>
            <a:endParaRPr lang="en-GB" sz="2400" b="0" i="0" u="none" strike="noStrike" dirty="0">
              <a:solidFill>
                <a:srgbClr val="000000"/>
              </a:solidFill>
              <a:effectLst/>
              <a:latin typeface="-webkit-standard"/>
            </a:endParaRPr>
          </a:p>
          <a:p>
            <a:r>
              <a:rPr lang="en-GB" sz="2400" b="0" i="0" u="none" strike="noStrike" dirty="0">
                <a:solidFill>
                  <a:srgbClr val="000000"/>
                </a:solidFill>
                <a:effectLst/>
                <a:latin typeface="-webkit-standard"/>
              </a:rPr>
              <a:t>Mid-Term</a:t>
            </a:r>
          </a:p>
          <a:p>
            <a:pPr lvl="1"/>
            <a:r>
              <a:rPr lang="en-GB" sz="2400" dirty="0"/>
              <a:t>Develop better inventory and replenishment strategies</a:t>
            </a:r>
          </a:p>
          <a:p>
            <a:pPr lvl="1"/>
            <a:r>
              <a:rPr lang="en-GB" sz="2400" dirty="0"/>
              <a:t>Optimize stock levels across warehouses</a:t>
            </a:r>
            <a:endParaRPr lang="en-GB" sz="2400" b="0" i="0" u="none" strike="noStrike" dirty="0">
              <a:solidFill>
                <a:srgbClr val="000000"/>
              </a:solidFill>
              <a:effectLst/>
              <a:latin typeface="-webkit-standard"/>
            </a:endParaRPr>
          </a:p>
          <a:p>
            <a:r>
              <a:rPr lang="en-GB" sz="2400" b="0" i="0" u="none" strike="noStrike" dirty="0">
                <a:solidFill>
                  <a:srgbClr val="000000"/>
                </a:solidFill>
                <a:effectLst/>
                <a:latin typeface="-webkit-standard"/>
              </a:rPr>
              <a:t>Long-Term</a:t>
            </a:r>
          </a:p>
          <a:p>
            <a:pPr lvl="1"/>
            <a:r>
              <a:rPr lang="en-GB" sz="2400" dirty="0"/>
              <a:t>Integrate real-time demand data</a:t>
            </a:r>
          </a:p>
          <a:p>
            <a:pPr lvl="1"/>
            <a:r>
              <a:rPr lang="en-GB" sz="2400" dirty="0"/>
              <a:t>Support continuous and data-driven decision making</a:t>
            </a:r>
            <a:endParaRPr lang="en-DE" sz="2400" dirty="0"/>
          </a:p>
        </p:txBody>
      </p:sp>
      <p:sp>
        <p:nvSpPr>
          <p:cNvPr id="4" name="Footer Placeholder 3">
            <a:extLst>
              <a:ext uri="{FF2B5EF4-FFF2-40B4-BE49-F238E27FC236}">
                <a16:creationId xmlns:a16="http://schemas.microsoft.com/office/drawing/2014/main" id="{0AADFA16-2F03-9171-7ABF-61F78C3B85D3}"/>
              </a:ext>
            </a:extLst>
          </p:cNvPr>
          <p:cNvSpPr>
            <a:spLocks noGrp="1"/>
          </p:cNvSpPr>
          <p:nvPr>
            <p:ph type="ftr" sz="quarter" idx="11"/>
          </p:nvPr>
        </p:nvSpPr>
        <p:spPr/>
        <p:txBody>
          <a:bodyPr/>
          <a:lstStyle/>
          <a:p>
            <a:r>
              <a:rPr lang="en-GB" sz="1200" dirty="0">
                <a:effectLst/>
                <a:latin typeface="Poppins" pitchFamily="2" charset="77"/>
              </a:rPr>
              <a:t>Louis </a:t>
            </a:r>
            <a:r>
              <a:rPr lang="en-GB" sz="1200" dirty="0" err="1">
                <a:effectLst/>
                <a:latin typeface="Poppins" pitchFamily="2" charset="77"/>
              </a:rPr>
              <a:t>Odinkemelu</a:t>
            </a:r>
            <a:endParaRPr lang="en-US" dirty="0"/>
          </a:p>
        </p:txBody>
      </p:sp>
      <p:sp>
        <p:nvSpPr>
          <p:cNvPr id="5" name="Slide Number Placeholder 4">
            <a:extLst>
              <a:ext uri="{FF2B5EF4-FFF2-40B4-BE49-F238E27FC236}">
                <a16:creationId xmlns:a16="http://schemas.microsoft.com/office/drawing/2014/main" id="{299DE208-9DDE-EF7F-065B-043C6C9777C8}"/>
              </a:ext>
            </a:extLst>
          </p:cNvPr>
          <p:cNvSpPr>
            <a:spLocks noGrp="1"/>
          </p:cNvSpPr>
          <p:nvPr>
            <p:ph type="sldNum" sz="quarter" idx="12"/>
          </p:nvPr>
        </p:nvSpPr>
        <p:spPr/>
        <p:txBody>
          <a:bodyPr/>
          <a:lstStyle/>
          <a:p>
            <a:fld id="{C1FF6DA9-008F-8B48-92A6-B652298478BF}" type="slidenum">
              <a:rPr lang="en-US" smtClean="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85A74C-A622-9811-3099-A43FEDB08C9E}"/>
              </a:ext>
            </a:extLst>
          </p:cNvPr>
          <p:cNvSpPr txBox="1"/>
          <p:nvPr/>
        </p:nvSpPr>
        <p:spPr>
          <a:xfrm>
            <a:off x="1753496" y="2967335"/>
            <a:ext cx="5637007" cy="923330"/>
          </a:xfrm>
          <a:prstGeom prst="rect">
            <a:avLst/>
          </a:prstGeom>
          <a:noFill/>
        </p:spPr>
        <p:txBody>
          <a:bodyPr wrap="square" rtlCol="0">
            <a:spAutoFit/>
          </a:bodyPr>
          <a:lstStyle/>
          <a:p>
            <a:pPr algn="ctr"/>
            <a:r>
              <a:rPr lang="en-DE" sz="5400" dirty="0"/>
              <a:t>Thank you.</a:t>
            </a:r>
          </a:p>
        </p:txBody>
      </p:sp>
      <p:sp>
        <p:nvSpPr>
          <p:cNvPr id="3" name="Footer Placeholder 2">
            <a:extLst>
              <a:ext uri="{FF2B5EF4-FFF2-40B4-BE49-F238E27FC236}">
                <a16:creationId xmlns:a16="http://schemas.microsoft.com/office/drawing/2014/main" id="{3674D8D7-2BBB-34A8-0C37-44AEBDE4BB3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6286D1A-9227-5F0A-6083-AFB93F67A88B}"/>
              </a:ext>
            </a:extLst>
          </p:cNvPr>
          <p:cNvSpPr>
            <a:spLocks noGrp="1"/>
          </p:cNvSpPr>
          <p:nvPr>
            <p:ph type="sldNum" sz="quarter" idx="12"/>
          </p:nvPr>
        </p:nvSpPr>
        <p:spPr/>
        <p:txBody>
          <a:bodyPr/>
          <a:lstStyle/>
          <a:p>
            <a:fld id="{C1FF6DA9-008F-8B48-92A6-B652298478BF}" type="slidenum">
              <a:rPr lang="en-US" smtClean="0"/>
              <a:t>46</a:t>
            </a:fld>
            <a:endParaRPr lang="en-US"/>
          </a:p>
        </p:txBody>
      </p:sp>
    </p:spTree>
    <p:extLst>
      <p:ext uri="{BB962C8B-B14F-4D97-AF65-F5344CB8AC3E}">
        <p14:creationId xmlns:p14="http://schemas.microsoft.com/office/powerpoint/2010/main" val="32954820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2439</TotalTime>
  <Words>2866</Words>
  <Application>Microsoft Macintosh PowerPoint</Application>
  <PresentationFormat>On-screen Show (4:3)</PresentationFormat>
  <Paragraphs>406</Paragraphs>
  <Slides>46</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46</vt:i4>
      </vt:variant>
    </vt:vector>
  </HeadingPairs>
  <TitlesOfParts>
    <vt:vector size="53" baseType="lpstr">
      <vt:lpstr>-webkit-standard</vt:lpstr>
      <vt:lpstr>Arial</vt:lpstr>
      <vt:lpstr>Calibri</vt:lpstr>
      <vt:lpstr>Poppins</vt:lpstr>
      <vt:lpstr>pplxSerif</vt:lpstr>
      <vt:lpstr>Wingdings</vt:lpstr>
      <vt:lpstr>Office Theme</vt:lpstr>
      <vt:lpstr>Demand Management Using Historical Product Demand Data</vt:lpstr>
      <vt:lpstr>Table of Contents</vt:lpstr>
      <vt:lpstr>PowerPoint Presentation</vt:lpstr>
      <vt:lpstr>IDEA &amp; Scope</vt:lpstr>
      <vt:lpstr>Objectives</vt:lpstr>
      <vt:lpstr>Tasks &amp; Milestones</vt:lpstr>
      <vt:lpstr>What are we deliver?</vt:lpstr>
      <vt:lpstr>PowerPoint Presentation</vt:lpstr>
      <vt:lpstr>Business Understanding</vt:lpstr>
      <vt:lpstr>Problem Statement</vt:lpstr>
      <vt:lpstr>PowerPoint Presentation</vt:lpstr>
      <vt:lpstr>Goal</vt:lpstr>
      <vt:lpstr>Why this Matters?</vt:lpstr>
      <vt:lpstr>Data-driven opportunity </vt:lpstr>
      <vt:lpstr>Some insights from data</vt:lpstr>
      <vt:lpstr>PowerPoint Presentation</vt:lpstr>
      <vt:lpstr>Stakeholders</vt:lpstr>
      <vt:lpstr>Theoretical Background</vt:lpstr>
      <vt:lpstr>What is Demand Management?</vt:lpstr>
      <vt:lpstr>Importance of Demand Management</vt:lpstr>
      <vt:lpstr>Forecasting vs Demand Planning</vt:lpstr>
      <vt:lpstr>Intermittent Demand</vt:lpstr>
      <vt:lpstr>Characteristics of Intermittent Demand</vt:lpstr>
      <vt:lpstr>Time Series Data</vt:lpstr>
      <vt:lpstr>Trend and Seasonality</vt:lpstr>
      <vt:lpstr>Demand Variability</vt:lpstr>
      <vt:lpstr>Inventory Concepts: Safety Stock</vt:lpstr>
      <vt:lpstr>Inventory Concepts: Lead Time</vt:lpstr>
      <vt:lpstr>PowerPoint Presentation</vt:lpstr>
      <vt:lpstr>Dataset Overview</vt:lpstr>
      <vt:lpstr>Dataset Description</vt:lpstr>
      <vt:lpstr>Data Understanding</vt:lpstr>
      <vt:lpstr>Data Quality &amp; Structure</vt:lpstr>
      <vt:lpstr>Data Preparation: Cleaning</vt:lpstr>
      <vt:lpstr>Descriptive Analysis</vt:lpstr>
      <vt:lpstr>Analysis: Overall Demand Trend</vt:lpstr>
      <vt:lpstr>Analysis: Demand by Warehouse</vt:lpstr>
      <vt:lpstr>Analysis: Demand by Product Category</vt:lpstr>
      <vt:lpstr>Analysis: Stationarity Test (ADF)</vt:lpstr>
      <vt:lpstr>PowerPoint Presentation</vt:lpstr>
      <vt:lpstr>ML Algorithms (Overview)</vt:lpstr>
      <vt:lpstr>ML Algorithm: ARMA vs ARIMA</vt:lpstr>
      <vt:lpstr>Random Forest</vt:lpstr>
      <vt:lpstr>PowerPoint Presentation</vt:lpstr>
      <vt:lpstr>Next Steps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Demand Management for Spare Parts Using Historical Product Demand Data</dc:title>
  <dc:subject/>
  <dc:creator/>
  <cp:keywords/>
  <dc:description>generated using python-pptx</dc:description>
  <cp:lastModifiedBy>May Zin Ko</cp:lastModifiedBy>
  <cp:revision>51</cp:revision>
  <dcterms:created xsi:type="dcterms:W3CDTF">2013-01-27T09:14:16Z</dcterms:created>
  <dcterms:modified xsi:type="dcterms:W3CDTF">2026-05-07T06:10:16Z</dcterms:modified>
  <cp:category/>
</cp:coreProperties>
</file>