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75" r:id="rId2"/>
    <p:sldId id="298" r:id="rId3"/>
    <p:sldId id="299" r:id="rId4"/>
    <p:sldId id="306" r:id="rId5"/>
    <p:sldId id="258" r:id="rId6"/>
    <p:sldId id="259" r:id="rId7"/>
    <p:sldId id="260" r:id="rId8"/>
    <p:sldId id="300" r:id="rId9"/>
    <p:sldId id="261" r:id="rId10"/>
    <p:sldId id="262" r:id="rId11"/>
    <p:sldId id="277" r:id="rId12"/>
    <p:sldId id="278" r:id="rId13"/>
    <p:sldId id="263" r:id="rId14"/>
    <p:sldId id="305" r:id="rId15"/>
    <p:sldId id="264" r:id="rId16"/>
    <p:sldId id="279" r:id="rId17"/>
    <p:sldId id="280" r:id="rId18"/>
    <p:sldId id="265" r:id="rId19"/>
    <p:sldId id="281" r:id="rId20"/>
    <p:sldId id="282" r:id="rId21"/>
    <p:sldId id="283" r:id="rId22"/>
    <p:sldId id="284" r:id="rId23"/>
    <p:sldId id="285" r:id="rId24"/>
    <p:sldId id="286" r:id="rId25"/>
    <p:sldId id="301" r:id="rId26"/>
    <p:sldId id="266" r:id="rId27"/>
    <p:sldId id="289" r:id="rId28"/>
    <p:sldId id="307" r:id="rId29"/>
    <p:sldId id="288" r:id="rId30"/>
    <p:sldId id="268" r:id="rId31"/>
    <p:sldId id="269" r:id="rId32"/>
    <p:sldId id="292" r:id="rId33"/>
    <p:sldId id="294" r:id="rId34"/>
    <p:sldId id="293" r:id="rId35"/>
    <p:sldId id="295" r:id="rId36"/>
    <p:sldId id="302" r:id="rId37"/>
    <p:sldId id="270" r:id="rId38"/>
    <p:sldId id="271" r:id="rId39"/>
    <p:sldId id="296" r:id="rId40"/>
    <p:sldId id="308" r:id="rId41"/>
    <p:sldId id="309" r:id="rId42"/>
    <p:sldId id="303" r:id="rId43"/>
    <p:sldId id="272" r:id="rId44"/>
    <p:sldId id="304"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86915"/>
  </p:normalViewPr>
  <p:slideViewPr>
    <p:cSldViewPr snapToGrid="0" snapToObjects="1">
      <p:cViewPr>
        <p:scale>
          <a:sx n="112" d="100"/>
          <a:sy n="112" d="100"/>
        </p:scale>
        <p:origin x="1640" y="104"/>
      </p:cViewPr>
      <p:guideLst>
        <p:guide orient="horz" pos="2160"/>
        <p:guide pos="2880"/>
      </p:guideLst>
    </p:cSldViewPr>
  </p:slideViewPr>
  <p:notesTextViewPr>
    <p:cViewPr>
      <p:scale>
        <a:sx n="100" d="100"/>
        <a:sy n="100" d="100"/>
      </p:scale>
      <p:origin x="0" y="-168"/>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5B8B0D-514F-4A49-987F-B3CEE64741CC}" type="datetimeFigureOut">
              <a:rPr lang="en-DE" smtClean="0"/>
              <a:t>06.05.26</a:t>
            </a:fld>
            <a:endParaRPr lang="en-DE"/>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8B4316-0571-C34A-907E-71E40496A919}" type="slidenum">
              <a:rPr lang="en-DE" smtClean="0"/>
              <a:t>‹#›</a:t>
            </a:fld>
            <a:endParaRPr lang="en-DE"/>
          </a:p>
        </p:txBody>
      </p:sp>
    </p:spTree>
    <p:extLst>
      <p:ext uri="{BB962C8B-B14F-4D97-AF65-F5344CB8AC3E}">
        <p14:creationId xmlns:p14="http://schemas.microsoft.com/office/powerpoint/2010/main" val="1221161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"Good morning. Our project is titled Demand Management Using Historical Product Demand Data.</a:t>
            </a:r>
          </a:p>
          <a:p>
            <a:r>
              <a:rPr lang="en-GB" dirty="0"/>
              <a:t>The core idea is simple — can we use past order data to predict future demand more accurately, so that warehouses can plan inventory better and avoid both stockouts and overstock situations.</a:t>
            </a:r>
          </a:p>
          <a:p>
            <a:r>
              <a:rPr lang="en-GB" dirty="0"/>
              <a:t>My name is ??? , presenting together with Louis ???  and </a:t>
            </a:r>
            <a:r>
              <a:rPr lang="en-GB" dirty="0" err="1"/>
              <a:t>Nashitah</a:t>
            </a:r>
            <a:r>
              <a:rPr lang="en-GB" dirty="0"/>
              <a:t> ?? (May??)."</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1</a:t>
            </a:fld>
            <a:endParaRPr lang="en-DE"/>
          </a:p>
        </p:txBody>
      </p:sp>
    </p:spTree>
    <p:extLst>
      <p:ext uri="{BB962C8B-B14F-4D97-AF65-F5344CB8AC3E}">
        <p14:creationId xmlns:p14="http://schemas.microsoft.com/office/powerpoint/2010/main" val="347470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"Good morning everyone. My name is ???? and I am responsible for the Dataset part of this project.</a:t>
            </a:r>
          </a:p>
          <a:p>
            <a:r>
              <a:rPr lang="en-GB" dirty="0"/>
              <a:t>Let me quickly walk you through what I will cover today.</a:t>
            </a:r>
          </a:p>
          <a:p>
            <a:r>
              <a:rPr lang="en-GB" dirty="0"/>
              <a:t>I will start with a brief overview of the dataset — its structure and key features. Then I will explain how we understood and prepared the data — including cleaning steps. After that I will show the analysis findings — demand trends, warehouse </a:t>
            </a:r>
            <a:r>
              <a:rPr lang="en-GB" dirty="0" err="1"/>
              <a:t>behavior</a:t>
            </a:r>
            <a:r>
              <a:rPr lang="en-GB" dirty="0"/>
              <a:t>, and stationarity testing.</a:t>
            </a:r>
          </a:p>
          <a:p>
            <a:r>
              <a:rPr lang="en-GB" dirty="0"/>
              <a:t>Finally I will give a short overview of the ML algorithms we considered for this dataset.</a:t>
            </a:r>
          </a:p>
          <a:p>
            <a:r>
              <a:rPr lang="en-GB" dirty="0"/>
              <a:t>Let's begin."</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2</a:t>
            </a:fld>
            <a:endParaRPr lang="en-DE"/>
          </a:p>
        </p:txBody>
      </p:sp>
    </p:spTree>
    <p:extLst>
      <p:ext uri="{BB962C8B-B14F-4D97-AF65-F5344CB8AC3E}">
        <p14:creationId xmlns:p14="http://schemas.microsoft.com/office/powerpoint/2010/main" val="12498995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core business problem we are trying to solve comes down to three questions.</a:t>
            </a:r>
          </a:p>
          <a:p>
            <a:r>
              <a:rPr lang="en-GB" dirty="0"/>
              <a:t>How many products should we produce? When should we stock them? And where should we store them?</a:t>
            </a:r>
          </a:p>
          <a:p>
            <a:r>
              <a:rPr lang="en-GB" dirty="0"/>
              <a:t>These are classic inventory planning challenges. If you produce too much — you waste storage space and money. If you produce too little — you run out of stock and lose customers.</a:t>
            </a:r>
          </a:p>
          <a:p>
            <a:r>
              <a:rPr lang="en-GB" dirty="0"/>
              <a:t>Our scope is to </a:t>
            </a:r>
            <a:r>
              <a:rPr lang="en-GB" dirty="0" err="1"/>
              <a:t>analyze</a:t>
            </a:r>
            <a:r>
              <a:rPr lang="en-GB" dirty="0"/>
              <a:t> demand patterns by product category across four central warehouses, and use that historical data to build forecasting models that help answer these questions more accurately."</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4</a:t>
            </a:fld>
            <a:endParaRPr lang="en-DE"/>
          </a:p>
        </p:txBody>
      </p:sp>
    </p:spTree>
    <p:extLst>
      <p:ext uri="{BB962C8B-B14F-4D97-AF65-F5344CB8AC3E}">
        <p14:creationId xmlns:p14="http://schemas.microsoft.com/office/powerpoint/2010/main" val="13148809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project has four main objectives.</a:t>
            </a:r>
          </a:p>
          <a:p>
            <a:r>
              <a:rPr lang="en-GB" dirty="0"/>
              <a:t>First — </a:t>
            </a:r>
            <a:r>
              <a:rPr lang="en-GB" dirty="0" err="1"/>
              <a:t>analyze</a:t>
            </a:r>
            <a:r>
              <a:rPr lang="en-GB" dirty="0"/>
              <a:t> historical demand patterns across all four warehouses and product categories.</a:t>
            </a:r>
          </a:p>
          <a:p>
            <a:r>
              <a:rPr lang="en-GB" dirty="0"/>
              <a:t>Second — identify demand </a:t>
            </a:r>
            <a:r>
              <a:rPr lang="en-GB" dirty="0" err="1"/>
              <a:t>behavior</a:t>
            </a:r>
            <a:r>
              <a:rPr lang="en-GB" dirty="0"/>
              <a:t>, meaning understanding how demand changes over time, whether it trends up, down, or stays stable.</a:t>
            </a:r>
          </a:p>
          <a:p>
            <a:r>
              <a:rPr lang="en-GB" dirty="0"/>
              <a:t>Third — use these insights to support better replenishment decisions, so warehouses know when to reorder before stock runs out.</a:t>
            </a:r>
          </a:p>
          <a:p>
            <a:r>
              <a:rPr lang="en-GB" dirty="0"/>
              <a:t>And fourth — ultimately improve inventory planning by turning raw data into actionable demand forecasts.</a:t>
            </a:r>
          </a:p>
          <a:p>
            <a:r>
              <a:rPr lang="en-GB" dirty="0"/>
              <a:t>All four objectives connect together — you </a:t>
            </a:r>
            <a:r>
              <a:rPr lang="en-GB" dirty="0" err="1"/>
              <a:t>analyze</a:t>
            </a:r>
            <a:r>
              <a:rPr lang="en-GB" dirty="0"/>
              <a:t> first, then understand, then decide, then plan better."</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5</a:t>
            </a:fld>
            <a:endParaRPr lang="en-DE"/>
          </a:p>
        </p:txBody>
      </p:sp>
    </p:spTree>
    <p:extLst>
      <p:ext uri="{BB962C8B-B14F-4D97-AF65-F5344CB8AC3E}">
        <p14:creationId xmlns:p14="http://schemas.microsoft.com/office/powerpoint/2010/main" val="3578462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our project timeline from start to finish.</a:t>
            </a:r>
          </a:p>
          <a:p>
            <a:r>
              <a:rPr lang="en-GB" dirty="0"/>
              <a:t>We started with Business and Data Understanding in late March, followed by Data Preparation through April. We are currently in the Descriptive Analysis phase — which is exactly what today's milestone presentation covers.</a:t>
            </a:r>
          </a:p>
          <a:p>
            <a:r>
              <a:rPr lang="en-GB" dirty="0"/>
              <a:t>After today, we move into Modelling from May 7th, then Evaluation, and finally Finalization with the Final Presentation on June 25th and PDF submission on July 2nd.</a:t>
            </a:r>
          </a:p>
          <a:p>
            <a:r>
              <a:rPr lang="en-GB" dirty="0"/>
              <a:t>So today — May 7th — is our first major milestone. We are right on schedule."</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6</a:t>
            </a:fld>
            <a:endParaRPr lang="en-DE"/>
          </a:p>
        </p:txBody>
      </p:sp>
    </p:spTree>
    <p:extLst>
      <p:ext uri="{BB962C8B-B14F-4D97-AF65-F5344CB8AC3E}">
        <p14:creationId xmlns:p14="http://schemas.microsoft.com/office/powerpoint/2010/main" val="2753662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this milestone, we are delivering three things.</a:t>
            </a:r>
          </a:p>
          <a:p>
            <a:r>
              <a:rPr lang="en-GB" dirty="0"/>
              <a:t>First — a clean, </a:t>
            </a:r>
            <a:r>
              <a:rPr lang="en-GB" dirty="0" err="1"/>
              <a:t>preprocessed</a:t>
            </a:r>
            <a:r>
              <a:rPr lang="en-GB" dirty="0"/>
              <a:t> dataset ready for modelling, with over one million rows after removing missing values, cancellations, and duplicates.</a:t>
            </a:r>
          </a:p>
          <a:p>
            <a:r>
              <a:rPr lang="en-GB" dirty="0"/>
              <a:t>Second — a demand analysis report covering warehouse </a:t>
            </a:r>
            <a:r>
              <a:rPr lang="en-GB" dirty="0" err="1"/>
              <a:t>behavior</a:t>
            </a:r>
            <a:r>
              <a:rPr lang="en-GB" dirty="0"/>
              <a:t>, product category distribution, and stationarity testing.</a:t>
            </a:r>
          </a:p>
          <a:p>
            <a:r>
              <a:rPr lang="en-GB" dirty="0"/>
              <a:t>And third — actionable insights for inventory planning, such as which warehouses need the most attention and which product categories drive the majority of demand.</a:t>
            </a:r>
          </a:p>
          <a:p>
            <a:r>
              <a:rPr lang="en-GB" dirty="0"/>
              <a:t>These three deliverables form the foundation for the modelling phase that comes next.”  </a:t>
            </a:r>
            <a:br>
              <a:rPr lang="en-GB" dirty="0"/>
            </a:br>
            <a:br>
              <a:rPr lang="en-GB" dirty="0"/>
            </a:br>
            <a:r>
              <a:rPr lang="en-GB" dirty="0"/>
              <a:t>So, now I handover to my teammate </a:t>
            </a:r>
            <a:r>
              <a:rPr lang="en-GB" sz="1200" dirty="0" err="1">
                <a:effectLst/>
                <a:latin typeface="Poppins" pitchFamily="2" charset="77"/>
              </a:rPr>
              <a:t>Nashitah</a:t>
            </a:r>
            <a:endParaRPr lang="en-GB" dirty="0"/>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7</a:t>
            </a:fld>
            <a:endParaRPr lang="en-DE"/>
          </a:p>
        </p:txBody>
      </p:sp>
    </p:spTree>
    <p:extLst>
      <p:ext uri="{BB962C8B-B14F-4D97-AF65-F5344CB8AC3E}">
        <p14:creationId xmlns:p14="http://schemas.microsoft.com/office/powerpoint/2010/main" val="5504554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moving to my section — the Dataset.</a:t>
            </a:r>
          </a:p>
          <a:p>
            <a:r>
              <a:rPr lang="en-GB" dirty="0"/>
              <a:t>The dataset we used is titled Forecasts for Product Demand, published on Kaggle by Felix Zhao. It is publicly available and licensed under GPL 2, which allows free use for research and analysis.</a:t>
            </a:r>
          </a:p>
          <a:p>
            <a:r>
              <a:rPr lang="en-GB" dirty="0"/>
              <a:t>The dataset contains over one million rows — specifically 1,048,575 records — across 5 columns, covering order history from 2012 to 2016.</a:t>
            </a:r>
          </a:p>
          <a:p>
            <a:r>
              <a:rPr lang="en-GB" dirty="0"/>
              <a:t>It includes product codes, warehouse locations, product categories, order dates, and order quantities — everything we need to </a:t>
            </a:r>
            <a:r>
              <a:rPr lang="en-GB" dirty="0" err="1"/>
              <a:t>analyze</a:t>
            </a:r>
            <a:r>
              <a:rPr lang="en-GB" dirty="0"/>
              <a:t> demand patterns over time."</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26</a:t>
            </a:fld>
            <a:endParaRPr lang="en-DE"/>
          </a:p>
        </p:txBody>
      </p:sp>
    </p:spTree>
    <p:extLst>
      <p:ext uri="{BB962C8B-B14F-4D97-AF65-F5344CB8AC3E}">
        <p14:creationId xmlns:p14="http://schemas.microsoft.com/office/powerpoint/2010/main" val="26771542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dataset comes from a global manufacturing company that produces thousands of products across 33 product categories.</a:t>
            </a:r>
          </a:p>
          <a:p>
            <a:r>
              <a:rPr lang="en-GB" dirty="0"/>
              <a:t>Distribution is handled through four central warehouses, each serving its own region — Warehouse J, S, C, and A.</a:t>
            </a:r>
          </a:p>
          <a:p>
            <a:r>
              <a:rPr lang="en-GB" dirty="0"/>
              <a:t>An important business context here is the lead time — products are shipped internationally, meaning it takes over one month before stock arrives at the warehouse. This is exactly why accurate demand forecasting is so critical. By the time you realize stock is running low, it is already too late to reorder quickly.</a:t>
            </a:r>
          </a:p>
          <a:p>
            <a:r>
              <a:rPr lang="en-GB" dirty="0"/>
              <a:t>So the better we can predict future demand, the more efficiently the company can plan production and reduce unnecessary costs."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27</a:t>
            </a:fld>
            <a:endParaRPr lang="en-DE"/>
          </a:p>
        </p:txBody>
      </p:sp>
    </p:spTree>
    <p:extLst>
      <p:ext uri="{BB962C8B-B14F-4D97-AF65-F5344CB8AC3E}">
        <p14:creationId xmlns:p14="http://schemas.microsoft.com/office/powerpoint/2010/main" val="15489709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dataset contains 5 features: Product Code, Warehouse, Product Category, Date, and Order Demand.</a:t>
            </a:r>
          </a:p>
          <a:p>
            <a:r>
              <a:rPr lang="en-GB" dirty="0"/>
              <a:t>After we do some data Analysis , we found , demand values show high variability, meaning the gap between minimum and maximum order quantities is very large, which makes forecasting challenging.</a:t>
            </a:r>
          </a:p>
          <a:p>
            <a:r>
              <a:rPr lang="en-GB" dirty="0"/>
              <a:t>Second — seasonal patterns exist across all four warehouses, with repeating 12-month cycles.</a:t>
            </a:r>
          </a:p>
          <a:p>
            <a:r>
              <a:rPr lang="en-GB" dirty="0"/>
              <a:t>Third — demand is highly concentrated. Our ABC analysis showed that the top 20% of products account for 80% of total demand.</a:t>
            </a:r>
          </a:p>
          <a:p>
            <a:r>
              <a:rPr lang="en-GB" dirty="0"/>
              <a:t>And finally — demand differs significantly across warehouses. Warehouse J alone handles around 73% of all orders, while the other three warehouses share the remaining 27%.”</a:t>
            </a:r>
            <a:br>
              <a:rPr lang="en-GB" dirty="0"/>
            </a:br>
            <a:br>
              <a:rPr lang="en-GB" dirty="0"/>
            </a:br>
            <a:br>
              <a:rPr lang="en-GB" dirty="0"/>
            </a:br>
            <a:r>
              <a:rPr lang="en-GB" dirty="0"/>
              <a:t>Note: ABC analysis meaning : </a:t>
            </a:r>
            <a:r>
              <a:rPr lang="en-GB" b="1" dirty="0"/>
              <a:t>prioritize products by importance</a:t>
            </a:r>
            <a:r>
              <a:rPr lang="en-GB" dirty="0"/>
              <a:t> based on how much demand they generate.</a:t>
            </a:r>
          </a:p>
          <a:p>
            <a:r>
              <a:rPr lang="en-DE" dirty="0"/>
              <a:t>Class A, B, C</a:t>
            </a:r>
          </a:p>
        </p:txBody>
      </p:sp>
      <p:sp>
        <p:nvSpPr>
          <p:cNvPr id="4" name="Slide Number Placeholder 3"/>
          <p:cNvSpPr>
            <a:spLocks noGrp="1"/>
          </p:cNvSpPr>
          <p:nvPr>
            <p:ph type="sldNum" sz="quarter" idx="5"/>
          </p:nvPr>
        </p:nvSpPr>
        <p:spPr/>
        <p:txBody>
          <a:bodyPr/>
          <a:lstStyle/>
          <a:p>
            <a:fld id="{FD8B4316-0571-C34A-907E-71E40496A919}" type="slidenum">
              <a:rPr lang="en-DE" smtClean="0"/>
              <a:t>28</a:t>
            </a:fld>
            <a:endParaRPr lang="en-DE"/>
          </a:p>
        </p:txBody>
      </p:sp>
    </p:spTree>
    <p:extLst>
      <p:ext uri="{BB962C8B-B14F-4D97-AF65-F5344CB8AC3E}">
        <p14:creationId xmlns:p14="http://schemas.microsoft.com/office/powerpoint/2010/main" val="42604347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data quality issues we found before cleaning.</a:t>
            </a:r>
          </a:p>
          <a:p>
            <a:r>
              <a:rPr lang="en-GB" dirty="0"/>
              <a:t>Looking at the feature table, all 5 columns are stored as object type — meaning everything is treated as text, including Date and Order Demand which need to be numeric for analysis.</a:t>
            </a:r>
          </a:p>
          <a:p>
            <a:r>
              <a:rPr lang="en-GB" dirty="0"/>
              <a:t>The Date column has 11,239 missing values — about 1% of the dataset. These rows had to be removed because without a date, we cannot place that order in the time series.</a:t>
            </a:r>
          </a:p>
          <a:p>
            <a:r>
              <a:rPr lang="en-GB" dirty="0"/>
              <a:t>The Order Demand column also had inconsistent formatting — some values were written with parentheses like (100), which in accounting notation means negative. These represent order cancellations, so we removed them before </a:t>
            </a:r>
            <a:r>
              <a:rPr lang="en-GB" dirty="0" err="1"/>
              <a:t>modeling</a:t>
            </a:r>
            <a:r>
              <a:rPr lang="en-GB" dirty="0"/>
              <a:t>.</a:t>
            </a:r>
          </a:p>
          <a:p>
            <a:r>
              <a:rPr lang="en-GB" dirty="0"/>
              <a:t>After handling these issues, the dataset was ready for analysis."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29</a:t>
            </a:fld>
            <a:endParaRPr lang="en-DE"/>
          </a:p>
        </p:txBody>
      </p:sp>
    </p:spTree>
    <p:extLst>
      <p:ext uri="{BB962C8B-B14F-4D97-AF65-F5344CB8AC3E}">
        <p14:creationId xmlns:p14="http://schemas.microsoft.com/office/powerpoint/2010/main" val="1510985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our data cleaning steps with the exact row counts at each stage.</a:t>
            </a:r>
          </a:p>
          <a:p>
            <a:r>
              <a:rPr lang="en-GB" dirty="0"/>
              <a:t>We started with 1,048,575 rows in the raw dataset.</a:t>
            </a:r>
          </a:p>
          <a:p>
            <a:r>
              <a:rPr lang="en-GB" dirty="0"/>
              <a:t>First, we removed 11,239 rows that had missing Date values — without a date, we cannot place that order in the time series.</a:t>
            </a:r>
          </a:p>
          <a:p>
            <a:r>
              <a:rPr lang="en-GB" dirty="0"/>
              <a:t>Second, we removed 5,899 entries with parentheses formatting like (100), which represent order cancellations. These are not real fulfilled demand so we excluded them.</a:t>
            </a:r>
          </a:p>
          <a:p>
            <a:r>
              <a:rPr lang="en-GB" dirty="0"/>
              <a:t>Third, we converted the Date column to datetime format and Order Demand to integer — this is required before any time-based analysis can be done.</a:t>
            </a:r>
          </a:p>
          <a:p>
            <a:r>
              <a:rPr lang="en-GB" dirty="0"/>
              <a:t>Finally, we removed duplicates that appeared 5 or more times with identical values — these are likely system errors, not real orders.</a:t>
            </a:r>
          </a:p>
          <a:p>
            <a:r>
              <a:rPr lang="en-GB" dirty="0"/>
              <a:t>After all cleaning steps, our final dataset has 1,018,961 rows — we removed about 2.8% of the raw data in total."</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30</a:t>
            </a:fld>
            <a:endParaRPr lang="en-DE"/>
          </a:p>
        </p:txBody>
      </p:sp>
    </p:spTree>
    <p:extLst>
      <p:ext uri="{BB962C8B-B14F-4D97-AF65-F5344CB8AC3E}">
        <p14:creationId xmlns:p14="http://schemas.microsoft.com/office/powerpoint/2010/main" val="3537530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moving into the analysis section.</a:t>
            </a:r>
          </a:p>
          <a:p>
            <a:r>
              <a:rPr lang="en-GB" dirty="0"/>
              <a:t>I will walk through four areas. First — the overall demand trend across all warehouses over time. Second — how demand is distributed by warehouse. Third — which product categories drive the most demand. And finally — the stationarity test, where we use the ADF test to determine which forecasting model is appropriate for each warehouse.</a:t>
            </a:r>
          </a:p>
          <a:p>
            <a:r>
              <a:rPr lang="en-GB" dirty="0"/>
              <a:t>This last point connects directly to our ML algorithms slide that follows."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31</a:t>
            </a:fld>
            <a:endParaRPr lang="en-DE"/>
          </a:p>
        </p:txBody>
      </p:sp>
    </p:spTree>
    <p:extLst>
      <p:ext uri="{BB962C8B-B14F-4D97-AF65-F5344CB8AC3E}">
        <p14:creationId xmlns:p14="http://schemas.microsoft.com/office/powerpoint/2010/main" val="18591382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chart shows monthly demand for all four warehouses from 2012 to 2016.</a:t>
            </a:r>
          </a:p>
          <a:p>
            <a:r>
              <a:rPr lang="en-GB" dirty="0"/>
              <a:t>The green line — Warehouse J — sits far above the others, handling around 73% of all orders. It also shows a slight upward trend over time.</a:t>
            </a:r>
          </a:p>
          <a:p>
            <a:r>
              <a:rPr lang="en-GB" dirty="0"/>
              <a:t>The red line — Warehouse S — starts high but clearly declines toward 2016, suggesting a drop in regional demand.</a:t>
            </a:r>
          </a:p>
          <a:p>
            <a:r>
              <a:rPr lang="en-GB" dirty="0"/>
              <a:t>The orange line — Warehouse C — and the blue line — Warehouse A — both stay low and relatively flat throughout the entire period.</a:t>
            </a:r>
          </a:p>
          <a:p>
            <a:r>
              <a:rPr lang="en-GB" dirty="0"/>
              <a:t>This difference in </a:t>
            </a:r>
            <a:r>
              <a:rPr lang="en-GB" dirty="0" err="1"/>
              <a:t>behavior</a:t>
            </a:r>
            <a:r>
              <a:rPr lang="en-GB" dirty="0"/>
              <a:t> between warehouses is exactly why we need to test each one separately before choosing a forecasting model — which we will see in the following slides."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32</a:t>
            </a:fld>
            <a:endParaRPr lang="en-DE"/>
          </a:p>
        </p:txBody>
      </p:sp>
    </p:spTree>
    <p:extLst>
      <p:ext uri="{BB962C8B-B14F-4D97-AF65-F5344CB8AC3E}">
        <p14:creationId xmlns:p14="http://schemas.microsoft.com/office/powerpoint/2010/main" val="28520960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bar chart shows the total number of orders handled by each warehouse.</a:t>
            </a:r>
          </a:p>
          <a:p>
            <a:r>
              <a:rPr lang="en-GB" dirty="0"/>
              <a:t>Warehouse J is by far the largest — with around 764,000 orders, it handles 73% of all demand in the entire dataset. This makes it the most critical warehouse for forecasting accuracy.</a:t>
            </a:r>
          </a:p>
          <a:p>
            <a:r>
              <a:rPr lang="en-GB" dirty="0"/>
              <a:t>Warehouse A comes second with about 153,000 orders, followed by Warehouse S with 88,000, and Warehouse C with the fewest at around 42,000.</a:t>
            </a:r>
          </a:p>
          <a:p>
            <a:r>
              <a:rPr lang="en-GB" dirty="0"/>
              <a:t>This huge imbalance tells us that demand is not evenly spread — it is heavily concentrated in one warehouse. This is important context before we look at how each warehouse behaves over time."</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33</a:t>
            </a:fld>
            <a:endParaRPr lang="en-DE"/>
          </a:p>
        </p:txBody>
      </p:sp>
    </p:spTree>
    <p:extLst>
      <p:ext uri="{BB962C8B-B14F-4D97-AF65-F5344CB8AC3E}">
        <p14:creationId xmlns:p14="http://schemas.microsoft.com/office/powerpoint/2010/main" val="36510332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chart shows the top 10 product categories by demand for each warehouse separately.</a:t>
            </a:r>
          </a:p>
          <a:p>
            <a:r>
              <a:rPr lang="en-GB" dirty="0"/>
              <a:t>The pattern is the same across all four warehouses — Category_019 is by far the tallest bar every time. It dominates regardless of which warehouse you look at.</a:t>
            </a:r>
          </a:p>
          <a:p>
            <a:r>
              <a:rPr lang="en-GB" dirty="0"/>
              <a:t>After Category_019, the remaining categories drop off sharply — the gap between first and second is huge in every chart.</a:t>
            </a:r>
          </a:p>
          <a:p>
            <a:r>
              <a:rPr lang="en-GB" dirty="0"/>
              <a:t>This confirms our ABC analysis finding — demand is not spread evenly across categories. A small number of categories, especially Category_019, drive the majority of demand. This means we don't need to forecast all 33 categories equally — we should focus our effort on the top ones."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34</a:t>
            </a:fld>
            <a:endParaRPr lang="en-DE"/>
          </a:p>
        </p:txBody>
      </p:sp>
    </p:spTree>
    <p:extLst>
      <p:ext uri="{BB962C8B-B14F-4D97-AF65-F5344CB8AC3E}">
        <p14:creationId xmlns:p14="http://schemas.microsoft.com/office/powerpoint/2010/main" val="1414012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chart shows the ADF stationarity test result for each warehouse — the p-value is shown directly in each chart title.</a:t>
            </a:r>
          </a:p>
          <a:p>
            <a:r>
              <a:rPr lang="en-GB" dirty="0"/>
              <a:t>Warehouse J and Warehouse S both have p-values above 0.05 — meaning they are not stationary. You can see why visually — Warehouse J trends upward and Warehouse S trends downward over time.</a:t>
            </a:r>
          </a:p>
          <a:p>
            <a:r>
              <a:rPr lang="en-GB" dirty="0"/>
              <a:t>Warehouse C and Warehouse A both have p-values of 0.000 — clearly stationary. Their demand fluctuates but stays around the same level.</a:t>
            </a:r>
          </a:p>
          <a:p>
            <a:r>
              <a:rPr lang="en-GB" dirty="0"/>
              <a:t>This result directly determines which forecasting model we use. Stationary warehouses can use ARMA directly. Non-stationary ones need differencing first — which is what ARIMA does."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35</a:t>
            </a:fld>
            <a:endParaRPr lang="en-DE"/>
          </a:p>
        </p:txBody>
      </p:sp>
    </p:spTree>
    <p:extLst>
      <p:ext uri="{BB962C8B-B14F-4D97-AF65-F5344CB8AC3E}">
        <p14:creationId xmlns:p14="http://schemas.microsoft.com/office/powerpoint/2010/main" val="13146031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the two forecasting models we selected based on our stationarity test results.</a:t>
            </a:r>
          </a:p>
          <a:p>
            <a:r>
              <a:rPr lang="en-GB" dirty="0"/>
              <a:t>On the left — ARMA. This is used for stationary data, where demand fluctuates around a stable mean with no trend. We apply it directly to Warehouse C and Warehouse A — no extra steps needed, straight to forecast.</a:t>
            </a:r>
          </a:p>
          <a:p>
            <a:r>
              <a:rPr lang="en-GB" dirty="0"/>
              <a:t>On the right — ARIMA. This is used for non-stationary data that has a clear trend. For Warehouse J and Warehouse S, we first apply a differencing step — this removes the trend and makes the data stationary. Then we apply ARMA on top. That is what the I in ARIMA stands for — Integrated, meaning the differencing step.</a:t>
            </a:r>
          </a:p>
          <a:p>
            <a:r>
              <a:rPr lang="en-GB" dirty="0"/>
              <a:t>So the key difference is simple — ARMA is two steps, ARIMA is three steps because it needs to remove the trend first.</a:t>
            </a:r>
          </a:p>
          <a:p>
            <a:r>
              <a:rPr lang="en-GB" dirty="0"/>
              <a:t>Our hypothesis is that these time series models will outperform Random Forest for this dataset, because our data has clear time-based structure and seasonal patterns — which is exactly what ARMA and ARIMA are designed for."</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38</a:t>
            </a:fld>
            <a:endParaRPr lang="en-DE"/>
          </a:p>
        </p:txBody>
      </p:sp>
    </p:spTree>
    <p:extLst>
      <p:ext uri="{BB962C8B-B14F-4D97-AF65-F5344CB8AC3E}">
        <p14:creationId xmlns:p14="http://schemas.microsoft.com/office/powerpoint/2010/main" val="8230914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second ML algorithm — Random Forest, which is a true machine learning approach.</a:t>
            </a:r>
          </a:p>
          <a:p>
            <a:r>
              <a:rPr lang="en-GB" dirty="0"/>
              <a:t>The idea is simple. Instead of building one model, Random Forest builds many decision trees — up to 100 or more. Each tree is trained on a different random sample of the historical demand data.</a:t>
            </a:r>
          </a:p>
          <a:p>
            <a:r>
              <a:rPr lang="en-GB" dirty="0"/>
              <a:t>Every tree makes its own independent prediction — Tree 1 predicts 5,200, Tree 2 predicts 4,900, Tree N predicts 5,100, and so on.</a:t>
            </a:r>
          </a:p>
          <a:p>
            <a:r>
              <a:rPr lang="en-GB" dirty="0"/>
              <a:t>The final forecast is simply the average of all predictions — in this case 5,067.</a:t>
            </a:r>
          </a:p>
          <a:p>
            <a:r>
              <a:rPr lang="en-GB" dirty="0"/>
              <a:t>The reason this works well is that no single tree decides alone. By averaging many trees, the model becomes more stable and less sensitive to noise or outliers in the data.</a:t>
            </a:r>
          </a:p>
          <a:p>
            <a:r>
              <a:rPr lang="en-GB" dirty="0"/>
              <a:t>However — compared to ARIMA and ARMA — Random Forest does not naturally understand time or seasonality. It would need extra feature engineering to capture those patterns. This is why for our dataset, we believe ARIMA and ARMA are the more appropriate choice."</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39</a:t>
            </a:fld>
            <a:endParaRPr lang="en-DE"/>
          </a:p>
        </p:txBody>
      </p:sp>
    </p:spTree>
    <p:extLst>
      <p:ext uri="{BB962C8B-B14F-4D97-AF65-F5344CB8AC3E}">
        <p14:creationId xmlns:p14="http://schemas.microsoft.com/office/powerpoint/2010/main" val="13321566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"Finally, our next steps are organized into three phases.</a:t>
            </a:r>
          </a:p>
          <a:p>
            <a:r>
              <a:rPr lang="en-GB" dirty="0"/>
              <a:t>In the short term — which is our next phase starting from May 7th — we will apply the forecasting models we discussed today. ARIMA for Warehouse J and S, ARMA for Warehouse C and A, and we will measure accuracy using MAE, RMSE, and MAPE.</a:t>
            </a:r>
          </a:p>
          <a:p>
            <a:r>
              <a:rPr lang="en-GB" dirty="0"/>
              <a:t>In the mid term, we will use those forecast results to develop better inventory strategies — specifically optimizing stock levels across all four warehouses to reduce both overstock and stockouts.</a:t>
            </a:r>
          </a:p>
          <a:p>
            <a:r>
              <a:rPr lang="en-GB" dirty="0"/>
              <a:t>And in the long term, the goal is to integrate real-time demand data so the system can update forecasts automatically and support continuous data-driven decision making.</a:t>
            </a:r>
          </a:p>
          <a:p>
            <a:r>
              <a:rPr lang="en-GB" dirty="0"/>
              <a:t>Thank you — that concludes our milestone presentation. We are happy to answer any questions."</a:t>
            </a:r>
          </a:p>
          <a:p>
            <a:endParaRPr lang="en-DE" dirty="0"/>
          </a:p>
        </p:txBody>
      </p:sp>
      <p:sp>
        <p:nvSpPr>
          <p:cNvPr id="4" name="Slide Number Placeholder 3"/>
          <p:cNvSpPr>
            <a:spLocks noGrp="1"/>
          </p:cNvSpPr>
          <p:nvPr>
            <p:ph type="sldNum" sz="quarter" idx="5"/>
          </p:nvPr>
        </p:nvSpPr>
        <p:spPr/>
        <p:txBody>
          <a:bodyPr/>
          <a:lstStyle/>
          <a:p>
            <a:fld id="{FD8B4316-0571-C34A-907E-71E40496A919}" type="slidenum">
              <a:rPr lang="en-DE" smtClean="0"/>
              <a:t>43</a:t>
            </a:fld>
            <a:endParaRPr lang="en-DE"/>
          </a:p>
        </p:txBody>
      </p:sp>
    </p:spTree>
    <p:extLst>
      <p:ext uri="{BB962C8B-B14F-4D97-AF65-F5344CB8AC3E}">
        <p14:creationId xmlns:p14="http://schemas.microsoft.com/office/powerpoint/2010/main" val="33234923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B4AD6E4-622A-6749-8F7D-E8B25786878A}" type="datetime1">
              <a:rPr lang="de-DE" smtClean="0"/>
              <a:t>06.05.26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8460B7-3229-7845-B5D3-DB62C9EC7D75}" type="datetime1">
              <a:rPr lang="de-DE" smtClean="0"/>
              <a:t>06.05.26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F64DE8-EDD7-4B4E-8CE5-695E4F632203}" type="datetime1">
              <a:rPr lang="de-DE" smtClean="0"/>
              <a:t>06.05.26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E32E268-FC60-A647-8F49-4E9B43566E7F}" type="datetime1">
              <a:rPr lang="de-DE" smtClean="0"/>
              <a:t>06.05.26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5DC4B85-43B2-4041-A472-2B29188B9E0E}" type="datetime1">
              <a:rPr lang="de-DE" smtClean="0"/>
              <a:t>06.05.26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E2E4553-9163-E141-93D4-B48BCF202279}" type="datetime1">
              <a:rPr lang="de-DE" smtClean="0"/>
              <a:t>06.05.26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33ABE0-3C07-A749-883D-E9613ED5D8F3}" type="datetime1">
              <a:rPr lang="de-DE" smtClean="0"/>
              <a:t>06.05.26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D6E3937-EA96-8848-A559-C94D69057A03}" type="datetime1">
              <a:rPr lang="de-DE" smtClean="0"/>
              <a:t>06.05.26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5CA443F-916E-CC48-BD63-13FC066034B6}" type="datetime1">
              <a:rPr lang="de-DE" smtClean="0"/>
              <a:t>06.05.26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F7E27F5-F84F-2640-86A4-6DA1DA163F34}" type="datetime1">
              <a:rPr lang="de-DE" smtClean="0"/>
              <a:t>06.05.26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2E1B825-E9F6-D246-88C6-92C66F91EFE3}" type="datetime1">
              <a:rPr lang="de-DE" smtClean="0"/>
              <a:t>06.05.26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2672FCA-2548-DA44-923C-33DFA38ED6B2}" type="datetime1">
              <a:rPr lang="de-DE" smtClean="0"/>
              <a:t>06.05.26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hyperlink" Target="https://www.kaggle.com/datasets/felixzhao/productdemandforecast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82EB4-C05B-6C04-3074-E25977854F73}"/>
              </a:ext>
            </a:extLst>
          </p:cNvPr>
          <p:cNvSpPr>
            <a:spLocks noGrp="1"/>
          </p:cNvSpPr>
          <p:nvPr>
            <p:ph type="title"/>
          </p:nvPr>
        </p:nvSpPr>
        <p:spPr>
          <a:xfrm>
            <a:off x="457200" y="2479955"/>
            <a:ext cx="8229600" cy="1143000"/>
          </a:xfrm>
        </p:spPr>
        <p:txBody>
          <a:bodyPr>
            <a:normAutofit fontScale="90000"/>
          </a:bodyPr>
          <a:lstStyle/>
          <a:p>
            <a:r>
              <a:rPr lang="en-GB" b="0" i="0" u="none" strike="noStrike" dirty="0">
                <a:solidFill>
                  <a:srgbClr val="000000"/>
                </a:solidFill>
                <a:effectLst/>
              </a:rPr>
              <a:t>Demand Management Using Historical Product Demand Data</a:t>
            </a:r>
            <a:endParaRPr lang="en-DE" dirty="0"/>
          </a:p>
        </p:txBody>
      </p:sp>
      <p:sp>
        <p:nvSpPr>
          <p:cNvPr id="3" name="TextBox 2">
            <a:extLst>
              <a:ext uri="{FF2B5EF4-FFF2-40B4-BE49-F238E27FC236}">
                <a16:creationId xmlns:a16="http://schemas.microsoft.com/office/drawing/2014/main" id="{28D92511-0CF3-8E62-E5C5-73988C69C989}"/>
              </a:ext>
            </a:extLst>
          </p:cNvPr>
          <p:cNvSpPr txBox="1"/>
          <p:nvPr/>
        </p:nvSpPr>
        <p:spPr>
          <a:xfrm>
            <a:off x="6153375" y="5142155"/>
            <a:ext cx="2743200" cy="1200329"/>
          </a:xfrm>
          <a:prstGeom prst="rect">
            <a:avLst/>
          </a:prstGeom>
          <a:noFill/>
        </p:spPr>
        <p:txBody>
          <a:bodyPr wrap="square" rtlCol="0">
            <a:spAutoFit/>
          </a:bodyPr>
          <a:lstStyle/>
          <a:p>
            <a:r>
              <a:rPr lang="en-DE" dirty="0"/>
              <a:t>Presented by:</a:t>
            </a:r>
          </a:p>
          <a:p>
            <a:pPr marL="285750" indent="-285750">
              <a:buFont typeface="Wingdings" pitchFamily="2" charset="2"/>
              <a:buChar char="ü"/>
            </a:pPr>
            <a:r>
              <a:rPr lang="en-GB" sz="1800" dirty="0">
                <a:effectLst/>
              </a:rPr>
              <a:t>Louis </a:t>
            </a:r>
            <a:r>
              <a:rPr lang="en-GB" sz="1800" dirty="0" err="1">
                <a:effectLst/>
              </a:rPr>
              <a:t>Odinkemelu</a:t>
            </a:r>
            <a:r>
              <a:rPr lang="en-GB" sz="1800" dirty="0">
                <a:effectLst/>
              </a:rPr>
              <a:t> </a:t>
            </a:r>
            <a:endParaRPr lang="en-DE" dirty="0"/>
          </a:p>
          <a:p>
            <a:pPr marL="285750" indent="-285750">
              <a:buFont typeface="Wingdings" pitchFamily="2" charset="2"/>
              <a:buChar char="ü"/>
            </a:pPr>
            <a:r>
              <a:rPr lang="en-DE" dirty="0"/>
              <a:t>May Zin Ko</a:t>
            </a:r>
          </a:p>
          <a:p>
            <a:pPr marL="285750" indent="-285750">
              <a:buFont typeface="Wingdings" pitchFamily="2" charset="2"/>
              <a:buChar char="ü"/>
            </a:pPr>
            <a:r>
              <a:rPr lang="en-GB" sz="1800" dirty="0">
                <a:effectLst/>
              </a:rPr>
              <a:t>Zainab </a:t>
            </a:r>
            <a:r>
              <a:rPr lang="en-GB" sz="1800" dirty="0" err="1">
                <a:effectLst/>
              </a:rPr>
              <a:t>Nashitah</a:t>
            </a:r>
            <a:r>
              <a:rPr lang="en-GB" sz="1800" dirty="0">
                <a:effectLst/>
              </a:rPr>
              <a:t> </a:t>
            </a:r>
            <a:endParaRPr lang="en-GB" dirty="0">
              <a:effectLst/>
            </a:endParaRPr>
          </a:p>
        </p:txBody>
      </p:sp>
      <p:sp>
        <p:nvSpPr>
          <p:cNvPr id="4" name="Footer Placeholder 3">
            <a:extLst>
              <a:ext uri="{FF2B5EF4-FFF2-40B4-BE49-F238E27FC236}">
                <a16:creationId xmlns:a16="http://schemas.microsoft.com/office/drawing/2014/main" id="{CEB5736D-B62A-05B7-1718-84C678677641}"/>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5" name="Slide Number Placeholder 4">
            <a:extLst>
              <a:ext uri="{FF2B5EF4-FFF2-40B4-BE49-F238E27FC236}">
                <a16:creationId xmlns:a16="http://schemas.microsoft.com/office/drawing/2014/main" id="{8BD433DC-7832-6977-D0FA-98AD8FF481D9}"/>
              </a:ext>
            </a:extLst>
          </p:cNvPr>
          <p:cNvSpPr>
            <a:spLocks noGrp="1"/>
          </p:cNvSpPr>
          <p:nvPr>
            <p:ph type="sldNum" sz="quarter" idx="12"/>
          </p:nvPr>
        </p:nvSpPr>
        <p:spPr/>
        <p:txBody>
          <a:bodyPr/>
          <a:lstStyle/>
          <a:p>
            <a:fld id="{C1FF6DA9-008F-8B48-92A6-B652298478BF}" type="slidenum">
              <a:rPr lang="en-US" smtClean="0"/>
              <a:t>1</a:t>
            </a:fld>
            <a:endParaRPr lang="en-US"/>
          </a:p>
        </p:txBody>
      </p:sp>
    </p:spTree>
    <p:extLst>
      <p:ext uri="{BB962C8B-B14F-4D97-AF65-F5344CB8AC3E}">
        <p14:creationId xmlns:p14="http://schemas.microsoft.com/office/powerpoint/2010/main" val="3764851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50D61-56EA-237B-99CD-6D83F1C4DAEE}"/>
              </a:ext>
            </a:extLst>
          </p:cNvPr>
          <p:cNvSpPr>
            <a:spLocks noGrp="1"/>
          </p:cNvSpPr>
          <p:nvPr>
            <p:ph type="title"/>
          </p:nvPr>
        </p:nvSpPr>
        <p:spPr/>
        <p:txBody>
          <a:bodyPr/>
          <a:lstStyle/>
          <a:p>
            <a:r>
              <a:rPr lang="en-DE" dirty="0"/>
              <a:t>Table of Contents</a:t>
            </a:r>
          </a:p>
        </p:txBody>
      </p:sp>
      <p:sp>
        <p:nvSpPr>
          <p:cNvPr id="3" name="Content Placeholder 2">
            <a:extLst>
              <a:ext uri="{FF2B5EF4-FFF2-40B4-BE49-F238E27FC236}">
                <a16:creationId xmlns:a16="http://schemas.microsoft.com/office/drawing/2014/main" id="{394BA450-6020-24A6-9F77-2D28D094AE4F}"/>
              </a:ext>
            </a:extLst>
          </p:cNvPr>
          <p:cNvSpPr>
            <a:spLocks noGrp="1"/>
          </p:cNvSpPr>
          <p:nvPr>
            <p:ph sz="half" idx="1"/>
          </p:nvPr>
        </p:nvSpPr>
        <p:spPr/>
        <p:txBody>
          <a:bodyPr>
            <a:normAutofit lnSpcReduction="10000"/>
          </a:bodyPr>
          <a:lstStyle/>
          <a:p>
            <a:r>
              <a:rPr lang="en-GB" dirty="0"/>
              <a:t>Introduction</a:t>
            </a:r>
          </a:p>
          <a:p>
            <a:pPr lvl="1"/>
            <a:r>
              <a:rPr lang="en-GB" dirty="0"/>
              <a:t>Objectives, Milestones, Deliverables </a:t>
            </a:r>
          </a:p>
          <a:p>
            <a:r>
              <a:rPr lang="en-GB" dirty="0"/>
              <a:t>Business Case</a:t>
            </a:r>
          </a:p>
          <a:p>
            <a:pPr lvl="1"/>
            <a:r>
              <a:rPr lang="en-GB" dirty="0"/>
              <a:t>Business Understanding</a:t>
            </a:r>
          </a:p>
          <a:p>
            <a:pPr lvl="1"/>
            <a:r>
              <a:rPr lang="en-GB" dirty="0"/>
              <a:t>Theoretical Background</a:t>
            </a:r>
          </a:p>
          <a:p>
            <a:r>
              <a:rPr lang="en-GB" dirty="0"/>
              <a:t>Dataset</a:t>
            </a:r>
          </a:p>
          <a:p>
            <a:pPr lvl="1"/>
            <a:r>
              <a:rPr lang="en-GB" dirty="0"/>
              <a:t>Overview, Description</a:t>
            </a:r>
          </a:p>
          <a:p>
            <a:pPr lvl="1"/>
            <a:r>
              <a:rPr lang="en-GB" dirty="0"/>
              <a:t>Understanding &amp; Preparation</a:t>
            </a:r>
          </a:p>
          <a:p>
            <a:pPr lvl="1"/>
            <a:r>
              <a:rPr lang="en-GB" dirty="0"/>
              <a:t>Analysis</a:t>
            </a:r>
            <a:endParaRPr lang="en-DE" dirty="0"/>
          </a:p>
        </p:txBody>
      </p:sp>
      <p:sp>
        <p:nvSpPr>
          <p:cNvPr id="4" name="Content Placeholder 3">
            <a:extLst>
              <a:ext uri="{FF2B5EF4-FFF2-40B4-BE49-F238E27FC236}">
                <a16:creationId xmlns:a16="http://schemas.microsoft.com/office/drawing/2014/main" id="{AA003EB2-5CE1-3193-A7D0-1BE92779596C}"/>
              </a:ext>
            </a:extLst>
          </p:cNvPr>
          <p:cNvSpPr>
            <a:spLocks noGrp="1"/>
          </p:cNvSpPr>
          <p:nvPr>
            <p:ph sz="half" idx="2"/>
          </p:nvPr>
        </p:nvSpPr>
        <p:spPr/>
        <p:txBody>
          <a:bodyPr>
            <a:normAutofit lnSpcReduction="10000"/>
          </a:bodyPr>
          <a:lstStyle/>
          <a:p>
            <a:r>
              <a:rPr lang="en-GB" sz="2400" dirty="0"/>
              <a:t>ML Algorithms</a:t>
            </a:r>
          </a:p>
          <a:p>
            <a:r>
              <a:rPr lang="en-GB" sz="2400" dirty="0"/>
              <a:t>Next Steps</a:t>
            </a:r>
            <a:endParaRPr lang="en-DE" sz="2400" dirty="0"/>
          </a:p>
        </p:txBody>
      </p:sp>
      <p:sp>
        <p:nvSpPr>
          <p:cNvPr id="5" name="Footer Placeholder 4">
            <a:extLst>
              <a:ext uri="{FF2B5EF4-FFF2-40B4-BE49-F238E27FC236}">
                <a16:creationId xmlns:a16="http://schemas.microsoft.com/office/drawing/2014/main" id="{395FB20F-CFEC-2031-1EDE-5E8FE42C00F7}"/>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6" name="Slide Number Placeholder 5">
            <a:extLst>
              <a:ext uri="{FF2B5EF4-FFF2-40B4-BE49-F238E27FC236}">
                <a16:creationId xmlns:a16="http://schemas.microsoft.com/office/drawing/2014/main" id="{263F5731-E179-9CAF-D699-0C1AE29A9512}"/>
              </a:ext>
            </a:extLst>
          </p:cNvPr>
          <p:cNvSpPr>
            <a:spLocks noGrp="1"/>
          </p:cNvSpPr>
          <p:nvPr>
            <p:ph type="sldNum" sz="quarter" idx="12"/>
          </p:nvPr>
        </p:nvSpPr>
        <p:spPr/>
        <p:txBody>
          <a:bodyPr/>
          <a:lstStyle/>
          <a:p>
            <a:fld id="{C1FF6DA9-008F-8B48-92A6-B652298478BF}" type="slidenum">
              <a:rPr lang="en-US" smtClean="0"/>
              <a:t>2</a:t>
            </a:fld>
            <a:endParaRPr lang="en-US"/>
          </a:p>
        </p:txBody>
      </p:sp>
    </p:spTree>
    <p:extLst>
      <p:ext uri="{BB962C8B-B14F-4D97-AF65-F5344CB8AC3E}">
        <p14:creationId xmlns:p14="http://schemas.microsoft.com/office/powerpoint/2010/main" val="1534503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Introduction</a:t>
            </a:r>
          </a:p>
        </p:txBody>
      </p:sp>
      <p:sp>
        <p:nvSpPr>
          <p:cNvPr id="3" name="Footer Placeholder 2">
            <a:extLst>
              <a:ext uri="{FF2B5EF4-FFF2-40B4-BE49-F238E27FC236}">
                <a16:creationId xmlns:a16="http://schemas.microsoft.com/office/drawing/2014/main" id="{39087299-4DFD-BB05-8035-A4EB7EC63221}"/>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4" name="Slide Number Placeholder 3">
            <a:extLst>
              <a:ext uri="{FF2B5EF4-FFF2-40B4-BE49-F238E27FC236}">
                <a16:creationId xmlns:a16="http://schemas.microsoft.com/office/drawing/2014/main" id="{E969200C-5B3B-FFC0-634F-F5BECA08A80B}"/>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965937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088D6-13A1-3BC0-1ED1-BC7EC38B0736}"/>
              </a:ext>
            </a:extLst>
          </p:cNvPr>
          <p:cNvSpPr>
            <a:spLocks noGrp="1"/>
          </p:cNvSpPr>
          <p:nvPr>
            <p:ph type="title"/>
          </p:nvPr>
        </p:nvSpPr>
        <p:spPr/>
        <p:txBody>
          <a:bodyPr/>
          <a:lstStyle/>
          <a:p>
            <a:r>
              <a:rPr lang="en-DE" dirty="0"/>
              <a:t>IDEA &amp; Scope</a:t>
            </a:r>
          </a:p>
        </p:txBody>
      </p:sp>
      <p:sp>
        <p:nvSpPr>
          <p:cNvPr id="3" name="Text Placeholder 2">
            <a:extLst>
              <a:ext uri="{FF2B5EF4-FFF2-40B4-BE49-F238E27FC236}">
                <a16:creationId xmlns:a16="http://schemas.microsoft.com/office/drawing/2014/main" id="{B15EE75C-54E0-92A3-2128-C3E7ADDE2B38}"/>
              </a:ext>
            </a:extLst>
          </p:cNvPr>
          <p:cNvSpPr>
            <a:spLocks noGrp="1"/>
          </p:cNvSpPr>
          <p:nvPr>
            <p:ph type="body" idx="1"/>
          </p:nvPr>
        </p:nvSpPr>
        <p:spPr/>
        <p:txBody>
          <a:bodyPr/>
          <a:lstStyle/>
          <a:p>
            <a:r>
              <a:rPr lang="en-DE" dirty="0"/>
              <a:t>What are we trying to solve?</a:t>
            </a:r>
          </a:p>
        </p:txBody>
      </p:sp>
      <p:sp>
        <p:nvSpPr>
          <p:cNvPr id="4" name="Content Placeholder 3">
            <a:extLst>
              <a:ext uri="{FF2B5EF4-FFF2-40B4-BE49-F238E27FC236}">
                <a16:creationId xmlns:a16="http://schemas.microsoft.com/office/drawing/2014/main" id="{364985BB-5A00-922B-386F-7610865BBA1D}"/>
              </a:ext>
            </a:extLst>
          </p:cNvPr>
          <p:cNvSpPr>
            <a:spLocks noGrp="1"/>
          </p:cNvSpPr>
          <p:nvPr>
            <p:ph sz="half" idx="2"/>
          </p:nvPr>
        </p:nvSpPr>
        <p:spPr/>
        <p:txBody>
          <a:bodyPr/>
          <a:lstStyle/>
          <a:p>
            <a:r>
              <a:rPr lang="en-US" sz="2400" dirty="0"/>
              <a:t>How many products should we produce?</a:t>
            </a:r>
          </a:p>
          <a:p>
            <a:r>
              <a:rPr lang="en-US" sz="2400" dirty="0"/>
              <a:t>When should we stock them?</a:t>
            </a:r>
          </a:p>
          <a:p>
            <a:r>
              <a:rPr lang="en-US" sz="2400" dirty="0"/>
              <a:t>Where should we store them?</a:t>
            </a:r>
          </a:p>
        </p:txBody>
      </p:sp>
      <p:sp>
        <p:nvSpPr>
          <p:cNvPr id="5" name="Text Placeholder 4">
            <a:extLst>
              <a:ext uri="{FF2B5EF4-FFF2-40B4-BE49-F238E27FC236}">
                <a16:creationId xmlns:a16="http://schemas.microsoft.com/office/drawing/2014/main" id="{F155DDBA-58F2-B609-A275-0F766E4870E6}"/>
              </a:ext>
            </a:extLst>
          </p:cNvPr>
          <p:cNvSpPr>
            <a:spLocks noGrp="1"/>
          </p:cNvSpPr>
          <p:nvPr>
            <p:ph type="body" sz="quarter" idx="3"/>
          </p:nvPr>
        </p:nvSpPr>
        <p:spPr/>
        <p:txBody>
          <a:bodyPr/>
          <a:lstStyle/>
          <a:p>
            <a:r>
              <a:rPr lang="en-DE" dirty="0"/>
              <a:t>What is our scope?</a:t>
            </a:r>
          </a:p>
        </p:txBody>
      </p:sp>
      <p:sp>
        <p:nvSpPr>
          <p:cNvPr id="6" name="Content Placeholder 5">
            <a:extLst>
              <a:ext uri="{FF2B5EF4-FFF2-40B4-BE49-F238E27FC236}">
                <a16:creationId xmlns:a16="http://schemas.microsoft.com/office/drawing/2014/main" id="{6E2BE2F6-CF3A-2C5C-9351-2F9A3C7C240B}"/>
              </a:ext>
            </a:extLst>
          </p:cNvPr>
          <p:cNvSpPr>
            <a:spLocks noGrp="1"/>
          </p:cNvSpPr>
          <p:nvPr>
            <p:ph sz="quarter" idx="4"/>
          </p:nvPr>
        </p:nvSpPr>
        <p:spPr/>
        <p:txBody>
          <a:bodyPr/>
          <a:lstStyle/>
          <a:p>
            <a:pPr marL="0" indent="0">
              <a:buNone/>
            </a:pPr>
            <a:r>
              <a:rPr lang="en-GB" b="0" i="0" u="none" strike="noStrike" dirty="0">
                <a:solidFill>
                  <a:srgbClr val="000000"/>
                </a:solidFill>
                <a:effectLst/>
                <a:latin typeface="-webkit-standard"/>
              </a:rPr>
              <a:t>Demand analysis by product category across multiple warehouses to support inventory planning</a:t>
            </a:r>
            <a:endParaRPr lang="en-DE" dirty="0"/>
          </a:p>
          <a:p>
            <a:pPr marL="0" indent="0">
              <a:buNone/>
            </a:pPr>
            <a:endParaRPr lang="en-DE" dirty="0"/>
          </a:p>
        </p:txBody>
      </p:sp>
      <p:sp>
        <p:nvSpPr>
          <p:cNvPr id="7" name="Footer Placeholder 6">
            <a:extLst>
              <a:ext uri="{FF2B5EF4-FFF2-40B4-BE49-F238E27FC236}">
                <a16:creationId xmlns:a16="http://schemas.microsoft.com/office/drawing/2014/main" id="{FF80A398-326A-F780-348B-C28E352616B4}"/>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8" name="Slide Number Placeholder 7">
            <a:extLst>
              <a:ext uri="{FF2B5EF4-FFF2-40B4-BE49-F238E27FC236}">
                <a16:creationId xmlns:a16="http://schemas.microsoft.com/office/drawing/2014/main" id="{9C5AEF3B-F60F-EB55-456F-D8CAB97AC579}"/>
              </a:ext>
            </a:extLst>
          </p:cNvPr>
          <p:cNvSpPr>
            <a:spLocks noGrp="1"/>
          </p:cNvSpPr>
          <p:nvPr>
            <p:ph type="sldNum" sz="quarter" idx="12"/>
          </p:nvPr>
        </p:nvSpPr>
        <p:spPr/>
        <p:txBody>
          <a:bodyPr/>
          <a:lstStyle/>
          <a:p>
            <a:fld id="{C1FF6DA9-008F-8B48-92A6-B652298478BF}" type="slidenum">
              <a:rPr lang="en-US" smtClean="0"/>
              <a:t>4</a:t>
            </a:fld>
            <a:endParaRPr lang="en-US"/>
          </a:p>
        </p:txBody>
      </p:sp>
    </p:spTree>
    <p:extLst>
      <p:ext uri="{BB962C8B-B14F-4D97-AF65-F5344CB8AC3E}">
        <p14:creationId xmlns:p14="http://schemas.microsoft.com/office/powerpoint/2010/main" val="726108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Objectives</a:t>
            </a:r>
          </a:p>
        </p:txBody>
      </p:sp>
      <p:sp>
        <p:nvSpPr>
          <p:cNvPr id="3" name="Content Placeholder 2"/>
          <p:cNvSpPr>
            <a:spLocks noGrp="1"/>
          </p:cNvSpPr>
          <p:nvPr>
            <p:ph idx="1"/>
          </p:nvPr>
        </p:nvSpPr>
        <p:spPr/>
        <p:txBody>
          <a:bodyPr>
            <a:normAutofit/>
          </a:bodyPr>
          <a:lstStyle/>
          <a:p>
            <a:r>
              <a:rPr sz="2400" dirty="0"/>
              <a:t>Analyze </a:t>
            </a:r>
            <a:r>
              <a:rPr lang="en-US" sz="2400" dirty="0"/>
              <a:t>historical </a:t>
            </a:r>
            <a:r>
              <a:rPr sz="2400" dirty="0"/>
              <a:t>demand patterns</a:t>
            </a:r>
          </a:p>
          <a:p>
            <a:r>
              <a:rPr lang="en-GB" sz="2400" b="0" i="0" u="none" strike="noStrike" dirty="0">
                <a:solidFill>
                  <a:srgbClr val="000000"/>
                </a:solidFill>
                <a:effectLst/>
              </a:rPr>
              <a:t>Identify intermittent demand </a:t>
            </a:r>
            <a:r>
              <a:rPr lang="en-GB" sz="2400" b="0" i="0" u="none" strike="noStrike" dirty="0" err="1">
                <a:solidFill>
                  <a:srgbClr val="000000"/>
                </a:solidFill>
                <a:effectLst/>
              </a:rPr>
              <a:t>behavior</a:t>
            </a:r>
            <a:endParaRPr lang="en-GB" sz="2400" b="0" i="0" u="none" strike="noStrike" dirty="0">
              <a:solidFill>
                <a:srgbClr val="000000"/>
              </a:solidFill>
              <a:effectLst/>
            </a:endParaRPr>
          </a:p>
          <a:p>
            <a:r>
              <a:rPr lang="en-US" sz="2400" dirty="0"/>
              <a:t>Support better replenishment decisions</a:t>
            </a:r>
          </a:p>
          <a:p>
            <a:r>
              <a:rPr lang="en-US" sz="2400" dirty="0"/>
              <a:t>Improve inventory planning using demand insights</a:t>
            </a:r>
            <a:endParaRPr sz="2400" dirty="0"/>
          </a:p>
        </p:txBody>
      </p:sp>
      <p:sp>
        <p:nvSpPr>
          <p:cNvPr id="4" name="Footer Placeholder 3">
            <a:extLst>
              <a:ext uri="{FF2B5EF4-FFF2-40B4-BE49-F238E27FC236}">
                <a16:creationId xmlns:a16="http://schemas.microsoft.com/office/drawing/2014/main" id="{EF31D902-28CE-8E9E-31B6-C0FE4DF51C41}"/>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5" name="Slide Number Placeholder 4">
            <a:extLst>
              <a:ext uri="{FF2B5EF4-FFF2-40B4-BE49-F238E27FC236}">
                <a16:creationId xmlns:a16="http://schemas.microsoft.com/office/drawing/2014/main" id="{6A86E7D4-5C7D-90F4-13C6-373C05CF40DF}"/>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Tasks &amp; Milestones</a:t>
            </a:r>
          </a:p>
        </p:txBody>
      </p:sp>
      <p:pic>
        <p:nvPicPr>
          <p:cNvPr id="6" name="Picture 5">
            <a:extLst>
              <a:ext uri="{FF2B5EF4-FFF2-40B4-BE49-F238E27FC236}">
                <a16:creationId xmlns:a16="http://schemas.microsoft.com/office/drawing/2014/main" id="{05239C81-A327-9515-F0A8-BAA21D41F9F0}"/>
              </a:ext>
            </a:extLst>
          </p:cNvPr>
          <p:cNvPicPr>
            <a:picLocks noChangeAspect="1"/>
          </p:cNvPicPr>
          <p:nvPr/>
        </p:nvPicPr>
        <p:blipFill>
          <a:blip r:embed="rId3"/>
          <a:stretch>
            <a:fillRect/>
          </a:stretch>
        </p:blipFill>
        <p:spPr>
          <a:xfrm>
            <a:off x="149450" y="1829811"/>
            <a:ext cx="8845099" cy="2733135"/>
          </a:xfrm>
          <a:prstGeom prst="rect">
            <a:avLst/>
          </a:prstGeom>
        </p:spPr>
      </p:pic>
      <p:sp>
        <p:nvSpPr>
          <p:cNvPr id="3" name="Footer Placeholder 2">
            <a:extLst>
              <a:ext uri="{FF2B5EF4-FFF2-40B4-BE49-F238E27FC236}">
                <a16:creationId xmlns:a16="http://schemas.microsoft.com/office/drawing/2014/main" id="{884F2353-F333-56F4-64B5-9B2A796701BC}"/>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4" name="Slide Number Placeholder 3">
            <a:extLst>
              <a:ext uri="{FF2B5EF4-FFF2-40B4-BE49-F238E27FC236}">
                <a16:creationId xmlns:a16="http://schemas.microsoft.com/office/drawing/2014/main" id="{230F2A8A-7CD8-A441-EF3E-75E509C77740}"/>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are we deliver?</a:t>
            </a:r>
            <a:endParaRPr dirty="0"/>
          </a:p>
        </p:txBody>
      </p:sp>
      <p:sp>
        <p:nvSpPr>
          <p:cNvPr id="3" name="Content Placeholder 2"/>
          <p:cNvSpPr>
            <a:spLocks noGrp="1"/>
          </p:cNvSpPr>
          <p:nvPr>
            <p:ph idx="1"/>
          </p:nvPr>
        </p:nvSpPr>
        <p:spPr/>
        <p:txBody>
          <a:bodyPr>
            <a:normAutofit/>
          </a:bodyPr>
          <a:lstStyle/>
          <a:p>
            <a:r>
              <a:rPr dirty="0"/>
              <a:t>Clean dataset</a:t>
            </a:r>
          </a:p>
          <a:p>
            <a:r>
              <a:rPr dirty="0"/>
              <a:t>Demand </a:t>
            </a:r>
            <a:r>
              <a:rPr lang="en-US" dirty="0"/>
              <a:t>analysis report</a:t>
            </a:r>
            <a:endParaRPr dirty="0"/>
          </a:p>
          <a:p>
            <a:r>
              <a:rPr lang="en-US" dirty="0"/>
              <a:t>Insights for inventory planning.</a:t>
            </a:r>
            <a:endParaRPr dirty="0"/>
          </a:p>
        </p:txBody>
      </p:sp>
      <p:sp>
        <p:nvSpPr>
          <p:cNvPr id="4" name="Footer Placeholder 3">
            <a:extLst>
              <a:ext uri="{FF2B5EF4-FFF2-40B4-BE49-F238E27FC236}">
                <a16:creationId xmlns:a16="http://schemas.microsoft.com/office/drawing/2014/main" id="{424B3FA5-D495-B62A-CA81-91D0F5D93C0F}"/>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r>
              <a:rPr lang="en-GB" sz="1200" dirty="0">
                <a:effectLst/>
                <a:latin typeface="Poppins" pitchFamily="2" charset="77"/>
              </a:rPr>
              <a:t> </a:t>
            </a:r>
            <a:endParaRPr lang="en-DE" dirty="0"/>
          </a:p>
        </p:txBody>
      </p:sp>
      <p:sp>
        <p:nvSpPr>
          <p:cNvPr id="5" name="Slide Number Placeholder 4">
            <a:extLst>
              <a:ext uri="{FF2B5EF4-FFF2-40B4-BE49-F238E27FC236}">
                <a16:creationId xmlns:a16="http://schemas.microsoft.com/office/drawing/2014/main" id="{42574637-CDE2-39A8-9245-B55D16259062}"/>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Business Case</a:t>
            </a:r>
          </a:p>
        </p:txBody>
      </p:sp>
      <p:sp>
        <p:nvSpPr>
          <p:cNvPr id="3" name="Footer Placeholder 2">
            <a:extLst>
              <a:ext uri="{FF2B5EF4-FFF2-40B4-BE49-F238E27FC236}">
                <a16:creationId xmlns:a16="http://schemas.microsoft.com/office/drawing/2014/main" id="{2022CE5F-C74F-14EF-B27D-7A44D6A4534C}"/>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4" name="Slide Number Placeholder 3">
            <a:extLst>
              <a:ext uri="{FF2B5EF4-FFF2-40B4-BE49-F238E27FC236}">
                <a16:creationId xmlns:a16="http://schemas.microsoft.com/office/drawing/2014/main" id="{38E6DFF8-17A1-0D08-50CB-505ECD804F10}"/>
              </a:ext>
            </a:extLst>
          </p:cNvPr>
          <p:cNvSpPr>
            <a:spLocks noGrp="1"/>
          </p:cNvSpPr>
          <p:nvPr>
            <p:ph type="sldNum" sz="quarter" idx="12"/>
          </p:nvPr>
        </p:nvSpPr>
        <p:spPr/>
        <p:txBody>
          <a:bodyPr/>
          <a:lstStyle/>
          <a:p>
            <a:fld id="{C1FF6DA9-008F-8B48-92A6-B652298478BF}" type="slidenum">
              <a:rPr lang="en-US" smtClean="0"/>
              <a:t>8</a:t>
            </a:fld>
            <a:endParaRPr lang="en-US"/>
          </a:p>
        </p:txBody>
      </p:sp>
    </p:spTree>
    <p:extLst>
      <p:ext uri="{BB962C8B-B14F-4D97-AF65-F5344CB8AC3E}">
        <p14:creationId xmlns:p14="http://schemas.microsoft.com/office/powerpoint/2010/main" val="8946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Business Understanding</a:t>
            </a:r>
          </a:p>
        </p:txBody>
      </p:sp>
      <p:sp>
        <p:nvSpPr>
          <p:cNvPr id="3" name="Content Placeholder 2"/>
          <p:cNvSpPr>
            <a:spLocks noGrp="1"/>
          </p:cNvSpPr>
          <p:nvPr>
            <p:ph idx="1"/>
          </p:nvPr>
        </p:nvSpPr>
        <p:spPr>
          <a:xfrm>
            <a:off x="457200" y="2340383"/>
            <a:ext cx="8229600" cy="2264803"/>
          </a:xfrm>
        </p:spPr>
        <p:txBody>
          <a:bodyPr>
            <a:noAutofit/>
          </a:bodyPr>
          <a:lstStyle/>
          <a:p>
            <a:r>
              <a:rPr lang="en-US" sz="2400" dirty="0"/>
              <a:t>Demand is Unpredictable</a:t>
            </a:r>
            <a:endParaRPr sz="2400" dirty="0"/>
          </a:p>
          <a:p>
            <a:r>
              <a:rPr lang="en-US" sz="2400" dirty="0"/>
              <a:t>Some rarely needed</a:t>
            </a:r>
            <a:endParaRPr sz="2400" dirty="0"/>
          </a:p>
          <a:p>
            <a:r>
              <a:rPr lang="en-US" sz="2400" dirty="0"/>
              <a:t>Some frequently requested</a:t>
            </a:r>
          </a:p>
          <a:p>
            <a:r>
              <a:rPr lang="en-US" sz="2400" dirty="0"/>
              <a:t>Demand varies across different warehouses</a:t>
            </a:r>
          </a:p>
          <a:p>
            <a:r>
              <a:rPr lang="en-GB" sz="2400" b="0" i="0" u="none" strike="noStrike" dirty="0">
                <a:solidFill>
                  <a:srgbClr val="000000"/>
                </a:solidFill>
                <a:effectLst/>
              </a:rPr>
              <a:t>This creates challenges in balancing </a:t>
            </a:r>
            <a:r>
              <a:rPr lang="en-GB" sz="2400" i="0" u="none" strike="noStrike" dirty="0">
                <a:solidFill>
                  <a:srgbClr val="000000"/>
                </a:solidFill>
                <a:effectLst/>
              </a:rPr>
              <a:t>availability and cost</a:t>
            </a:r>
            <a:endParaRPr sz="2400" dirty="0"/>
          </a:p>
        </p:txBody>
      </p:sp>
      <p:sp>
        <p:nvSpPr>
          <p:cNvPr id="4" name="TextBox 3">
            <a:extLst>
              <a:ext uri="{FF2B5EF4-FFF2-40B4-BE49-F238E27FC236}">
                <a16:creationId xmlns:a16="http://schemas.microsoft.com/office/drawing/2014/main" id="{0EFDA8CA-CD5D-B709-D458-A9C92CD29717}"/>
              </a:ext>
            </a:extLst>
          </p:cNvPr>
          <p:cNvSpPr txBox="1"/>
          <p:nvPr/>
        </p:nvSpPr>
        <p:spPr>
          <a:xfrm>
            <a:off x="457200" y="1765426"/>
            <a:ext cx="8229600" cy="461665"/>
          </a:xfrm>
          <a:prstGeom prst="rect">
            <a:avLst/>
          </a:prstGeom>
          <a:noFill/>
        </p:spPr>
        <p:txBody>
          <a:bodyPr wrap="square" rtlCol="0">
            <a:spAutoFit/>
          </a:bodyPr>
          <a:lstStyle/>
          <a:p>
            <a:r>
              <a:rPr lang="en-DE" sz="2400" b="1" dirty="0"/>
              <a:t>Real-World scenario: </a:t>
            </a:r>
          </a:p>
        </p:txBody>
      </p:sp>
      <p:sp>
        <p:nvSpPr>
          <p:cNvPr id="5" name="Footer Placeholder 4">
            <a:extLst>
              <a:ext uri="{FF2B5EF4-FFF2-40B4-BE49-F238E27FC236}">
                <a16:creationId xmlns:a16="http://schemas.microsoft.com/office/drawing/2014/main" id="{E0208CEA-1635-AAF4-A315-5BF27C0ABA02}"/>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6" name="Slide Number Placeholder 5">
            <a:extLst>
              <a:ext uri="{FF2B5EF4-FFF2-40B4-BE49-F238E27FC236}">
                <a16:creationId xmlns:a16="http://schemas.microsoft.com/office/drawing/2014/main" id="{3727C761-0C48-908C-D7CC-0A9710F8B2CB}"/>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Problem Statement</a:t>
            </a:r>
          </a:p>
        </p:txBody>
      </p:sp>
      <p:sp>
        <p:nvSpPr>
          <p:cNvPr id="3" name="Content Placeholder 2"/>
          <p:cNvSpPr>
            <a:spLocks noGrp="1"/>
          </p:cNvSpPr>
          <p:nvPr>
            <p:ph idx="1"/>
          </p:nvPr>
        </p:nvSpPr>
        <p:spPr/>
        <p:txBody>
          <a:bodyPr>
            <a:normAutofit/>
          </a:bodyPr>
          <a:lstStyle/>
          <a:p>
            <a:r>
              <a:rPr lang="en-GB" sz="2400" b="0" i="0" u="none" strike="noStrike" dirty="0">
                <a:solidFill>
                  <a:srgbClr val="000000"/>
                </a:solidFill>
                <a:effectLst/>
              </a:rPr>
              <a:t>Overstocking leads to </a:t>
            </a:r>
            <a:r>
              <a:rPr lang="en-GB" sz="2400" b="1" i="0" u="none" strike="noStrike" dirty="0">
                <a:solidFill>
                  <a:srgbClr val="000000"/>
                </a:solidFill>
                <a:effectLst/>
              </a:rPr>
              <a:t>high inventory holding costs</a:t>
            </a:r>
          </a:p>
          <a:p>
            <a:r>
              <a:rPr lang="en-GB" sz="2400" b="0" i="0" u="none" strike="noStrike" dirty="0">
                <a:solidFill>
                  <a:srgbClr val="000000"/>
                </a:solidFill>
                <a:effectLst/>
              </a:rPr>
              <a:t>Understocking leads to </a:t>
            </a:r>
            <a:r>
              <a:rPr lang="en-GB" sz="2400" b="1" i="0" u="none" strike="noStrike" dirty="0">
                <a:solidFill>
                  <a:srgbClr val="000000"/>
                </a:solidFill>
                <a:effectLst/>
              </a:rPr>
              <a:t>stockouts and operational delays</a:t>
            </a:r>
          </a:p>
          <a:p>
            <a:r>
              <a:rPr lang="en-GB" sz="2400" b="0" i="0" u="none" strike="noStrike" dirty="0">
                <a:solidFill>
                  <a:srgbClr val="000000"/>
                </a:solidFill>
                <a:effectLst/>
              </a:rPr>
              <a:t>Irregular (intermittent) demand makes planning difficult</a:t>
            </a:r>
          </a:p>
          <a:p>
            <a:r>
              <a:rPr lang="en-GB" sz="2400" b="0" i="0" u="none" strike="noStrike" dirty="0">
                <a:solidFill>
                  <a:srgbClr val="000000"/>
                </a:solidFill>
                <a:effectLst/>
              </a:rPr>
              <a:t>Lack of demand insights results in </a:t>
            </a:r>
            <a:r>
              <a:rPr lang="en-GB" sz="2400" b="1" i="0" u="none" strike="noStrike" dirty="0">
                <a:solidFill>
                  <a:srgbClr val="000000"/>
                </a:solidFill>
                <a:effectLst/>
              </a:rPr>
              <a:t>inefficient replenishment decisions</a:t>
            </a:r>
            <a:endParaRPr sz="2400" dirty="0"/>
          </a:p>
        </p:txBody>
      </p:sp>
      <p:sp>
        <p:nvSpPr>
          <p:cNvPr id="4" name="Footer Placeholder 3">
            <a:extLst>
              <a:ext uri="{FF2B5EF4-FFF2-40B4-BE49-F238E27FC236}">
                <a16:creationId xmlns:a16="http://schemas.microsoft.com/office/drawing/2014/main" id="{99F86E7A-3355-C519-BF45-8F6101A7D6A1}"/>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35DCC4F7-10A7-E673-FDB5-F7FD2F12FA37}"/>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07C6-6028-AD9E-5331-3E55349D2C84}"/>
              </a:ext>
            </a:extLst>
          </p:cNvPr>
          <p:cNvSpPr>
            <a:spLocks noGrp="1"/>
          </p:cNvSpPr>
          <p:nvPr>
            <p:ph type="ctrTitle"/>
          </p:nvPr>
        </p:nvSpPr>
        <p:spPr>
          <a:xfrm>
            <a:off x="814893" y="2977384"/>
            <a:ext cx="1327731" cy="881715"/>
          </a:xfrm>
        </p:spPr>
        <p:txBody>
          <a:bodyPr/>
          <a:lstStyle/>
          <a:p>
            <a:pPr algn="l"/>
            <a:r>
              <a:rPr lang="en-GB" b="0" i="0" u="none" strike="noStrike" dirty="0">
                <a:solidFill>
                  <a:srgbClr val="000000"/>
                </a:solidFill>
                <a:effectLst/>
              </a:rPr>
              <a:t>Goal</a:t>
            </a:r>
            <a:endParaRPr lang="en-DE" dirty="0"/>
          </a:p>
        </p:txBody>
      </p:sp>
      <p:sp>
        <p:nvSpPr>
          <p:cNvPr id="3" name="Subtitle 2">
            <a:extLst>
              <a:ext uri="{FF2B5EF4-FFF2-40B4-BE49-F238E27FC236}">
                <a16:creationId xmlns:a16="http://schemas.microsoft.com/office/drawing/2014/main" id="{21B887D5-E080-50E4-08A9-1314ADD6F79E}"/>
              </a:ext>
            </a:extLst>
          </p:cNvPr>
          <p:cNvSpPr>
            <a:spLocks noGrp="1"/>
          </p:cNvSpPr>
          <p:nvPr>
            <p:ph type="subTitle" idx="1"/>
          </p:nvPr>
        </p:nvSpPr>
        <p:spPr>
          <a:xfrm>
            <a:off x="1921165" y="3117211"/>
            <a:ext cx="6400800" cy="694854"/>
          </a:xfrm>
        </p:spPr>
        <p:txBody>
          <a:bodyPr>
            <a:normAutofit fontScale="92500" lnSpcReduction="20000"/>
          </a:bodyPr>
          <a:lstStyle/>
          <a:p>
            <a:pPr algn="l"/>
            <a:r>
              <a:rPr lang="en-GB" sz="2400" b="0" i="0" u="none" strike="noStrike" dirty="0">
                <a:solidFill>
                  <a:srgbClr val="000000"/>
                </a:solidFill>
                <a:effectLst/>
              </a:rPr>
              <a:t>Improve demand understanding to support </a:t>
            </a:r>
            <a:r>
              <a:rPr lang="en-GB" sz="2400" b="1" i="0" u="none" strike="noStrike" dirty="0">
                <a:solidFill>
                  <a:srgbClr val="000000"/>
                </a:solidFill>
                <a:effectLst/>
              </a:rPr>
              <a:t>better inventory and replenishment planning</a:t>
            </a:r>
            <a:endParaRPr lang="en-DE" sz="2400" dirty="0"/>
          </a:p>
        </p:txBody>
      </p:sp>
      <p:sp>
        <p:nvSpPr>
          <p:cNvPr id="4" name="Footer Placeholder 3">
            <a:extLst>
              <a:ext uri="{FF2B5EF4-FFF2-40B4-BE49-F238E27FC236}">
                <a16:creationId xmlns:a16="http://schemas.microsoft.com/office/drawing/2014/main" id="{E8802AE6-2777-D2D2-A825-F63BBF7BBF94}"/>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969CC9D5-7BFC-3FA7-FE88-96223EB8CB7C}"/>
              </a:ext>
            </a:extLst>
          </p:cNvPr>
          <p:cNvSpPr>
            <a:spLocks noGrp="1"/>
          </p:cNvSpPr>
          <p:nvPr>
            <p:ph type="sldNum" sz="quarter" idx="12"/>
          </p:nvPr>
        </p:nvSpPr>
        <p:spPr/>
        <p:txBody>
          <a:bodyPr/>
          <a:lstStyle/>
          <a:p>
            <a:fld id="{C1FF6DA9-008F-8B48-92A6-B652298478BF}" type="slidenum">
              <a:rPr lang="en-US" smtClean="0"/>
              <a:t>11</a:t>
            </a:fld>
            <a:endParaRPr lang="en-US"/>
          </a:p>
        </p:txBody>
      </p:sp>
    </p:spTree>
    <p:extLst>
      <p:ext uri="{BB962C8B-B14F-4D97-AF65-F5344CB8AC3E}">
        <p14:creationId xmlns:p14="http://schemas.microsoft.com/office/powerpoint/2010/main" val="2442086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4901A-4754-8A05-E76C-DA8C4AE688C9}"/>
              </a:ext>
            </a:extLst>
          </p:cNvPr>
          <p:cNvSpPr>
            <a:spLocks noGrp="1"/>
          </p:cNvSpPr>
          <p:nvPr>
            <p:ph type="title"/>
          </p:nvPr>
        </p:nvSpPr>
        <p:spPr/>
        <p:txBody>
          <a:bodyPr/>
          <a:lstStyle/>
          <a:p>
            <a:r>
              <a:rPr lang="en-DE" dirty="0"/>
              <a:t>Why this Matters?</a:t>
            </a:r>
          </a:p>
        </p:txBody>
      </p:sp>
      <p:sp>
        <p:nvSpPr>
          <p:cNvPr id="3" name="Content Placeholder 2">
            <a:extLst>
              <a:ext uri="{FF2B5EF4-FFF2-40B4-BE49-F238E27FC236}">
                <a16:creationId xmlns:a16="http://schemas.microsoft.com/office/drawing/2014/main" id="{5605C91A-096B-65D6-E634-07C987242C77}"/>
              </a:ext>
            </a:extLst>
          </p:cNvPr>
          <p:cNvSpPr>
            <a:spLocks noGrp="1"/>
          </p:cNvSpPr>
          <p:nvPr>
            <p:ph idx="1"/>
          </p:nvPr>
        </p:nvSpPr>
        <p:spPr/>
        <p:txBody>
          <a:bodyPr>
            <a:normAutofit/>
          </a:bodyPr>
          <a:lstStyle/>
          <a:p>
            <a:r>
              <a:rPr lang="en-GB" dirty="0"/>
              <a:t>Inventory cost reduction</a:t>
            </a:r>
          </a:p>
          <a:p>
            <a:r>
              <a:rPr lang="en-GB" dirty="0"/>
              <a:t>Improved service level</a:t>
            </a:r>
          </a:p>
          <a:p>
            <a:r>
              <a:rPr lang="en-GB" dirty="0"/>
              <a:t>Better operational efficiency</a:t>
            </a:r>
            <a:endParaRPr lang="en-DE" dirty="0"/>
          </a:p>
        </p:txBody>
      </p:sp>
      <p:sp>
        <p:nvSpPr>
          <p:cNvPr id="4" name="Footer Placeholder 3">
            <a:extLst>
              <a:ext uri="{FF2B5EF4-FFF2-40B4-BE49-F238E27FC236}">
                <a16:creationId xmlns:a16="http://schemas.microsoft.com/office/drawing/2014/main" id="{E01AB759-C956-5CF3-6DEA-4ADC6155D9BF}"/>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C912A960-787D-BC6A-9B87-804868D4BCAA}"/>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1355588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Stakeholders</a:t>
            </a:r>
          </a:p>
        </p:txBody>
      </p:sp>
      <p:sp>
        <p:nvSpPr>
          <p:cNvPr id="3" name="Content Placeholder 2"/>
          <p:cNvSpPr>
            <a:spLocks noGrp="1"/>
          </p:cNvSpPr>
          <p:nvPr>
            <p:ph idx="1"/>
          </p:nvPr>
        </p:nvSpPr>
        <p:spPr/>
        <p:txBody>
          <a:bodyPr>
            <a:normAutofit/>
          </a:bodyPr>
          <a:lstStyle/>
          <a:p>
            <a:r>
              <a:rPr lang="en-US" dirty="0"/>
              <a:t>Inventory Managers</a:t>
            </a:r>
            <a:endParaRPr dirty="0"/>
          </a:p>
          <a:p>
            <a:r>
              <a:rPr lang="en-US" dirty="0"/>
              <a:t>Operations and production teams</a:t>
            </a:r>
            <a:endParaRPr dirty="0"/>
          </a:p>
          <a:p>
            <a:r>
              <a:rPr lang="en-US" dirty="0"/>
              <a:t>Sales Team</a:t>
            </a:r>
          </a:p>
          <a:p>
            <a:r>
              <a:rPr lang="en-US" dirty="0"/>
              <a:t>Management </a:t>
            </a:r>
            <a:r>
              <a:rPr lang="en-US"/>
              <a:t>and Decision-Makers</a:t>
            </a:r>
            <a:endParaRPr dirty="0"/>
          </a:p>
        </p:txBody>
      </p:sp>
      <p:sp>
        <p:nvSpPr>
          <p:cNvPr id="4" name="Footer Placeholder 3">
            <a:extLst>
              <a:ext uri="{FF2B5EF4-FFF2-40B4-BE49-F238E27FC236}">
                <a16:creationId xmlns:a16="http://schemas.microsoft.com/office/drawing/2014/main" id="{C86D87F8-BEC2-B802-50A2-E08721EDBEEF}"/>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72701A31-6092-7E92-14A6-2F7603EDCE13}"/>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7B371-C704-AF96-F75D-DDA708F976E5}"/>
              </a:ext>
            </a:extLst>
          </p:cNvPr>
          <p:cNvSpPr>
            <a:spLocks noGrp="1"/>
          </p:cNvSpPr>
          <p:nvPr>
            <p:ph type="title"/>
          </p:nvPr>
        </p:nvSpPr>
        <p:spPr>
          <a:xfrm>
            <a:off x="457200" y="2857500"/>
            <a:ext cx="8229600" cy="1143000"/>
          </a:xfrm>
        </p:spPr>
        <p:txBody>
          <a:bodyPr/>
          <a:lstStyle/>
          <a:p>
            <a:r>
              <a:rPr lang="en-DE" dirty="0"/>
              <a:t>Theoretical Background</a:t>
            </a:r>
          </a:p>
        </p:txBody>
      </p:sp>
      <p:sp>
        <p:nvSpPr>
          <p:cNvPr id="4" name="Footer Placeholder 3">
            <a:extLst>
              <a:ext uri="{FF2B5EF4-FFF2-40B4-BE49-F238E27FC236}">
                <a16:creationId xmlns:a16="http://schemas.microsoft.com/office/drawing/2014/main" id="{08BBA245-CDEC-9A14-1B08-B6F0C32A1BD7}"/>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112DE5AD-EB81-6365-5C8A-F9F06A119E57}"/>
              </a:ext>
            </a:extLst>
          </p:cNvPr>
          <p:cNvSpPr>
            <a:spLocks noGrp="1"/>
          </p:cNvSpPr>
          <p:nvPr>
            <p:ph type="sldNum" sz="quarter" idx="12"/>
          </p:nvPr>
        </p:nvSpPr>
        <p:spPr/>
        <p:txBody>
          <a:bodyPr/>
          <a:lstStyle/>
          <a:p>
            <a:fld id="{C1FF6DA9-008F-8B48-92A6-B652298478BF}" type="slidenum">
              <a:rPr lang="en-US" smtClean="0"/>
              <a:t>14</a:t>
            </a:fld>
            <a:endParaRPr lang="en-US"/>
          </a:p>
        </p:txBody>
      </p:sp>
    </p:spTree>
    <p:extLst>
      <p:ext uri="{BB962C8B-B14F-4D97-AF65-F5344CB8AC3E}">
        <p14:creationId xmlns:p14="http://schemas.microsoft.com/office/powerpoint/2010/main" val="3002720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is Demand Management?</a:t>
            </a:r>
          </a:p>
        </p:txBody>
      </p:sp>
      <p:sp>
        <p:nvSpPr>
          <p:cNvPr id="3" name="Content Placeholder 2"/>
          <p:cNvSpPr>
            <a:spLocks noGrp="1"/>
          </p:cNvSpPr>
          <p:nvPr>
            <p:ph idx="1"/>
          </p:nvPr>
        </p:nvSpPr>
        <p:spPr/>
        <p:txBody>
          <a:bodyPr>
            <a:normAutofit/>
          </a:bodyPr>
          <a:lstStyle/>
          <a:p>
            <a:r>
              <a:rPr lang="en-GB" sz="2400" dirty="0"/>
              <a:t>Demand Management is the process of </a:t>
            </a:r>
            <a:r>
              <a:rPr lang="en-GB" sz="2400" b="1" dirty="0" err="1"/>
              <a:t>analyzing</a:t>
            </a:r>
            <a:r>
              <a:rPr lang="en-GB" sz="2400" b="1" dirty="0"/>
              <a:t>, forecasting, and influencing demand</a:t>
            </a:r>
          </a:p>
          <a:p>
            <a:r>
              <a:rPr lang="en-GB" sz="2400" dirty="0"/>
              <a:t>It helps align </a:t>
            </a:r>
            <a:r>
              <a:rPr lang="en-GB" sz="2400" b="1" dirty="0"/>
              <a:t>supply with customer needs</a:t>
            </a:r>
          </a:p>
          <a:p>
            <a:r>
              <a:rPr lang="en-GB" sz="2400" dirty="0"/>
              <a:t>Goal: balance </a:t>
            </a:r>
            <a:r>
              <a:rPr lang="en-GB" sz="2400" b="1" dirty="0"/>
              <a:t>availability and cost</a:t>
            </a:r>
          </a:p>
          <a:p>
            <a:r>
              <a:rPr lang="en-GB" sz="2400" dirty="0"/>
              <a:t>Ensures the right product is available at the right time</a:t>
            </a:r>
            <a:endParaRPr sz="2400" dirty="0"/>
          </a:p>
        </p:txBody>
      </p:sp>
      <p:sp>
        <p:nvSpPr>
          <p:cNvPr id="4" name="Footer Placeholder 3">
            <a:extLst>
              <a:ext uri="{FF2B5EF4-FFF2-40B4-BE49-F238E27FC236}">
                <a16:creationId xmlns:a16="http://schemas.microsoft.com/office/drawing/2014/main" id="{2549FD62-3401-66F2-A194-0C40F7F55589}"/>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8257EC0E-7CAE-1F8C-747E-06F8242F75A2}"/>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0" i="0" u="none" strike="noStrike" dirty="0">
                <a:solidFill>
                  <a:srgbClr val="000000"/>
                </a:solidFill>
                <a:effectLst/>
                <a:latin typeface="-webkit-standard"/>
              </a:rPr>
              <a:t>Importance of Demand Management</a:t>
            </a:r>
            <a:endParaRPr dirty="0"/>
          </a:p>
        </p:txBody>
      </p:sp>
      <p:sp>
        <p:nvSpPr>
          <p:cNvPr id="3" name="Content Placeholder 2"/>
          <p:cNvSpPr>
            <a:spLocks noGrp="1"/>
          </p:cNvSpPr>
          <p:nvPr>
            <p:ph idx="1"/>
          </p:nvPr>
        </p:nvSpPr>
        <p:spPr/>
        <p:txBody>
          <a:bodyPr>
            <a:normAutofit/>
          </a:bodyPr>
          <a:lstStyle/>
          <a:p>
            <a:r>
              <a:rPr lang="en-GB" sz="2400" dirty="0"/>
              <a:t>Reduces </a:t>
            </a:r>
            <a:r>
              <a:rPr lang="en-GB" sz="2400" b="1" dirty="0"/>
              <a:t>stockouts and lost sales</a:t>
            </a:r>
          </a:p>
          <a:p>
            <a:r>
              <a:rPr lang="en-GB" sz="2400" dirty="0"/>
              <a:t>Minimizes </a:t>
            </a:r>
            <a:r>
              <a:rPr lang="en-GB" sz="2400" b="1" dirty="0"/>
              <a:t>excess inventory and holding costs</a:t>
            </a:r>
          </a:p>
          <a:p>
            <a:r>
              <a:rPr lang="en-GB" sz="2400" dirty="0"/>
              <a:t>Improves </a:t>
            </a:r>
            <a:r>
              <a:rPr lang="en-GB" sz="2400" b="1" dirty="0"/>
              <a:t>customer satisfaction</a:t>
            </a:r>
          </a:p>
          <a:p>
            <a:r>
              <a:rPr lang="en-GB" sz="2400" dirty="0"/>
              <a:t>Supports better </a:t>
            </a:r>
            <a:r>
              <a:rPr lang="en-GB" sz="2400" b="1" dirty="0"/>
              <a:t>production and inventory planning</a:t>
            </a:r>
            <a:endParaRPr sz="2400" dirty="0"/>
          </a:p>
        </p:txBody>
      </p:sp>
      <p:sp>
        <p:nvSpPr>
          <p:cNvPr id="4" name="Footer Placeholder 3">
            <a:extLst>
              <a:ext uri="{FF2B5EF4-FFF2-40B4-BE49-F238E27FC236}">
                <a16:creationId xmlns:a16="http://schemas.microsoft.com/office/drawing/2014/main" id="{77957E18-FECA-F137-3B13-B9CFAE59EE32}"/>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F5A8398D-7F11-658B-3E4B-ACE7037F9D34}"/>
              </a:ext>
            </a:extLst>
          </p:cNvPr>
          <p:cNvSpPr>
            <a:spLocks noGrp="1"/>
          </p:cNvSpPr>
          <p:nvPr>
            <p:ph type="sldNum" sz="quarter" idx="12"/>
          </p:nvPr>
        </p:nvSpPr>
        <p:spPr/>
        <p:txBody>
          <a:bodyPr/>
          <a:lstStyle/>
          <a:p>
            <a:fld id="{C1FF6DA9-008F-8B48-92A6-B652298478BF}" type="slidenum">
              <a:rPr lang="en-US" smtClean="0"/>
              <a:t>16</a:t>
            </a:fld>
            <a:endParaRPr lang="en-US"/>
          </a:p>
        </p:txBody>
      </p:sp>
    </p:spTree>
    <p:extLst>
      <p:ext uri="{BB962C8B-B14F-4D97-AF65-F5344CB8AC3E}">
        <p14:creationId xmlns:p14="http://schemas.microsoft.com/office/powerpoint/2010/main" val="27404751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latin typeface="-webkit-standard"/>
              </a:rPr>
              <a:t>Forecasting vs Demand Planning</a:t>
            </a:r>
            <a:endParaRPr dirty="0"/>
          </a:p>
        </p:txBody>
      </p:sp>
      <p:sp>
        <p:nvSpPr>
          <p:cNvPr id="3" name="Content Placeholder 2"/>
          <p:cNvSpPr>
            <a:spLocks noGrp="1"/>
          </p:cNvSpPr>
          <p:nvPr>
            <p:ph idx="1"/>
          </p:nvPr>
        </p:nvSpPr>
        <p:spPr/>
        <p:txBody>
          <a:bodyPr>
            <a:normAutofit/>
          </a:bodyPr>
          <a:lstStyle/>
          <a:p>
            <a:r>
              <a:rPr lang="en-GB" sz="2400" b="1" dirty="0"/>
              <a:t>Forecasting:</a:t>
            </a:r>
            <a:r>
              <a:rPr lang="en-GB" sz="2400" dirty="0"/>
              <a:t> Predict future demand based on historical data</a:t>
            </a:r>
          </a:p>
          <a:p>
            <a:r>
              <a:rPr lang="en-GB" sz="2400" b="1" dirty="0"/>
              <a:t>Demand Planning:</a:t>
            </a:r>
            <a:r>
              <a:rPr lang="en-GB" sz="2400" dirty="0"/>
              <a:t> Uses forecasts + business knowledge to make decisions</a:t>
            </a:r>
          </a:p>
          <a:p>
            <a:r>
              <a:rPr lang="en-GB" sz="2400" dirty="0"/>
              <a:t>Forecast = data-driven</a:t>
            </a:r>
          </a:p>
          <a:p>
            <a:r>
              <a:rPr lang="en-GB" sz="2400" dirty="0"/>
              <a:t>Planning = decision-making process</a:t>
            </a:r>
            <a:endParaRPr sz="2400" dirty="0"/>
          </a:p>
        </p:txBody>
      </p:sp>
      <p:sp>
        <p:nvSpPr>
          <p:cNvPr id="4" name="Footer Placeholder 3">
            <a:extLst>
              <a:ext uri="{FF2B5EF4-FFF2-40B4-BE49-F238E27FC236}">
                <a16:creationId xmlns:a16="http://schemas.microsoft.com/office/drawing/2014/main" id="{497E9516-6118-7E6E-2696-E5E3BAF723F5}"/>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43BA1702-E62C-5AC3-CCAB-8E4D87C535FB}"/>
              </a:ext>
            </a:extLst>
          </p:cNvPr>
          <p:cNvSpPr>
            <a:spLocks noGrp="1"/>
          </p:cNvSpPr>
          <p:nvPr>
            <p:ph type="sldNum" sz="quarter" idx="12"/>
          </p:nvPr>
        </p:nvSpPr>
        <p:spPr/>
        <p:txBody>
          <a:bodyPr/>
          <a:lstStyle/>
          <a:p>
            <a:fld id="{C1FF6DA9-008F-8B48-92A6-B652298478BF}" type="slidenum">
              <a:rPr lang="en-US" smtClean="0"/>
              <a:t>17</a:t>
            </a:fld>
            <a:endParaRPr lang="en-US"/>
          </a:p>
        </p:txBody>
      </p:sp>
    </p:spTree>
    <p:extLst>
      <p:ext uri="{BB962C8B-B14F-4D97-AF65-F5344CB8AC3E}">
        <p14:creationId xmlns:p14="http://schemas.microsoft.com/office/powerpoint/2010/main" val="6134779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Intermittent Demand</a:t>
            </a:r>
          </a:p>
        </p:txBody>
      </p:sp>
      <p:sp>
        <p:nvSpPr>
          <p:cNvPr id="3" name="Content Placeholder 2"/>
          <p:cNvSpPr>
            <a:spLocks noGrp="1"/>
          </p:cNvSpPr>
          <p:nvPr>
            <p:ph idx="1"/>
          </p:nvPr>
        </p:nvSpPr>
        <p:spPr/>
        <p:txBody>
          <a:bodyPr>
            <a:normAutofit/>
          </a:bodyPr>
          <a:lstStyle/>
          <a:p>
            <a:r>
              <a:rPr lang="en-GB" sz="2400" dirty="0"/>
              <a:t>Demand occurs </a:t>
            </a:r>
            <a:r>
              <a:rPr lang="en-GB" sz="2400" b="1" dirty="0"/>
              <a:t>irregularly over time</a:t>
            </a:r>
          </a:p>
          <a:p>
            <a:r>
              <a:rPr lang="en-GB" sz="2400" dirty="0"/>
              <a:t>Many periods have </a:t>
            </a:r>
            <a:r>
              <a:rPr lang="en-GB" sz="2400" b="1" dirty="0"/>
              <a:t>zero demand</a:t>
            </a:r>
          </a:p>
          <a:p>
            <a:r>
              <a:rPr lang="en-GB" sz="2400" b="0" i="0" u="none" strike="noStrike" dirty="0">
                <a:solidFill>
                  <a:srgbClr val="000000"/>
                </a:solidFill>
                <a:effectLst/>
              </a:rPr>
              <a:t>Common in products that are not ordered regularly</a:t>
            </a:r>
          </a:p>
          <a:p>
            <a:r>
              <a:rPr lang="en-GB" sz="2400" dirty="0"/>
              <a:t>Difficult to forecast using standard methods</a:t>
            </a:r>
            <a:endParaRPr sz="2400" dirty="0"/>
          </a:p>
        </p:txBody>
      </p:sp>
      <p:sp>
        <p:nvSpPr>
          <p:cNvPr id="4" name="Footer Placeholder 3">
            <a:extLst>
              <a:ext uri="{FF2B5EF4-FFF2-40B4-BE49-F238E27FC236}">
                <a16:creationId xmlns:a16="http://schemas.microsoft.com/office/drawing/2014/main" id="{63B16788-51C9-FC55-DEAB-7CC6AACD2E9C}"/>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6CBA45CC-AD56-9BD4-DB68-44CEE7FA50FF}"/>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b="0" i="0" u="none" strike="noStrike" dirty="0">
                <a:solidFill>
                  <a:srgbClr val="000000"/>
                </a:solidFill>
                <a:effectLst/>
                <a:latin typeface="-webkit-standard"/>
              </a:rPr>
              <a:t>Characteristics of Intermittent Demand</a:t>
            </a:r>
            <a:endParaRPr dirty="0"/>
          </a:p>
        </p:txBody>
      </p:sp>
      <p:sp>
        <p:nvSpPr>
          <p:cNvPr id="3" name="Content Placeholder 2"/>
          <p:cNvSpPr>
            <a:spLocks noGrp="1"/>
          </p:cNvSpPr>
          <p:nvPr>
            <p:ph idx="1"/>
          </p:nvPr>
        </p:nvSpPr>
        <p:spPr>
          <a:xfrm>
            <a:off x="457200" y="1600201"/>
            <a:ext cx="8229600" cy="2727356"/>
          </a:xfrm>
        </p:spPr>
        <p:txBody>
          <a:bodyPr>
            <a:normAutofit/>
          </a:bodyPr>
          <a:lstStyle/>
          <a:p>
            <a:r>
              <a:rPr lang="en-GB" sz="2400" dirty="0"/>
              <a:t>High number of </a:t>
            </a:r>
            <a:r>
              <a:rPr lang="en-GB" sz="2400" b="1" dirty="0"/>
              <a:t>zero-demand periods</a:t>
            </a:r>
          </a:p>
          <a:p>
            <a:r>
              <a:rPr lang="en-GB" sz="2400" dirty="0"/>
              <a:t>Sudden spikes in demand</a:t>
            </a:r>
          </a:p>
          <a:p>
            <a:r>
              <a:rPr lang="en-GB" sz="2400" dirty="0"/>
              <a:t>Unpredictable timing</a:t>
            </a:r>
          </a:p>
          <a:p>
            <a:r>
              <a:rPr lang="en-GB" sz="2400" dirty="0"/>
              <a:t>High variability</a:t>
            </a:r>
            <a:endParaRPr sz="2400" dirty="0"/>
          </a:p>
        </p:txBody>
      </p:sp>
      <p:sp>
        <p:nvSpPr>
          <p:cNvPr id="4" name="Footer Placeholder 3">
            <a:extLst>
              <a:ext uri="{FF2B5EF4-FFF2-40B4-BE49-F238E27FC236}">
                <a16:creationId xmlns:a16="http://schemas.microsoft.com/office/drawing/2014/main" id="{30C4909B-5B2B-531A-E260-F4904C753909}"/>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BFA2D2CD-14B9-AD3E-0C67-419CBFA0FEBC}"/>
              </a:ext>
            </a:extLst>
          </p:cNvPr>
          <p:cNvSpPr>
            <a:spLocks noGrp="1"/>
          </p:cNvSpPr>
          <p:nvPr>
            <p:ph type="sldNum" sz="quarter" idx="12"/>
          </p:nvPr>
        </p:nvSpPr>
        <p:spPr/>
        <p:txBody>
          <a:bodyPr/>
          <a:lstStyle/>
          <a:p>
            <a:fld id="{C1FF6DA9-008F-8B48-92A6-B652298478BF}" type="slidenum">
              <a:rPr lang="en-US" smtClean="0"/>
              <a:t>19</a:t>
            </a:fld>
            <a:endParaRPr lang="en-US"/>
          </a:p>
        </p:txBody>
      </p:sp>
    </p:spTree>
    <p:extLst>
      <p:ext uri="{BB962C8B-B14F-4D97-AF65-F5344CB8AC3E}">
        <p14:creationId xmlns:p14="http://schemas.microsoft.com/office/powerpoint/2010/main" val="323233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Time Series Data</a:t>
            </a:r>
            <a:endParaRPr dirty="0"/>
          </a:p>
        </p:txBody>
      </p:sp>
      <p:sp>
        <p:nvSpPr>
          <p:cNvPr id="3" name="Content Placeholder 2"/>
          <p:cNvSpPr>
            <a:spLocks noGrp="1"/>
          </p:cNvSpPr>
          <p:nvPr>
            <p:ph idx="1"/>
          </p:nvPr>
        </p:nvSpPr>
        <p:spPr>
          <a:xfrm>
            <a:off x="457200" y="1600201"/>
            <a:ext cx="8229600" cy="2727356"/>
          </a:xfrm>
        </p:spPr>
        <p:txBody>
          <a:bodyPr>
            <a:normAutofit/>
          </a:bodyPr>
          <a:lstStyle/>
          <a:p>
            <a:r>
              <a:rPr lang="en-GB" sz="2400" dirty="0"/>
              <a:t>Data collected </a:t>
            </a:r>
            <a:r>
              <a:rPr lang="en-GB" sz="2400" b="1" dirty="0"/>
              <a:t>over time intervals</a:t>
            </a:r>
          </a:p>
          <a:p>
            <a:r>
              <a:rPr lang="en-GB" sz="2400" dirty="0"/>
              <a:t>Example: daily or weekly demand</a:t>
            </a:r>
          </a:p>
          <a:p>
            <a:r>
              <a:rPr lang="en-GB" sz="2400" dirty="0"/>
              <a:t>Used to identify patterns and trends</a:t>
            </a:r>
          </a:p>
          <a:p>
            <a:r>
              <a:rPr lang="en-GB" sz="2400" dirty="0"/>
              <a:t>Important for demand analysis and forecasting</a:t>
            </a:r>
            <a:endParaRPr sz="2400" dirty="0"/>
          </a:p>
        </p:txBody>
      </p:sp>
      <p:sp>
        <p:nvSpPr>
          <p:cNvPr id="4" name="Footer Placeholder 3">
            <a:extLst>
              <a:ext uri="{FF2B5EF4-FFF2-40B4-BE49-F238E27FC236}">
                <a16:creationId xmlns:a16="http://schemas.microsoft.com/office/drawing/2014/main" id="{2A114597-1721-E5C2-F392-4839F0DCB4E9}"/>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39B777D8-450E-C647-2B49-020293D8C017}"/>
              </a:ext>
            </a:extLst>
          </p:cNvPr>
          <p:cNvSpPr>
            <a:spLocks noGrp="1"/>
          </p:cNvSpPr>
          <p:nvPr>
            <p:ph type="sldNum" sz="quarter" idx="12"/>
          </p:nvPr>
        </p:nvSpPr>
        <p:spPr/>
        <p:txBody>
          <a:bodyPr/>
          <a:lstStyle/>
          <a:p>
            <a:fld id="{C1FF6DA9-008F-8B48-92A6-B652298478BF}" type="slidenum">
              <a:rPr lang="en-US" smtClean="0"/>
              <a:t>20</a:t>
            </a:fld>
            <a:endParaRPr lang="en-US"/>
          </a:p>
        </p:txBody>
      </p:sp>
    </p:spTree>
    <p:extLst>
      <p:ext uri="{BB962C8B-B14F-4D97-AF65-F5344CB8AC3E}">
        <p14:creationId xmlns:p14="http://schemas.microsoft.com/office/powerpoint/2010/main" val="22843869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Trend and Seasonality</a:t>
            </a:r>
            <a:endParaRPr dirty="0"/>
          </a:p>
        </p:txBody>
      </p:sp>
      <p:sp>
        <p:nvSpPr>
          <p:cNvPr id="3" name="Content Placeholder 2"/>
          <p:cNvSpPr>
            <a:spLocks noGrp="1"/>
          </p:cNvSpPr>
          <p:nvPr>
            <p:ph idx="1"/>
          </p:nvPr>
        </p:nvSpPr>
        <p:spPr>
          <a:xfrm>
            <a:off x="457200" y="1600201"/>
            <a:ext cx="8229600" cy="2727356"/>
          </a:xfrm>
        </p:spPr>
        <p:txBody>
          <a:bodyPr>
            <a:normAutofit/>
          </a:bodyPr>
          <a:lstStyle/>
          <a:p>
            <a:r>
              <a:rPr lang="en-GB" sz="2400" b="1" dirty="0"/>
              <a:t>Trend:</a:t>
            </a:r>
            <a:r>
              <a:rPr lang="en-GB" sz="2400" dirty="0"/>
              <a:t> Long-term increase or decrease in demand</a:t>
            </a:r>
          </a:p>
          <a:p>
            <a:r>
              <a:rPr lang="en-GB" sz="2400" b="1" dirty="0"/>
              <a:t>Seasonality:</a:t>
            </a:r>
            <a:r>
              <a:rPr lang="en-GB" sz="2400" dirty="0"/>
              <a:t> Repeating patterns over time (e.g., weekly, yearly)</a:t>
            </a:r>
          </a:p>
          <a:p>
            <a:r>
              <a:rPr lang="en-GB" sz="2400" dirty="0"/>
              <a:t>Helps understand demand </a:t>
            </a:r>
            <a:r>
              <a:rPr lang="en-GB" sz="2400" dirty="0" err="1"/>
              <a:t>behavior</a:t>
            </a:r>
            <a:endParaRPr sz="2400" dirty="0"/>
          </a:p>
        </p:txBody>
      </p:sp>
      <p:sp>
        <p:nvSpPr>
          <p:cNvPr id="4" name="Footer Placeholder 3">
            <a:extLst>
              <a:ext uri="{FF2B5EF4-FFF2-40B4-BE49-F238E27FC236}">
                <a16:creationId xmlns:a16="http://schemas.microsoft.com/office/drawing/2014/main" id="{3888F27C-84BF-E846-D355-CFBD36E6F937}"/>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44900EAE-57E6-1C07-136C-81B92ACA256A}"/>
              </a:ext>
            </a:extLst>
          </p:cNvPr>
          <p:cNvSpPr>
            <a:spLocks noGrp="1"/>
          </p:cNvSpPr>
          <p:nvPr>
            <p:ph type="sldNum" sz="quarter" idx="12"/>
          </p:nvPr>
        </p:nvSpPr>
        <p:spPr/>
        <p:txBody>
          <a:bodyPr/>
          <a:lstStyle/>
          <a:p>
            <a:fld id="{C1FF6DA9-008F-8B48-92A6-B652298478BF}" type="slidenum">
              <a:rPr lang="en-US" smtClean="0"/>
              <a:t>21</a:t>
            </a:fld>
            <a:endParaRPr lang="en-US"/>
          </a:p>
        </p:txBody>
      </p:sp>
    </p:spTree>
    <p:extLst>
      <p:ext uri="{BB962C8B-B14F-4D97-AF65-F5344CB8AC3E}">
        <p14:creationId xmlns:p14="http://schemas.microsoft.com/office/powerpoint/2010/main" val="38328874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Demand Variability</a:t>
            </a:r>
            <a:endParaRPr dirty="0"/>
          </a:p>
        </p:txBody>
      </p:sp>
      <p:sp>
        <p:nvSpPr>
          <p:cNvPr id="3" name="Content Placeholder 2"/>
          <p:cNvSpPr>
            <a:spLocks noGrp="1"/>
          </p:cNvSpPr>
          <p:nvPr>
            <p:ph idx="1"/>
          </p:nvPr>
        </p:nvSpPr>
        <p:spPr>
          <a:xfrm>
            <a:off x="457200" y="1600201"/>
            <a:ext cx="8229600" cy="2727356"/>
          </a:xfrm>
        </p:spPr>
        <p:txBody>
          <a:bodyPr>
            <a:normAutofit/>
          </a:bodyPr>
          <a:lstStyle/>
          <a:p>
            <a:pPr>
              <a:buFont typeface="Arial" panose="020B0604020202020204" pitchFamily="34" charset="0"/>
              <a:buChar char="•"/>
            </a:pPr>
            <a:r>
              <a:rPr lang="en-GB" sz="2800" dirty="0"/>
              <a:t>Demand does not stay constant</a:t>
            </a:r>
          </a:p>
          <a:p>
            <a:pPr>
              <a:buFont typeface="Arial" panose="020B0604020202020204" pitchFamily="34" charset="0"/>
              <a:buChar char="•"/>
            </a:pPr>
            <a:r>
              <a:rPr lang="en-GB" sz="2800" dirty="0"/>
              <a:t>Can change due to:</a:t>
            </a:r>
          </a:p>
          <a:p>
            <a:pPr lvl="1">
              <a:buFont typeface="Arial" panose="020B0604020202020204" pitchFamily="34" charset="0"/>
              <a:buChar char="•"/>
            </a:pPr>
            <a:r>
              <a:rPr lang="en-GB" sz="2400" dirty="0"/>
              <a:t>Customer </a:t>
            </a:r>
            <a:r>
              <a:rPr lang="en-GB" sz="2400" dirty="0" err="1"/>
              <a:t>behavior</a:t>
            </a:r>
            <a:endParaRPr lang="en-GB" sz="2400" dirty="0"/>
          </a:p>
          <a:p>
            <a:pPr lvl="1">
              <a:buFont typeface="Arial" panose="020B0604020202020204" pitchFamily="34" charset="0"/>
              <a:buChar char="•"/>
            </a:pPr>
            <a:r>
              <a:rPr lang="en-GB" sz="2400" dirty="0"/>
              <a:t>External factors (weather, economy)</a:t>
            </a:r>
          </a:p>
          <a:p>
            <a:r>
              <a:rPr lang="en-GB" sz="2800" dirty="0"/>
              <a:t>High variability increases planning difficulty</a:t>
            </a:r>
            <a:endParaRPr sz="2800" dirty="0"/>
          </a:p>
        </p:txBody>
      </p:sp>
      <p:sp>
        <p:nvSpPr>
          <p:cNvPr id="4" name="Footer Placeholder 3">
            <a:extLst>
              <a:ext uri="{FF2B5EF4-FFF2-40B4-BE49-F238E27FC236}">
                <a16:creationId xmlns:a16="http://schemas.microsoft.com/office/drawing/2014/main" id="{E0B69296-4ABF-72DB-93E4-302005EB1F9D}"/>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95441D50-59B5-4487-80D1-FE64274E6FDE}"/>
              </a:ext>
            </a:extLst>
          </p:cNvPr>
          <p:cNvSpPr>
            <a:spLocks noGrp="1"/>
          </p:cNvSpPr>
          <p:nvPr>
            <p:ph type="sldNum" sz="quarter" idx="12"/>
          </p:nvPr>
        </p:nvSpPr>
        <p:spPr/>
        <p:txBody>
          <a:bodyPr/>
          <a:lstStyle/>
          <a:p>
            <a:fld id="{C1FF6DA9-008F-8B48-92A6-B652298478BF}" type="slidenum">
              <a:rPr lang="en-US" smtClean="0"/>
              <a:t>22</a:t>
            </a:fld>
            <a:endParaRPr lang="en-US"/>
          </a:p>
        </p:txBody>
      </p:sp>
    </p:spTree>
    <p:extLst>
      <p:ext uri="{BB962C8B-B14F-4D97-AF65-F5344CB8AC3E}">
        <p14:creationId xmlns:p14="http://schemas.microsoft.com/office/powerpoint/2010/main" val="13861187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Inventory Concepts: Safety Stock</a:t>
            </a:r>
            <a:endParaRPr dirty="0"/>
          </a:p>
        </p:txBody>
      </p:sp>
      <p:sp>
        <p:nvSpPr>
          <p:cNvPr id="3" name="Content Placeholder 2"/>
          <p:cNvSpPr>
            <a:spLocks noGrp="1"/>
          </p:cNvSpPr>
          <p:nvPr>
            <p:ph idx="1"/>
          </p:nvPr>
        </p:nvSpPr>
        <p:spPr>
          <a:xfrm>
            <a:off x="457200" y="1600201"/>
            <a:ext cx="8229600" cy="2727356"/>
          </a:xfrm>
        </p:spPr>
        <p:txBody>
          <a:bodyPr>
            <a:normAutofit/>
          </a:bodyPr>
          <a:lstStyle/>
          <a:p>
            <a:pPr>
              <a:buFont typeface="Arial" panose="020B0604020202020204" pitchFamily="34" charset="0"/>
              <a:buChar char="•"/>
            </a:pPr>
            <a:r>
              <a:rPr lang="en-GB" sz="2400" dirty="0"/>
              <a:t>Extra inventory kept to avoid stockouts</a:t>
            </a:r>
          </a:p>
          <a:p>
            <a:pPr>
              <a:buFont typeface="Arial" panose="020B0604020202020204" pitchFamily="34" charset="0"/>
              <a:buChar char="•"/>
            </a:pPr>
            <a:r>
              <a:rPr lang="en-GB" sz="2400" dirty="0"/>
              <a:t>Used when demand is uncertain</a:t>
            </a:r>
          </a:p>
          <a:p>
            <a:pPr>
              <a:buFont typeface="Arial" panose="020B0604020202020204" pitchFamily="34" charset="0"/>
              <a:buChar char="•"/>
            </a:pPr>
            <a:r>
              <a:rPr lang="en-GB" sz="2400" dirty="0"/>
              <a:t>Helps maintain service level</a:t>
            </a:r>
          </a:p>
          <a:p>
            <a:pPr>
              <a:buFont typeface="Arial" panose="020B0604020202020204" pitchFamily="34" charset="0"/>
              <a:buChar char="•"/>
            </a:pPr>
            <a:r>
              <a:rPr lang="en-GB" sz="2400" dirty="0"/>
              <a:t>Too much → high cost</a:t>
            </a:r>
          </a:p>
          <a:p>
            <a:pPr>
              <a:buFont typeface="Arial" panose="020B0604020202020204" pitchFamily="34" charset="0"/>
              <a:buChar char="•"/>
            </a:pPr>
            <a:r>
              <a:rPr lang="en-GB" sz="2400" dirty="0"/>
              <a:t>Too little → risk of shortage</a:t>
            </a:r>
            <a:endParaRPr sz="2400" dirty="0"/>
          </a:p>
        </p:txBody>
      </p:sp>
      <p:sp>
        <p:nvSpPr>
          <p:cNvPr id="4" name="Footer Placeholder 3">
            <a:extLst>
              <a:ext uri="{FF2B5EF4-FFF2-40B4-BE49-F238E27FC236}">
                <a16:creationId xmlns:a16="http://schemas.microsoft.com/office/drawing/2014/main" id="{303D5D53-23EF-8915-99BA-3A407BC9A6C6}"/>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91E9CE95-AFD7-D41F-1B44-CDA4B1FAF12C}"/>
              </a:ext>
            </a:extLst>
          </p:cNvPr>
          <p:cNvSpPr>
            <a:spLocks noGrp="1"/>
          </p:cNvSpPr>
          <p:nvPr>
            <p:ph type="sldNum" sz="quarter" idx="12"/>
          </p:nvPr>
        </p:nvSpPr>
        <p:spPr/>
        <p:txBody>
          <a:bodyPr/>
          <a:lstStyle/>
          <a:p>
            <a:fld id="{C1FF6DA9-008F-8B48-92A6-B652298478BF}" type="slidenum">
              <a:rPr lang="en-US" smtClean="0"/>
              <a:t>23</a:t>
            </a:fld>
            <a:endParaRPr lang="en-US"/>
          </a:p>
        </p:txBody>
      </p:sp>
    </p:spTree>
    <p:extLst>
      <p:ext uri="{BB962C8B-B14F-4D97-AF65-F5344CB8AC3E}">
        <p14:creationId xmlns:p14="http://schemas.microsoft.com/office/powerpoint/2010/main" val="70410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Inventory Concepts: Lead Time</a:t>
            </a:r>
            <a:endParaRPr dirty="0"/>
          </a:p>
        </p:txBody>
      </p:sp>
      <p:sp>
        <p:nvSpPr>
          <p:cNvPr id="3" name="Content Placeholder 2"/>
          <p:cNvSpPr>
            <a:spLocks noGrp="1"/>
          </p:cNvSpPr>
          <p:nvPr>
            <p:ph idx="1"/>
          </p:nvPr>
        </p:nvSpPr>
        <p:spPr>
          <a:xfrm>
            <a:off x="457200" y="1600201"/>
            <a:ext cx="8229600" cy="2727356"/>
          </a:xfrm>
        </p:spPr>
        <p:txBody>
          <a:bodyPr>
            <a:normAutofit/>
          </a:bodyPr>
          <a:lstStyle/>
          <a:p>
            <a:pPr>
              <a:buFont typeface="Arial" panose="020B0604020202020204" pitchFamily="34" charset="0"/>
              <a:buChar char="•"/>
            </a:pPr>
            <a:r>
              <a:rPr lang="en-GB" sz="2400" dirty="0"/>
              <a:t>Time between ordering and receiving products</a:t>
            </a:r>
          </a:p>
          <a:p>
            <a:pPr>
              <a:buFont typeface="Arial" panose="020B0604020202020204" pitchFamily="34" charset="0"/>
              <a:buChar char="•"/>
            </a:pPr>
            <a:r>
              <a:rPr lang="en-GB" sz="2400" dirty="0"/>
              <a:t>Includes production and delivery time</a:t>
            </a:r>
          </a:p>
          <a:p>
            <a:pPr>
              <a:buFont typeface="Arial" panose="020B0604020202020204" pitchFamily="34" charset="0"/>
              <a:buChar char="•"/>
            </a:pPr>
            <a:r>
              <a:rPr lang="en-GB" sz="2400" dirty="0"/>
              <a:t>Important for planning replenishment</a:t>
            </a:r>
          </a:p>
          <a:p>
            <a:pPr>
              <a:buFont typeface="Arial" panose="020B0604020202020204" pitchFamily="34" charset="0"/>
              <a:buChar char="•"/>
            </a:pPr>
            <a:r>
              <a:rPr lang="en-GB" sz="2400" dirty="0"/>
              <a:t>Longer lead time = higher uncertainty</a:t>
            </a:r>
            <a:endParaRPr sz="2400" dirty="0"/>
          </a:p>
        </p:txBody>
      </p:sp>
      <p:sp>
        <p:nvSpPr>
          <p:cNvPr id="4" name="Footer Placeholder 3">
            <a:extLst>
              <a:ext uri="{FF2B5EF4-FFF2-40B4-BE49-F238E27FC236}">
                <a16:creationId xmlns:a16="http://schemas.microsoft.com/office/drawing/2014/main" id="{AC933435-3020-C9F2-5795-A2812F8444FE}"/>
              </a:ext>
            </a:extLst>
          </p:cNvPr>
          <p:cNvSpPr>
            <a:spLocks noGrp="1"/>
          </p:cNvSpPr>
          <p:nvPr>
            <p:ph type="ftr" sz="quarter" idx="11"/>
          </p:nvPr>
        </p:nvSpPr>
        <p:spPr/>
        <p:txBody>
          <a:bodyPr/>
          <a:lstStyle/>
          <a:p>
            <a:r>
              <a:rPr lang="en-GB" sz="1200" dirty="0">
                <a:effectLst/>
                <a:latin typeface="Poppins" pitchFamily="2" charset="77"/>
              </a:rPr>
              <a:t>Zainab </a:t>
            </a:r>
            <a:r>
              <a:rPr lang="en-GB" sz="1200" dirty="0" err="1">
                <a:effectLst/>
                <a:latin typeface="Poppins" pitchFamily="2" charset="77"/>
              </a:rPr>
              <a:t>Nashitah</a:t>
            </a:r>
            <a:endParaRPr lang="en-US" dirty="0"/>
          </a:p>
        </p:txBody>
      </p:sp>
      <p:sp>
        <p:nvSpPr>
          <p:cNvPr id="5" name="Slide Number Placeholder 4">
            <a:extLst>
              <a:ext uri="{FF2B5EF4-FFF2-40B4-BE49-F238E27FC236}">
                <a16:creationId xmlns:a16="http://schemas.microsoft.com/office/drawing/2014/main" id="{BAB53ED1-A798-60DD-3B3E-495F1DC2BA8E}"/>
              </a:ext>
            </a:extLst>
          </p:cNvPr>
          <p:cNvSpPr>
            <a:spLocks noGrp="1"/>
          </p:cNvSpPr>
          <p:nvPr>
            <p:ph type="sldNum" sz="quarter" idx="12"/>
          </p:nvPr>
        </p:nvSpPr>
        <p:spPr/>
        <p:txBody>
          <a:bodyPr/>
          <a:lstStyle/>
          <a:p>
            <a:fld id="{C1FF6DA9-008F-8B48-92A6-B652298478BF}" type="slidenum">
              <a:rPr lang="en-US" smtClean="0"/>
              <a:t>24</a:t>
            </a:fld>
            <a:endParaRPr lang="en-US"/>
          </a:p>
        </p:txBody>
      </p:sp>
    </p:spTree>
    <p:extLst>
      <p:ext uri="{BB962C8B-B14F-4D97-AF65-F5344CB8AC3E}">
        <p14:creationId xmlns:p14="http://schemas.microsoft.com/office/powerpoint/2010/main" val="314503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Dataset</a:t>
            </a:r>
          </a:p>
        </p:txBody>
      </p:sp>
      <p:sp>
        <p:nvSpPr>
          <p:cNvPr id="3" name="Footer Placeholder 2">
            <a:extLst>
              <a:ext uri="{FF2B5EF4-FFF2-40B4-BE49-F238E27FC236}">
                <a16:creationId xmlns:a16="http://schemas.microsoft.com/office/drawing/2014/main" id="{ED102D30-44C2-A318-FE70-EFA09F22D39E}"/>
              </a:ext>
            </a:extLst>
          </p:cNvPr>
          <p:cNvSpPr>
            <a:spLocks noGrp="1"/>
          </p:cNvSpPr>
          <p:nvPr>
            <p:ph type="ftr" sz="quarter" idx="11"/>
          </p:nvPr>
        </p:nvSpPr>
        <p:spPr/>
        <p:txBody>
          <a:bodyPr/>
          <a:lstStyle/>
          <a:p>
            <a:r>
              <a:rPr lang="en-DE" dirty="0"/>
              <a:t>May Zin Ko</a:t>
            </a:r>
            <a:endParaRPr lang="en-US" dirty="0"/>
          </a:p>
        </p:txBody>
      </p:sp>
      <p:sp>
        <p:nvSpPr>
          <p:cNvPr id="4" name="Slide Number Placeholder 3">
            <a:extLst>
              <a:ext uri="{FF2B5EF4-FFF2-40B4-BE49-F238E27FC236}">
                <a16:creationId xmlns:a16="http://schemas.microsoft.com/office/drawing/2014/main" id="{99D71FA6-8B77-CB95-2E59-28957AF20DB7}"/>
              </a:ext>
            </a:extLst>
          </p:cNvPr>
          <p:cNvSpPr>
            <a:spLocks noGrp="1"/>
          </p:cNvSpPr>
          <p:nvPr>
            <p:ph type="sldNum" sz="quarter" idx="12"/>
          </p:nvPr>
        </p:nvSpPr>
        <p:spPr/>
        <p:txBody>
          <a:bodyPr/>
          <a:lstStyle/>
          <a:p>
            <a:fld id="{C1FF6DA9-008F-8B48-92A6-B652298478BF}" type="slidenum">
              <a:rPr lang="en-US" smtClean="0"/>
              <a:t>25</a:t>
            </a:fld>
            <a:endParaRPr lang="en-US"/>
          </a:p>
        </p:txBody>
      </p:sp>
    </p:spTree>
    <p:extLst>
      <p:ext uri="{BB962C8B-B14F-4D97-AF65-F5344CB8AC3E}">
        <p14:creationId xmlns:p14="http://schemas.microsoft.com/office/powerpoint/2010/main" val="2642792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Dataset </a:t>
            </a:r>
            <a:r>
              <a:rPr lang="en-US" dirty="0"/>
              <a:t>Overview</a:t>
            </a:r>
            <a:endParaRPr dirty="0"/>
          </a:p>
        </p:txBody>
      </p:sp>
      <p:sp>
        <p:nvSpPr>
          <p:cNvPr id="3" name="Content Placeholder 2"/>
          <p:cNvSpPr>
            <a:spLocks noGrp="1"/>
          </p:cNvSpPr>
          <p:nvPr>
            <p:ph idx="1"/>
          </p:nvPr>
        </p:nvSpPr>
        <p:spPr>
          <a:xfrm>
            <a:off x="457200" y="1600201"/>
            <a:ext cx="8229600" cy="2265630"/>
          </a:xfrm>
        </p:spPr>
        <p:txBody>
          <a:bodyPr>
            <a:normAutofit/>
          </a:bodyPr>
          <a:lstStyle/>
          <a:p>
            <a:pPr algn="l" fontAlgn="base"/>
            <a:r>
              <a:rPr lang="en-GB" sz="2400" b="1" i="0" u="none" strike="noStrike" dirty="0">
                <a:solidFill>
                  <a:srgbClr val="202124"/>
                </a:solidFill>
                <a:effectLst/>
              </a:rPr>
              <a:t>Title: </a:t>
            </a:r>
            <a:r>
              <a:rPr lang="en-GB" sz="2400" i="0" u="none" strike="noStrike" dirty="0">
                <a:solidFill>
                  <a:srgbClr val="202124"/>
                </a:solidFill>
                <a:effectLst/>
              </a:rPr>
              <a:t>Forecasts for Product Demand</a:t>
            </a:r>
          </a:p>
          <a:p>
            <a:r>
              <a:rPr lang="en-GB" sz="2400" b="1" dirty="0"/>
              <a:t>Source: </a:t>
            </a:r>
            <a:r>
              <a:rPr lang="en-GB" sz="2400" dirty="0">
                <a:hlinkClick r:id="rId3"/>
              </a:rPr>
              <a:t>https://www.kaggle.com/datasets/felixzhao/productdemandforecasting</a:t>
            </a:r>
            <a:endParaRPr lang="en-GB" sz="2400" dirty="0"/>
          </a:p>
          <a:p>
            <a:r>
              <a:rPr lang="en-GB" sz="2400" b="1" dirty="0"/>
              <a:t>Content: </a:t>
            </a:r>
            <a:r>
              <a:rPr lang="en-GB" sz="2400" i="0" u="none" strike="noStrike" dirty="0">
                <a:solidFill>
                  <a:srgbClr val="3C4043"/>
                </a:solidFill>
                <a:effectLst/>
              </a:rPr>
              <a:t>Historical Product </a:t>
            </a:r>
            <a:r>
              <a:rPr lang="en-GB" sz="2400" i="0" u="none" strike="noStrike" dirty="0" err="1">
                <a:solidFill>
                  <a:srgbClr val="3C4043"/>
                </a:solidFill>
                <a:effectLst/>
              </a:rPr>
              <a:t>Demand.csv</a:t>
            </a:r>
            <a:endParaRPr sz="2400" dirty="0"/>
          </a:p>
        </p:txBody>
      </p:sp>
      <p:sp>
        <p:nvSpPr>
          <p:cNvPr id="4" name="Footer Placeholder 3">
            <a:extLst>
              <a:ext uri="{FF2B5EF4-FFF2-40B4-BE49-F238E27FC236}">
                <a16:creationId xmlns:a16="http://schemas.microsoft.com/office/drawing/2014/main" id="{D8FC11C2-810F-05D5-C489-78EEF6826334}"/>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2FD0D455-5A3C-5994-7066-EFBFF5DC170E}"/>
              </a:ext>
            </a:extLst>
          </p:cNvPr>
          <p:cNvSpPr>
            <a:spLocks noGrp="1"/>
          </p:cNvSpPr>
          <p:nvPr>
            <p:ph type="sldNum" sz="quarter" idx="12"/>
          </p:nvPr>
        </p:nvSpPr>
        <p:spPr/>
        <p:txBody>
          <a:bodyPr/>
          <a:lstStyle/>
          <a:p>
            <a:fld id="{C1FF6DA9-008F-8B48-92A6-B652298478BF}"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Dataset </a:t>
            </a:r>
            <a:r>
              <a:rPr lang="en-US" dirty="0"/>
              <a:t>Description</a:t>
            </a:r>
            <a:endParaRPr dirty="0"/>
          </a:p>
        </p:txBody>
      </p:sp>
      <p:sp>
        <p:nvSpPr>
          <p:cNvPr id="3" name="Content Placeholder 2"/>
          <p:cNvSpPr>
            <a:spLocks noGrp="1"/>
          </p:cNvSpPr>
          <p:nvPr>
            <p:ph idx="1"/>
          </p:nvPr>
        </p:nvSpPr>
        <p:spPr>
          <a:xfrm>
            <a:off x="457200" y="1600201"/>
            <a:ext cx="8229600" cy="3477408"/>
          </a:xfrm>
        </p:spPr>
        <p:txBody>
          <a:bodyPr>
            <a:noAutofit/>
          </a:bodyPr>
          <a:lstStyle/>
          <a:p>
            <a:pPr algn="l" fontAlgn="base"/>
            <a:r>
              <a:rPr lang="en-GB" sz="2400" dirty="0"/>
              <a:t>Historical product demand from a global manufacturing company</a:t>
            </a:r>
          </a:p>
          <a:p>
            <a:pPr algn="l" fontAlgn="base"/>
            <a:r>
              <a:rPr lang="en-GB" sz="2400" dirty="0"/>
              <a:t>Thousands of products across multiple product categories</a:t>
            </a:r>
          </a:p>
          <a:p>
            <a:pPr algn="l" fontAlgn="base"/>
            <a:r>
              <a:rPr lang="en-GB" sz="2400" dirty="0"/>
              <a:t>Four central warehouses responsible for regional distribution</a:t>
            </a:r>
          </a:p>
          <a:p>
            <a:pPr algn="l" fontAlgn="base"/>
            <a:r>
              <a:rPr lang="en-GB" sz="2400" dirty="0"/>
              <a:t>Products are shipped globally with long lead times (over one month)</a:t>
            </a:r>
          </a:p>
          <a:p>
            <a:pPr algn="l" fontAlgn="base"/>
            <a:r>
              <a:rPr lang="en-GB" sz="2400" dirty="0"/>
              <a:t>Accurate demand forecasting helps improve planning and reduce costs</a:t>
            </a:r>
            <a:endParaRPr sz="2400" dirty="0"/>
          </a:p>
        </p:txBody>
      </p:sp>
      <p:sp>
        <p:nvSpPr>
          <p:cNvPr id="4" name="Footer Placeholder 3">
            <a:extLst>
              <a:ext uri="{FF2B5EF4-FFF2-40B4-BE49-F238E27FC236}">
                <a16:creationId xmlns:a16="http://schemas.microsoft.com/office/drawing/2014/main" id="{19469E08-258B-D4A3-0382-48F7E2192706}"/>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F31DFD39-BCD5-D278-4BB3-01AEACB979A2}"/>
              </a:ext>
            </a:extLst>
          </p:cNvPr>
          <p:cNvSpPr>
            <a:spLocks noGrp="1"/>
          </p:cNvSpPr>
          <p:nvPr>
            <p:ph type="sldNum" sz="quarter" idx="12"/>
          </p:nvPr>
        </p:nvSpPr>
        <p:spPr/>
        <p:txBody>
          <a:bodyPr/>
          <a:lstStyle/>
          <a:p>
            <a:fld id="{C1FF6DA9-008F-8B48-92A6-B652298478BF}" type="slidenum">
              <a:rPr lang="en-US" smtClean="0"/>
              <a:t>27</a:t>
            </a:fld>
            <a:endParaRPr lang="en-US"/>
          </a:p>
        </p:txBody>
      </p:sp>
    </p:spTree>
    <p:extLst>
      <p:ext uri="{BB962C8B-B14F-4D97-AF65-F5344CB8AC3E}">
        <p14:creationId xmlns:p14="http://schemas.microsoft.com/office/powerpoint/2010/main" val="3349851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F04E0-805F-7D5A-C489-A8DF6ED55963}"/>
              </a:ext>
            </a:extLst>
          </p:cNvPr>
          <p:cNvSpPr>
            <a:spLocks noGrp="1"/>
          </p:cNvSpPr>
          <p:nvPr>
            <p:ph type="title"/>
          </p:nvPr>
        </p:nvSpPr>
        <p:spPr/>
        <p:txBody>
          <a:bodyPr/>
          <a:lstStyle/>
          <a:p>
            <a:r>
              <a:rPr lang="en-DE" dirty="0"/>
              <a:t>Data Understanding</a:t>
            </a:r>
          </a:p>
        </p:txBody>
      </p:sp>
      <p:sp>
        <p:nvSpPr>
          <p:cNvPr id="3" name="Text Placeholder 2">
            <a:extLst>
              <a:ext uri="{FF2B5EF4-FFF2-40B4-BE49-F238E27FC236}">
                <a16:creationId xmlns:a16="http://schemas.microsoft.com/office/drawing/2014/main" id="{6D9A7C7A-5BB8-7749-90B9-FFE2DCF8DEB4}"/>
              </a:ext>
            </a:extLst>
          </p:cNvPr>
          <p:cNvSpPr>
            <a:spLocks noGrp="1"/>
          </p:cNvSpPr>
          <p:nvPr>
            <p:ph type="body" idx="1"/>
          </p:nvPr>
        </p:nvSpPr>
        <p:spPr/>
        <p:txBody>
          <a:bodyPr/>
          <a:lstStyle/>
          <a:p>
            <a:r>
              <a:rPr lang="en-DE" dirty="0"/>
              <a:t>Features</a:t>
            </a:r>
          </a:p>
        </p:txBody>
      </p:sp>
      <p:sp>
        <p:nvSpPr>
          <p:cNvPr id="4" name="Content Placeholder 3">
            <a:extLst>
              <a:ext uri="{FF2B5EF4-FFF2-40B4-BE49-F238E27FC236}">
                <a16:creationId xmlns:a16="http://schemas.microsoft.com/office/drawing/2014/main" id="{8DBB2F6C-1704-CC7B-8985-41F575127BBA}"/>
              </a:ext>
            </a:extLst>
          </p:cNvPr>
          <p:cNvSpPr>
            <a:spLocks noGrp="1"/>
          </p:cNvSpPr>
          <p:nvPr>
            <p:ph sz="half" idx="2"/>
          </p:nvPr>
        </p:nvSpPr>
        <p:spPr/>
        <p:txBody>
          <a:bodyPr/>
          <a:lstStyle/>
          <a:p>
            <a:r>
              <a:rPr lang="en-DE" dirty="0"/>
              <a:t>Product_Code</a:t>
            </a:r>
          </a:p>
          <a:p>
            <a:r>
              <a:rPr lang="en-DE" dirty="0"/>
              <a:t>Warehouse (4 warehouses)</a:t>
            </a:r>
          </a:p>
          <a:p>
            <a:r>
              <a:rPr lang="en-DE" dirty="0"/>
              <a:t>Product_Category</a:t>
            </a:r>
          </a:p>
          <a:p>
            <a:r>
              <a:rPr lang="en-DE" dirty="0"/>
              <a:t>Date</a:t>
            </a:r>
          </a:p>
          <a:p>
            <a:r>
              <a:rPr lang="en-DE" dirty="0"/>
              <a:t>Order_Demand</a:t>
            </a:r>
          </a:p>
        </p:txBody>
      </p:sp>
      <p:sp>
        <p:nvSpPr>
          <p:cNvPr id="5" name="Text Placeholder 4">
            <a:extLst>
              <a:ext uri="{FF2B5EF4-FFF2-40B4-BE49-F238E27FC236}">
                <a16:creationId xmlns:a16="http://schemas.microsoft.com/office/drawing/2014/main" id="{946D7260-C499-139F-D016-BAC68B41C123}"/>
              </a:ext>
            </a:extLst>
          </p:cNvPr>
          <p:cNvSpPr>
            <a:spLocks noGrp="1"/>
          </p:cNvSpPr>
          <p:nvPr>
            <p:ph type="body" sz="quarter" idx="3"/>
          </p:nvPr>
        </p:nvSpPr>
        <p:spPr/>
        <p:txBody>
          <a:bodyPr/>
          <a:lstStyle/>
          <a:p>
            <a:r>
              <a:rPr lang="en-DE" dirty="0"/>
              <a:t>Characteristics</a:t>
            </a:r>
          </a:p>
        </p:txBody>
      </p:sp>
      <p:sp>
        <p:nvSpPr>
          <p:cNvPr id="6" name="Content Placeholder 5">
            <a:extLst>
              <a:ext uri="{FF2B5EF4-FFF2-40B4-BE49-F238E27FC236}">
                <a16:creationId xmlns:a16="http://schemas.microsoft.com/office/drawing/2014/main" id="{A3D17E6B-BEC7-DF19-BB82-3F2E6BCC30C6}"/>
              </a:ext>
            </a:extLst>
          </p:cNvPr>
          <p:cNvSpPr>
            <a:spLocks noGrp="1"/>
          </p:cNvSpPr>
          <p:nvPr>
            <p:ph sz="quarter" idx="4"/>
          </p:nvPr>
        </p:nvSpPr>
        <p:spPr/>
        <p:txBody>
          <a:bodyPr/>
          <a:lstStyle/>
          <a:p>
            <a:r>
              <a:rPr lang="en-DE" dirty="0"/>
              <a:t>Demand values show high variability</a:t>
            </a:r>
          </a:p>
          <a:p>
            <a:r>
              <a:rPr lang="en-GB" dirty="0"/>
              <a:t>Seasonal patterns exist </a:t>
            </a:r>
          </a:p>
          <a:p>
            <a:r>
              <a:rPr lang="en-GB" dirty="0"/>
              <a:t>Demand is highly concentrated (top 20% of products = 80% of demand )</a:t>
            </a:r>
          </a:p>
          <a:p>
            <a:r>
              <a:rPr lang="en-DE" dirty="0"/>
              <a:t>Demand differs across warehouses</a:t>
            </a:r>
          </a:p>
          <a:p>
            <a:pPr marL="457200" lvl="1" indent="0">
              <a:buNone/>
            </a:pPr>
            <a:endParaRPr lang="en-DE" dirty="0"/>
          </a:p>
        </p:txBody>
      </p:sp>
      <p:sp>
        <p:nvSpPr>
          <p:cNvPr id="7" name="Footer Placeholder 6">
            <a:extLst>
              <a:ext uri="{FF2B5EF4-FFF2-40B4-BE49-F238E27FC236}">
                <a16:creationId xmlns:a16="http://schemas.microsoft.com/office/drawing/2014/main" id="{80840938-4A7E-C250-CE32-562E2A585036}"/>
              </a:ext>
            </a:extLst>
          </p:cNvPr>
          <p:cNvSpPr>
            <a:spLocks noGrp="1"/>
          </p:cNvSpPr>
          <p:nvPr>
            <p:ph type="ftr" sz="quarter" idx="11"/>
          </p:nvPr>
        </p:nvSpPr>
        <p:spPr/>
        <p:txBody>
          <a:bodyPr/>
          <a:lstStyle/>
          <a:p>
            <a:r>
              <a:rPr lang="en-US" dirty="0"/>
              <a:t>May Zin Ko</a:t>
            </a:r>
          </a:p>
        </p:txBody>
      </p:sp>
      <p:sp>
        <p:nvSpPr>
          <p:cNvPr id="8" name="Slide Number Placeholder 7">
            <a:extLst>
              <a:ext uri="{FF2B5EF4-FFF2-40B4-BE49-F238E27FC236}">
                <a16:creationId xmlns:a16="http://schemas.microsoft.com/office/drawing/2014/main" id="{98B4A26C-CA33-7B0F-0BE2-45D2D998C43E}"/>
              </a:ext>
            </a:extLst>
          </p:cNvPr>
          <p:cNvSpPr>
            <a:spLocks noGrp="1"/>
          </p:cNvSpPr>
          <p:nvPr>
            <p:ph type="sldNum" sz="quarter" idx="12"/>
          </p:nvPr>
        </p:nvSpPr>
        <p:spPr/>
        <p:txBody>
          <a:bodyPr/>
          <a:lstStyle/>
          <a:p>
            <a:fld id="{C1FF6DA9-008F-8B48-92A6-B652298478BF}" type="slidenum">
              <a:rPr lang="en-US" smtClean="0"/>
              <a:t>28</a:t>
            </a:fld>
            <a:endParaRPr lang="en-US"/>
          </a:p>
        </p:txBody>
      </p:sp>
    </p:spTree>
    <p:extLst>
      <p:ext uri="{BB962C8B-B14F-4D97-AF65-F5344CB8AC3E}">
        <p14:creationId xmlns:p14="http://schemas.microsoft.com/office/powerpoint/2010/main" val="30289114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0" i="0" u="none" strike="noStrike" dirty="0">
                <a:solidFill>
                  <a:srgbClr val="000000"/>
                </a:solidFill>
                <a:effectLst/>
              </a:rPr>
              <a:t>Data Quality &amp; Structure</a:t>
            </a:r>
            <a:endParaRPr dirty="0"/>
          </a:p>
        </p:txBody>
      </p:sp>
      <p:sp>
        <p:nvSpPr>
          <p:cNvPr id="3" name="Content Placeholder 2"/>
          <p:cNvSpPr>
            <a:spLocks noGrp="1"/>
          </p:cNvSpPr>
          <p:nvPr>
            <p:ph idx="1"/>
          </p:nvPr>
        </p:nvSpPr>
        <p:spPr>
          <a:xfrm>
            <a:off x="457200" y="1600201"/>
            <a:ext cx="8229600" cy="3143816"/>
          </a:xfrm>
        </p:spPr>
        <p:txBody>
          <a:bodyPr>
            <a:normAutofit/>
          </a:bodyPr>
          <a:lstStyle/>
          <a:p>
            <a:r>
              <a:rPr lang="en-GB" sz="2400" dirty="0"/>
              <a:t>Presence of missing values in some records</a:t>
            </a:r>
          </a:p>
          <a:p>
            <a:r>
              <a:rPr lang="en-GB" sz="2400" dirty="0"/>
              <a:t>Inconsistent formatting in demand values (e.g., spaces)</a:t>
            </a:r>
          </a:p>
          <a:p>
            <a:r>
              <a:rPr lang="en-GB" sz="2400" dirty="0"/>
              <a:t>Requires data cleaning and pre-processing</a:t>
            </a:r>
          </a:p>
        </p:txBody>
      </p:sp>
      <p:sp>
        <p:nvSpPr>
          <p:cNvPr id="4" name="Footer Placeholder 3">
            <a:extLst>
              <a:ext uri="{FF2B5EF4-FFF2-40B4-BE49-F238E27FC236}">
                <a16:creationId xmlns:a16="http://schemas.microsoft.com/office/drawing/2014/main" id="{9DC09364-AB87-8169-543C-193CC79E7F25}"/>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74A6BE53-6285-149A-4E3B-103D922FD34A}"/>
              </a:ext>
            </a:extLst>
          </p:cNvPr>
          <p:cNvSpPr>
            <a:spLocks noGrp="1"/>
          </p:cNvSpPr>
          <p:nvPr>
            <p:ph type="sldNum" sz="quarter" idx="12"/>
          </p:nvPr>
        </p:nvSpPr>
        <p:spPr/>
        <p:txBody>
          <a:bodyPr/>
          <a:lstStyle/>
          <a:p>
            <a:fld id="{C1FF6DA9-008F-8B48-92A6-B652298478BF}" type="slidenum">
              <a:rPr lang="en-US" smtClean="0"/>
              <a:t>29</a:t>
            </a:fld>
            <a:endParaRPr lang="en-US"/>
          </a:p>
        </p:txBody>
      </p:sp>
      <p:pic>
        <p:nvPicPr>
          <p:cNvPr id="7" name="Picture 6">
            <a:extLst>
              <a:ext uri="{FF2B5EF4-FFF2-40B4-BE49-F238E27FC236}">
                <a16:creationId xmlns:a16="http://schemas.microsoft.com/office/drawing/2014/main" id="{06A0FF7D-5690-FB90-3E10-B39656471A93}"/>
              </a:ext>
            </a:extLst>
          </p:cNvPr>
          <p:cNvPicPr>
            <a:picLocks noChangeAspect="1"/>
          </p:cNvPicPr>
          <p:nvPr/>
        </p:nvPicPr>
        <p:blipFill>
          <a:blip r:embed="rId3"/>
          <a:stretch>
            <a:fillRect/>
          </a:stretch>
        </p:blipFill>
        <p:spPr>
          <a:xfrm>
            <a:off x="295686" y="3298130"/>
            <a:ext cx="8391114" cy="1856800"/>
          </a:xfrm>
          <a:prstGeom prst="rect">
            <a:avLst/>
          </a:prstGeom>
        </p:spPr>
      </p:pic>
    </p:spTree>
    <p:extLst>
      <p:ext uri="{BB962C8B-B14F-4D97-AF65-F5344CB8AC3E}">
        <p14:creationId xmlns:p14="http://schemas.microsoft.com/office/powerpoint/2010/main" val="848333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Data Preparation</a:t>
            </a:r>
            <a:r>
              <a:rPr lang="en-US" dirty="0"/>
              <a:t>: Cleaning</a:t>
            </a:r>
            <a:endParaRPr dirty="0"/>
          </a:p>
        </p:txBody>
      </p:sp>
      <p:sp>
        <p:nvSpPr>
          <p:cNvPr id="3" name="Content Placeholder 2"/>
          <p:cNvSpPr>
            <a:spLocks noGrp="1"/>
          </p:cNvSpPr>
          <p:nvPr>
            <p:ph idx="1"/>
          </p:nvPr>
        </p:nvSpPr>
        <p:spPr>
          <a:xfrm>
            <a:off x="457200" y="1600201"/>
            <a:ext cx="8229600" cy="1371600"/>
          </a:xfrm>
        </p:spPr>
        <p:txBody>
          <a:bodyPr>
            <a:normAutofit/>
          </a:bodyPr>
          <a:lstStyle/>
          <a:p>
            <a:r>
              <a:rPr lang="en-GB" sz="1600" dirty="0"/>
              <a:t>Removed 11,239 rows with missing Date values</a:t>
            </a:r>
          </a:p>
          <a:p>
            <a:r>
              <a:rPr lang="en-GB" sz="1600" dirty="0"/>
              <a:t>Removed 5,899 parentheses values e.g. (100)  order cancellations</a:t>
            </a:r>
          </a:p>
          <a:p>
            <a:r>
              <a:rPr lang="en-GB" sz="1600" dirty="0"/>
              <a:t>Converted Date to datetime, </a:t>
            </a:r>
            <a:r>
              <a:rPr lang="en-GB" sz="1600" dirty="0" err="1"/>
              <a:t>Order_Demand</a:t>
            </a:r>
            <a:r>
              <a:rPr lang="en-GB" sz="1600" dirty="0"/>
              <a:t> to numeric (integer)</a:t>
            </a:r>
          </a:p>
          <a:p>
            <a:r>
              <a:rPr lang="en-GB" sz="1600" dirty="0"/>
              <a:t>Removed duplicates appearing 5 or more times - likely system errors</a:t>
            </a:r>
            <a:endParaRPr sz="1600" dirty="0"/>
          </a:p>
        </p:txBody>
      </p:sp>
      <p:sp>
        <p:nvSpPr>
          <p:cNvPr id="4" name="Footer Placeholder 3">
            <a:extLst>
              <a:ext uri="{FF2B5EF4-FFF2-40B4-BE49-F238E27FC236}">
                <a16:creationId xmlns:a16="http://schemas.microsoft.com/office/drawing/2014/main" id="{5A12ADE1-19B3-90EA-B3DC-A324662DE2F5}"/>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AA71C747-ED77-7556-CBC7-99C77634B706}"/>
              </a:ext>
            </a:extLst>
          </p:cNvPr>
          <p:cNvSpPr>
            <a:spLocks noGrp="1"/>
          </p:cNvSpPr>
          <p:nvPr>
            <p:ph type="sldNum" sz="quarter" idx="12"/>
          </p:nvPr>
        </p:nvSpPr>
        <p:spPr/>
        <p:txBody>
          <a:bodyPr/>
          <a:lstStyle/>
          <a:p>
            <a:fld id="{C1FF6DA9-008F-8B48-92A6-B652298478BF}" type="slidenum">
              <a:rPr lang="en-US" smtClean="0"/>
              <a:t>30</a:t>
            </a:fld>
            <a:endParaRPr lang="en-US"/>
          </a:p>
        </p:txBody>
      </p:sp>
      <p:pic>
        <p:nvPicPr>
          <p:cNvPr id="6" name="Picture 5">
            <a:extLst>
              <a:ext uri="{FF2B5EF4-FFF2-40B4-BE49-F238E27FC236}">
                <a16:creationId xmlns:a16="http://schemas.microsoft.com/office/drawing/2014/main" id="{38128EC0-F5EB-BDE9-4305-6B93AA1BC085}"/>
              </a:ext>
            </a:extLst>
          </p:cNvPr>
          <p:cNvPicPr>
            <a:picLocks noChangeAspect="1"/>
          </p:cNvPicPr>
          <p:nvPr/>
        </p:nvPicPr>
        <p:blipFill>
          <a:blip r:embed="rId3"/>
          <a:stretch>
            <a:fillRect/>
          </a:stretch>
        </p:blipFill>
        <p:spPr>
          <a:xfrm>
            <a:off x="2308860" y="2827338"/>
            <a:ext cx="6835140" cy="352901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Descriptive Analysis</a:t>
            </a:r>
          </a:p>
        </p:txBody>
      </p:sp>
      <p:sp>
        <p:nvSpPr>
          <p:cNvPr id="3" name="Content Placeholder 2"/>
          <p:cNvSpPr>
            <a:spLocks noGrp="1"/>
          </p:cNvSpPr>
          <p:nvPr>
            <p:ph idx="1"/>
          </p:nvPr>
        </p:nvSpPr>
        <p:spPr/>
        <p:txBody>
          <a:bodyPr>
            <a:normAutofit/>
          </a:bodyPr>
          <a:lstStyle/>
          <a:p>
            <a:r>
              <a:rPr lang="en-US" dirty="0"/>
              <a:t>Overall Demand Trend</a:t>
            </a:r>
          </a:p>
          <a:p>
            <a:r>
              <a:rPr lang="en-US" dirty="0"/>
              <a:t>Demand by Warehouse</a:t>
            </a:r>
            <a:endParaRPr dirty="0"/>
          </a:p>
          <a:p>
            <a:r>
              <a:rPr lang="en-US" dirty="0"/>
              <a:t>Demand by Product Category</a:t>
            </a:r>
            <a:endParaRPr dirty="0"/>
          </a:p>
          <a:p>
            <a:r>
              <a:rPr lang="en-GB" dirty="0"/>
              <a:t>Stationarity Test (ADF)</a:t>
            </a:r>
            <a:endParaRPr dirty="0"/>
          </a:p>
        </p:txBody>
      </p:sp>
      <p:sp>
        <p:nvSpPr>
          <p:cNvPr id="4" name="Footer Placeholder 3">
            <a:extLst>
              <a:ext uri="{FF2B5EF4-FFF2-40B4-BE49-F238E27FC236}">
                <a16:creationId xmlns:a16="http://schemas.microsoft.com/office/drawing/2014/main" id="{CD0D9D5D-560E-5DE2-6E0A-3F4F99E733DD}"/>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68B25F62-DB59-6607-408B-59C5B10EACD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t>
            </a:r>
            <a:r>
              <a:rPr lang="en-US" dirty="0"/>
              <a:t>Overall Demand Trend</a:t>
            </a:r>
          </a:p>
        </p:txBody>
      </p:sp>
      <p:sp>
        <p:nvSpPr>
          <p:cNvPr id="3" name="Content Placeholder 2"/>
          <p:cNvSpPr>
            <a:spLocks noGrp="1"/>
          </p:cNvSpPr>
          <p:nvPr>
            <p:ph idx="1"/>
          </p:nvPr>
        </p:nvSpPr>
        <p:spPr/>
        <p:txBody>
          <a:bodyPr>
            <a:normAutofit/>
          </a:bodyPr>
          <a:lstStyle/>
          <a:p>
            <a:r>
              <a:rPr lang="en-GB" sz="2400" dirty="0" err="1"/>
              <a:t>Whse_J</a:t>
            </a:r>
            <a:r>
              <a:rPr lang="en-GB" sz="2400" dirty="0"/>
              <a:t> dominates - accounting for ~73% of all orders</a:t>
            </a:r>
          </a:p>
          <a:p>
            <a:r>
              <a:rPr lang="en-GB" sz="2400" dirty="0" err="1"/>
              <a:t>Whse_J</a:t>
            </a:r>
            <a:r>
              <a:rPr lang="en-GB" sz="2400" dirty="0"/>
              <a:t> shows upward trend, </a:t>
            </a:r>
            <a:r>
              <a:rPr lang="en-GB" sz="2400" dirty="0" err="1"/>
              <a:t>Whse_S</a:t>
            </a:r>
            <a:r>
              <a:rPr lang="en-GB" sz="2400" dirty="0"/>
              <a:t> shows downward trend</a:t>
            </a:r>
          </a:p>
          <a:p>
            <a:r>
              <a:rPr lang="en-GB" sz="2400" dirty="0" err="1"/>
              <a:t>Whse_C</a:t>
            </a:r>
            <a:r>
              <a:rPr lang="en-GB" sz="2400" dirty="0"/>
              <a:t> and </a:t>
            </a:r>
            <a:r>
              <a:rPr lang="en-GB" sz="2400" dirty="0" err="1"/>
              <a:t>Whse_A</a:t>
            </a:r>
            <a:r>
              <a:rPr lang="en-GB" sz="2400" dirty="0"/>
              <a:t> remain relatively stable throughout</a:t>
            </a:r>
            <a:endParaRPr sz="2400" dirty="0"/>
          </a:p>
        </p:txBody>
      </p:sp>
      <p:sp>
        <p:nvSpPr>
          <p:cNvPr id="4" name="Footer Placeholder 3">
            <a:extLst>
              <a:ext uri="{FF2B5EF4-FFF2-40B4-BE49-F238E27FC236}">
                <a16:creationId xmlns:a16="http://schemas.microsoft.com/office/drawing/2014/main" id="{334BC9DE-2971-8605-462E-266EEA7B2EC4}"/>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F2CFCAEC-2015-4544-635E-831171A8F46F}"/>
              </a:ext>
            </a:extLst>
          </p:cNvPr>
          <p:cNvSpPr>
            <a:spLocks noGrp="1"/>
          </p:cNvSpPr>
          <p:nvPr>
            <p:ph type="sldNum" sz="quarter" idx="12"/>
          </p:nvPr>
        </p:nvSpPr>
        <p:spPr/>
        <p:txBody>
          <a:bodyPr/>
          <a:lstStyle/>
          <a:p>
            <a:fld id="{C1FF6DA9-008F-8B48-92A6-B652298478BF}" type="slidenum">
              <a:rPr lang="en-US" smtClean="0"/>
              <a:t>32</a:t>
            </a:fld>
            <a:endParaRPr lang="en-US"/>
          </a:p>
        </p:txBody>
      </p:sp>
      <p:pic>
        <p:nvPicPr>
          <p:cNvPr id="7" name="Picture 6">
            <a:extLst>
              <a:ext uri="{FF2B5EF4-FFF2-40B4-BE49-F238E27FC236}">
                <a16:creationId xmlns:a16="http://schemas.microsoft.com/office/drawing/2014/main" id="{CCCF288B-DD2E-CAD9-6C1F-378AA0A420E8}"/>
              </a:ext>
            </a:extLst>
          </p:cNvPr>
          <p:cNvPicPr>
            <a:picLocks noChangeAspect="1"/>
          </p:cNvPicPr>
          <p:nvPr/>
        </p:nvPicPr>
        <p:blipFill>
          <a:blip r:embed="rId3"/>
          <a:stretch>
            <a:fillRect/>
          </a:stretch>
        </p:blipFill>
        <p:spPr>
          <a:xfrm>
            <a:off x="685800" y="3019195"/>
            <a:ext cx="7772400" cy="3289530"/>
          </a:xfrm>
          <a:prstGeom prst="rect">
            <a:avLst/>
          </a:prstGeom>
        </p:spPr>
      </p:pic>
    </p:spTree>
    <p:extLst>
      <p:ext uri="{BB962C8B-B14F-4D97-AF65-F5344CB8AC3E}">
        <p14:creationId xmlns:p14="http://schemas.microsoft.com/office/powerpoint/2010/main" val="17618776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t>
            </a:r>
            <a:r>
              <a:rPr lang="en-GB" b="0" i="0" u="none" strike="noStrike" dirty="0">
                <a:solidFill>
                  <a:srgbClr val="000000"/>
                </a:solidFill>
                <a:effectLst/>
                <a:latin typeface="-webkit-standard"/>
              </a:rPr>
              <a:t>Demand by Warehouse</a:t>
            </a:r>
            <a:endParaRPr lang="en-US" dirty="0"/>
          </a:p>
        </p:txBody>
      </p:sp>
      <p:sp>
        <p:nvSpPr>
          <p:cNvPr id="3" name="Content Placeholder 2"/>
          <p:cNvSpPr>
            <a:spLocks noGrp="1"/>
          </p:cNvSpPr>
          <p:nvPr>
            <p:ph idx="1"/>
          </p:nvPr>
        </p:nvSpPr>
        <p:spPr/>
        <p:txBody>
          <a:bodyPr>
            <a:normAutofit/>
          </a:bodyPr>
          <a:lstStyle/>
          <a:p>
            <a:pPr>
              <a:buFont typeface="Arial" panose="020B0604020202020204" pitchFamily="34" charset="0"/>
              <a:buChar char="•"/>
            </a:pPr>
            <a:r>
              <a:rPr lang="en-GB" sz="2000" dirty="0" err="1"/>
              <a:t>Whse_J</a:t>
            </a:r>
            <a:r>
              <a:rPr lang="en-GB" sz="2000" dirty="0"/>
              <a:t> handles ~764,000 orders - 73% of total demand</a:t>
            </a:r>
          </a:p>
          <a:p>
            <a:pPr>
              <a:buFont typeface="Arial" panose="020B0604020202020204" pitchFamily="34" charset="0"/>
              <a:buChar char="•"/>
            </a:pPr>
            <a:r>
              <a:rPr lang="en-GB" sz="2000" dirty="0" err="1"/>
              <a:t>Whse_A</a:t>
            </a:r>
            <a:r>
              <a:rPr lang="en-GB" sz="2000" dirty="0"/>
              <a:t> second with ~153,000, </a:t>
            </a:r>
            <a:r>
              <a:rPr lang="en-GB" sz="2000" dirty="0" err="1"/>
              <a:t>Whse_S</a:t>
            </a:r>
            <a:r>
              <a:rPr lang="en-GB" sz="2000" dirty="0"/>
              <a:t> ~88,000, </a:t>
            </a:r>
            <a:r>
              <a:rPr lang="en-GB" sz="2000" dirty="0" err="1"/>
              <a:t>Whse_C</a:t>
            </a:r>
            <a:r>
              <a:rPr lang="en-GB" sz="2000" dirty="0"/>
              <a:t> ~42,000</a:t>
            </a:r>
          </a:p>
          <a:p>
            <a:pPr>
              <a:buFont typeface="Arial" panose="020B0604020202020204" pitchFamily="34" charset="0"/>
              <a:buChar char="•"/>
            </a:pPr>
            <a:r>
              <a:rPr lang="en-GB" sz="2000" dirty="0"/>
              <a:t>Demand is highly concentrated - one warehouse dominates</a:t>
            </a:r>
            <a:endParaRPr lang="en-GB" sz="2400" dirty="0"/>
          </a:p>
        </p:txBody>
      </p:sp>
      <p:sp>
        <p:nvSpPr>
          <p:cNvPr id="4" name="Footer Placeholder 3">
            <a:extLst>
              <a:ext uri="{FF2B5EF4-FFF2-40B4-BE49-F238E27FC236}">
                <a16:creationId xmlns:a16="http://schemas.microsoft.com/office/drawing/2014/main" id="{37B65B29-5DBD-E88C-D2B8-0E2FD80BF2D6}"/>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971DDEDE-8290-07EC-1FE7-AC5A78264F9E}"/>
              </a:ext>
            </a:extLst>
          </p:cNvPr>
          <p:cNvSpPr>
            <a:spLocks noGrp="1"/>
          </p:cNvSpPr>
          <p:nvPr>
            <p:ph type="sldNum" sz="quarter" idx="12"/>
          </p:nvPr>
        </p:nvSpPr>
        <p:spPr/>
        <p:txBody>
          <a:bodyPr/>
          <a:lstStyle/>
          <a:p>
            <a:fld id="{C1FF6DA9-008F-8B48-92A6-B652298478BF}" type="slidenum">
              <a:rPr lang="en-US" smtClean="0"/>
              <a:t>33</a:t>
            </a:fld>
            <a:endParaRPr lang="en-US"/>
          </a:p>
        </p:txBody>
      </p:sp>
      <p:pic>
        <p:nvPicPr>
          <p:cNvPr id="6" name="Picture 5">
            <a:extLst>
              <a:ext uri="{FF2B5EF4-FFF2-40B4-BE49-F238E27FC236}">
                <a16:creationId xmlns:a16="http://schemas.microsoft.com/office/drawing/2014/main" id="{6927229A-9586-71E4-2B20-F39220FA731A}"/>
              </a:ext>
            </a:extLst>
          </p:cNvPr>
          <p:cNvPicPr>
            <a:picLocks noChangeAspect="1"/>
          </p:cNvPicPr>
          <p:nvPr/>
        </p:nvPicPr>
        <p:blipFill>
          <a:blip r:embed="rId3"/>
          <a:stretch>
            <a:fillRect/>
          </a:stretch>
        </p:blipFill>
        <p:spPr>
          <a:xfrm>
            <a:off x="2823210" y="2959736"/>
            <a:ext cx="5657850" cy="3348989"/>
          </a:xfrm>
          <a:prstGeom prst="rect">
            <a:avLst/>
          </a:prstGeom>
        </p:spPr>
      </p:pic>
    </p:spTree>
    <p:extLst>
      <p:ext uri="{BB962C8B-B14F-4D97-AF65-F5344CB8AC3E}">
        <p14:creationId xmlns:p14="http://schemas.microsoft.com/office/powerpoint/2010/main" val="37743652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Analysis: </a:t>
            </a:r>
            <a:r>
              <a:rPr lang="en-GB" b="0" i="0" u="none" strike="noStrike" dirty="0">
                <a:solidFill>
                  <a:srgbClr val="000000"/>
                </a:solidFill>
                <a:effectLst/>
              </a:rPr>
              <a:t>Demand by Product Category</a:t>
            </a:r>
            <a:endParaRPr lang="en-US" dirty="0"/>
          </a:p>
        </p:txBody>
      </p:sp>
      <p:sp>
        <p:nvSpPr>
          <p:cNvPr id="3" name="Content Placeholder 2"/>
          <p:cNvSpPr>
            <a:spLocks noGrp="1"/>
          </p:cNvSpPr>
          <p:nvPr>
            <p:ph idx="1"/>
          </p:nvPr>
        </p:nvSpPr>
        <p:spPr>
          <a:xfrm>
            <a:off x="457199" y="1600200"/>
            <a:ext cx="8686801" cy="1142999"/>
          </a:xfrm>
        </p:spPr>
        <p:txBody>
          <a:bodyPr>
            <a:noAutofit/>
          </a:bodyPr>
          <a:lstStyle/>
          <a:p>
            <a:r>
              <a:rPr lang="en-GB" sz="2000" dirty="0"/>
              <a:t>Category_019 dominates in every single warehouse</a:t>
            </a:r>
          </a:p>
          <a:p>
            <a:r>
              <a:rPr lang="en-GB" sz="2000" dirty="0"/>
              <a:t>One category drives most demand - others are significantly lower</a:t>
            </a:r>
          </a:p>
          <a:p>
            <a:r>
              <a:rPr lang="en-GB" sz="2000" dirty="0"/>
              <a:t>Supports ABC analysis - focus forecasting on top categories</a:t>
            </a:r>
          </a:p>
        </p:txBody>
      </p:sp>
      <p:sp>
        <p:nvSpPr>
          <p:cNvPr id="4" name="Footer Placeholder 3">
            <a:extLst>
              <a:ext uri="{FF2B5EF4-FFF2-40B4-BE49-F238E27FC236}">
                <a16:creationId xmlns:a16="http://schemas.microsoft.com/office/drawing/2014/main" id="{20064D47-090A-19C2-5CCD-116C3F61DF9E}"/>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71133CA6-DB49-28CF-93F5-C6875FC8D6F1}"/>
              </a:ext>
            </a:extLst>
          </p:cNvPr>
          <p:cNvSpPr>
            <a:spLocks noGrp="1"/>
          </p:cNvSpPr>
          <p:nvPr>
            <p:ph type="sldNum" sz="quarter" idx="12"/>
          </p:nvPr>
        </p:nvSpPr>
        <p:spPr/>
        <p:txBody>
          <a:bodyPr/>
          <a:lstStyle/>
          <a:p>
            <a:fld id="{C1FF6DA9-008F-8B48-92A6-B652298478BF}" type="slidenum">
              <a:rPr lang="en-US" smtClean="0"/>
              <a:t>34</a:t>
            </a:fld>
            <a:endParaRPr lang="en-US"/>
          </a:p>
        </p:txBody>
      </p:sp>
      <p:pic>
        <p:nvPicPr>
          <p:cNvPr id="7" name="Picture 6">
            <a:extLst>
              <a:ext uri="{FF2B5EF4-FFF2-40B4-BE49-F238E27FC236}">
                <a16:creationId xmlns:a16="http://schemas.microsoft.com/office/drawing/2014/main" id="{69EAF0F0-88C7-E66E-7E30-E398AE989BCF}"/>
              </a:ext>
            </a:extLst>
          </p:cNvPr>
          <p:cNvPicPr>
            <a:picLocks noChangeAspect="1"/>
          </p:cNvPicPr>
          <p:nvPr/>
        </p:nvPicPr>
        <p:blipFill>
          <a:blip r:embed="rId3"/>
          <a:stretch>
            <a:fillRect/>
          </a:stretch>
        </p:blipFill>
        <p:spPr>
          <a:xfrm>
            <a:off x="3124200" y="2743199"/>
            <a:ext cx="5562600" cy="3680305"/>
          </a:xfrm>
          <a:prstGeom prst="rect">
            <a:avLst/>
          </a:prstGeom>
        </p:spPr>
      </p:pic>
    </p:spTree>
    <p:extLst>
      <p:ext uri="{BB962C8B-B14F-4D97-AF65-F5344CB8AC3E}">
        <p14:creationId xmlns:p14="http://schemas.microsoft.com/office/powerpoint/2010/main" val="3770586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Analysis: Stationarity Test (ADF)</a:t>
            </a:r>
            <a:endParaRPr lang="en-US" dirty="0"/>
          </a:p>
        </p:txBody>
      </p:sp>
      <p:sp>
        <p:nvSpPr>
          <p:cNvPr id="3" name="Content Placeholder 2"/>
          <p:cNvSpPr>
            <a:spLocks noGrp="1"/>
          </p:cNvSpPr>
          <p:nvPr>
            <p:ph idx="1"/>
          </p:nvPr>
        </p:nvSpPr>
        <p:spPr/>
        <p:txBody>
          <a:bodyPr>
            <a:normAutofit/>
          </a:bodyPr>
          <a:lstStyle/>
          <a:p>
            <a:r>
              <a:rPr lang="en-GB" sz="2000" dirty="0" err="1"/>
              <a:t>Whse_J</a:t>
            </a:r>
            <a:r>
              <a:rPr lang="en-GB" sz="2000" dirty="0"/>
              <a:t> and </a:t>
            </a:r>
            <a:r>
              <a:rPr lang="en-GB" sz="2000" dirty="0" err="1"/>
              <a:t>Whse_S</a:t>
            </a:r>
            <a:r>
              <a:rPr lang="en-GB" sz="2000" dirty="0"/>
              <a:t> — Not Stationary (p &gt; 0.05) → require ARIMA</a:t>
            </a:r>
          </a:p>
          <a:p>
            <a:r>
              <a:rPr lang="en-GB" sz="2000" dirty="0" err="1"/>
              <a:t>Whse_C</a:t>
            </a:r>
            <a:r>
              <a:rPr lang="en-GB" sz="2000" dirty="0"/>
              <a:t> and </a:t>
            </a:r>
            <a:r>
              <a:rPr lang="en-GB" sz="2000" dirty="0" err="1"/>
              <a:t>Whse_A</a:t>
            </a:r>
            <a:r>
              <a:rPr lang="en-GB" sz="2000" dirty="0"/>
              <a:t> — Stationary (p ≤ 0.05) → can use ARMA directly</a:t>
            </a:r>
            <a:endParaRPr sz="2400" dirty="0"/>
          </a:p>
        </p:txBody>
      </p:sp>
      <p:sp>
        <p:nvSpPr>
          <p:cNvPr id="4" name="Footer Placeholder 3">
            <a:extLst>
              <a:ext uri="{FF2B5EF4-FFF2-40B4-BE49-F238E27FC236}">
                <a16:creationId xmlns:a16="http://schemas.microsoft.com/office/drawing/2014/main" id="{88E8AD3A-D707-00A2-53EC-B34DD3F76F3F}"/>
              </a:ext>
            </a:extLst>
          </p:cNvPr>
          <p:cNvSpPr>
            <a:spLocks noGrp="1"/>
          </p:cNvSpPr>
          <p:nvPr>
            <p:ph type="ftr" sz="quarter" idx="11"/>
          </p:nvPr>
        </p:nvSpPr>
        <p:spPr/>
        <p:txBody>
          <a:bodyPr/>
          <a:lstStyle/>
          <a:p>
            <a:r>
              <a:rPr lang="en-DE" dirty="0"/>
              <a:t>May Zin Ko</a:t>
            </a:r>
            <a:endParaRPr lang="en-US" dirty="0"/>
          </a:p>
        </p:txBody>
      </p:sp>
      <p:sp>
        <p:nvSpPr>
          <p:cNvPr id="5" name="Slide Number Placeholder 4">
            <a:extLst>
              <a:ext uri="{FF2B5EF4-FFF2-40B4-BE49-F238E27FC236}">
                <a16:creationId xmlns:a16="http://schemas.microsoft.com/office/drawing/2014/main" id="{A3E3ECEF-AE2F-2F4F-C8D0-D715E1817A15}"/>
              </a:ext>
            </a:extLst>
          </p:cNvPr>
          <p:cNvSpPr>
            <a:spLocks noGrp="1"/>
          </p:cNvSpPr>
          <p:nvPr>
            <p:ph type="sldNum" sz="quarter" idx="12"/>
          </p:nvPr>
        </p:nvSpPr>
        <p:spPr/>
        <p:txBody>
          <a:bodyPr/>
          <a:lstStyle/>
          <a:p>
            <a:fld id="{C1FF6DA9-008F-8B48-92A6-B652298478BF}" type="slidenum">
              <a:rPr lang="en-US" smtClean="0"/>
              <a:t>35</a:t>
            </a:fld>
            <a:endParaRPr lang="en-US"/>
          </a:p>
        </p:txBody>
      </p:sp>
      <p:pic>
        <p:nvPicPr>
          <p:cNvPr id="6" name="Picture 5">
            <a:extLst>
              <a:ext uri="{FF2B5EF4-FFF2-40B4-BE49-F238E27FC236}">
                <a16:creationId xmlns:a16="http://schemas.microsoft.com/office/drawing/2014/main" id="{244C0068-1B5B-9451-6721-9C804B04B29C}"/>
              </a:ext>
            </a:extLst>
          </p:cNvPr>
          <p:cNvPicPr>
            <a:picLocks noChangeAspect="1"/>
          </p:cNvPicPr>
          <p:nvPr/>
        </p:nvPicPr>
        <p:blipFill>
          <a:blip r:embed="rId3"/>
          <a:stretch>
            <a:fillRect/>
          </a:stretch>
        </p:blipFill>
        <p:spPr>
          <a:xfrm>
            <a:off x="1165860" y="2486074"/>
            <a:ext cx="7292340" cy="3870276"/>
          </a:xfrm>
          <a:prstGeom prst="rect">
            <a:avLst/>
          </a:prstGeom>
        </p:spPr>
      </p:pic>
    </p:spTree>
    <p:extLst>
      <p:ext uri="{BB962C8B-B14F-4D97-AF65-F5344CB8AC3E}">
        <p14:creationId xmlns:p14="http://schemas.microsoft.com/office/powerpoint/2010/main" val="5691930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ML Algorithms</a:t>
            </a:r>
          </a:p>
        </p:txBody>
      </p:sp>
      <p:sp>
        <p:nvSpPr>
          <p:cNvPr id="3" name="Footer Placeholder 2">
            <a:extLst>
              <a:ext uri="{FF2B5EF4-FFF2-40B4-BE49-F238E27FC236}">
                <a16:creationId xmlns:a16="http://schemas.microsoft.com/office/drawing/2014/main" id="{F24207F9-6FF9-751E-D26D-F4B3A7D5DE4B}"/>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endParaRPr lang="en-US" dirty="0"/>
          </a:p>
        </p:txBody>
      </p:sp>
      <p:sp>
        <p:nvSpPr>
          <p:cNvPr id="4" name="Slide Number Placeholder 3">
            <a:extLst>
              <a:ext uri="{FF2B5EF4-FFF2-40B4-BE49-F238E27FC236}">
                <a16:creationId xmlns:a16="http://schemas.microsoft.com/office/drawing/2014/main" id="{A5BC57A6-3A0B-600E-319A-657E3CBA5F1F}"/>
              </a:ext>
            </a:extLst>
          </p:cNvPr>
          <p:cNvSpPr>
            <a:spLocks noGrp="1"/>
          </p:cNvSpPr>
          <p:nvPr>
            <p:ph type="sldNum" sz="quarter" idx="12"/>
          </p:nvPr>
        </p:nvSpPr>
        <p:spPr/>
        <p:txBody>
          <a:bodyPr/>
          <a:lstStyle/>
          <a:p>
            <a:fld id="{C1FF6DA9-008F-8B48-92A6-B652298478BF}" type="slidenum">
              <a:rPr lang="en-US" smtClean="0"/>
              <a:t>36</a:t>
            </a:fld>
            <a:endParaRPr lang="en-US"/>
          </a:p>
        </p:txBody>
      </p:sp>
    </p:spTree>
    <p:extLst>
      <p:ext uri="{BB962C8B-B14F-4D97-AF65-F5344CB8AC3E}">
        <p14:creationId xmlns:p14="http://schemas.microsoft.com/office/powerpoint/2010/main" val="1128686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b="0" i="0" u="none" strike="noStrike" dirty="0">
                <a:solidFill>
                  <a:srgbClr val="000000"/>
                </a:solidFill>
                <a:effectLst/>
              </a:rPr>
              <a:t>ML Algorithms (Overview)</a:t>
            </a:r>
            <a:endParaRPr lang="en-GB" dirty="0"/>
          </a:p>
        </p:txBody>
      </p:sp>
      <p:sp>
        <p:nvSpPr>
          <p:cNvPr id="3" name="Content Placeholder 2"/>
          <p:cNvSpPr>
            <a:spLocks noGrp="1"/>
          </p:cNvSpPr>
          <p:nvPr>
            <p:ph idx="1"/>
          </p:nvPr>
        </p:nvSpPr>
        <p:spPr/>
        <p:txBody>
          <a:bodyPr/>
          <a:lstStyle/>
          <a:p>
            <a:r>
              <a:rPr lang="en-GB" dirty="0"/>
              <a:t>(ARMA vs ARIMA) </a:t>
            </a:r>
            <a:r>
              <a:rPr lang="en-US" dirty="0"/>
              <a:t>&amp; (Random Forest)</a:t>
            </a:r>
          </a:p>
          <a:p>
            <a:r>
              <a:rPr lang="en-US" dirty="0" err="1">
                <a:solidFill>
                  <a:srgbClr val="FF0000"/>
                </a:solidFill>
              </a:rPr>
              <a:t>Nashitah</a:t>
            </a:r>
            <a:r>
              <a:rPr lang="en-US" dirty="0"/>
              <a:t> ??</a:t>
            </a:r>
          </a:p>
          <a:p>
            <a:r>
              <a:rPr lang="en-US" dirty="0">
                <a:solidFill>
                  <a:srgbClr val="FF0000"/>
                </a:solidFill>
              </a:rPr>
              <a:t>Louis </a:t>
            </a:r>
            <a:r>
              <a:rPr lang="en-US" dirty="0"/>
              <a:t>??</a:t>
            </a:r>
            <a:endParaRPr dirty="0"/>
          </a:p>
        </p:txBody>
      </p:sp>
      <p:sp>
        <p:nvSpPr>
          <p:cNvPr id="4" name="Footer Placeholder 3">
            <a:extLst>
              <a:ext uri="{FF2B5EF4-FFF2-40B4-BE49-F238E27FC236}">
                <a16:creationId xmlns:a16="http://schemas.microsoft.com/office/drawing/2014/main" id="{9709C039-DD3D-E5B2-33D5-CA03FDAF68C4}"/>
              </a:ext>
            </a:extLst>
          </p:cNvPr>
          <p:cNvSpPr>
            <a:spLocks noGrp="1"/>
          </p:cNvSpPr>
          <p:nvPr>
            <p:ph type="ftr" sz="quarter" idx="11"/>
          </p:nvPr>
        </p:nvSpPr>
        <p:spPr/>
        <p:txBody>
          <a:bodyPr/>
          <a:lstStyle/>
          <a:p>
            <a:r>
              <a:rPr lang="en-GB" sz="1200" dirty="0">
                <a:effectLst/>
                <a:latin typeface="Poppins" pitchFamily="2" charset="77"/>
              </a:rPr>
              <a:t>May Zin Ko</a:t>
            </a:r>
            <a:endParaRPr lang="en-US" dirty="0"/>
          </a:p>
        </p:txBody>
      </p:sp>
      <p:sp>
        <p:nvSpPr>
          <p:cNvPr id="5" name="Slide Number Placeholder 4">
            <a:extLst>
              <a:ext uri="{FF2B5EF4-FFF2-40B4-BE49-F238E27FC236}">
                <a16:creationId xmlns:a16="http://schemas.microsoft.com/office/drawing/2014/main" id="{91DDC97A-F6AF-9754-B7E3-605888B52C2B}"/>
              </a:ext>
            </a:extLst>
          </p:cNvPr>
          <p:cNvSpPr>
            <a:spLocks noGrp="1"/>
          </p:cNvSpPr>
          <p:nvPr>
            <p:ph type="sldNum" sz="quarter" idx="12"/>
          </p:nvPr>
        </p:nvSpPr>
        <p:spPr/>
        <p:txBody>
          <a:bodyPr/>
          <a:lstStyle/>
          <a:p>
            <a:fld id="{C1FF6DA9-008F-8B48-92A6-B652298478BF}" type="slidenum">
              <a:rPr lang="en-US" smtClean="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ML Algorithm: ARMA vs ARIMA</a:t>
            </a:r>
            <a:endParaRPr dirty="0"/>
          </a:p>
        </p:txBody>
      </p:sp>
      <p:pic>
        <p:nvPicPr>
          <p:cNvPr id="6" name="Content Placeholder 5">
            <a:extLst>
              <a:ext uri="{FF2B5EF4-FFF2-40B4-BE49-F238E27FC236}">
                <a16:creationId xmlns:a16="http://schemas.microsoft.com/office/drawing/2014/main" id="{5B080156-3754-BEDF-C9C4-EA66D13BFBFB}"/>
              </a:ext>
            </a:extLst>
          </p:cNvPr>
          <p:cNvPicPr>
            <a:picLocks noGrp="1" noChangeAspect="1"/>
          </p:cNvPicPr>
          <p:nvPr>
            <p:ph idx="1"/>
          </p:nvPr>
        </p:nvPicPr>
        <p:blipFill>
          <a:blip r:embed="rId3"/>
          <a:stretch>
            <a:fillRect/>
          </a:stretch>
        </p:blipFill>
        <p:spPr>
          <a:xfrm>
            <a:off x="1102095" y="1600200"/>
            <a:ext cx="6939809" cy="4525963"/>
          </a:xfrm>
          <a:prstGeom prst="rect">
            <a:avLst/>
          </a:prstGeom>
        </p:spPr>
      </p:pic>
      <p:sp>
        <p:nvSpPr>
          <p:cNvPr id="4" name="Footer Placeholder 3">
            <a:extLst>
              <a:ext uri="{FF2B5EF4-FFF2-40B4-BE49-F238E27FC236}">
                <a16:creationId xmlns:a16="http://schemas.microsoft.com/office/drawing/2014/main" id="{2C46E1FB-AF3F-86D4-E28C-91E4F88F1767}"/>
              </a:ext>
            </a:extLst>
          </p:cNvPr>
          <p:cNvSpPr>
            <a:spLocks noGrp="1"/>
          </p:cNvSpPr>
          <p:nvPr>
            <p:ph type="ftr" sz="quarter" idx="11"/>
          </p:nvPr>
        </p:nvSpPr>
        <p:spPr/>
        <p:txBody>
          <a:bodyPr/>
          <a:lstStyle/>
          <a:p>
            <a:r>
              <a:rPr lang="en-GB" sz="1200" dirty="0">
                <a:effectLst/>
                <a:latin typeface="Poppins" pitchFamily="2" charset="77"/>
              </a:rPr>
              <a:t>May Zin Ko</a:t>
            </a:r>
            <a:endParaRPr lang="en-US" dirty="0"/>
          </a:p>
        </p:txBody>
      </p:sp>
      <p:sp>
        <p:nvSpPr>
          <p:cNvPr id="5" name="Slide Number Placeholder 4">
            <a:extLst>
              <a:ext uri="{FF2B5EF4-FFF2-40B4-BE49-F238E27FC236}">
                <a16:creationId xmlns:a16="http://schemas.microsoft.com/office/drawing/2014/main" id="{FBB7CAD5-0BF2-0F56-CEF9-3D238AC24849}"/>
              </a:ext>
            </a:extLst>
          </p:cNvPr>
          <p:cNvSpPr>
            <a:spLocks noGrp="1"/>
          </p:cNvSpPr>
          <p:nvPr>
            <p:ph type="sldNum" sz="quarter" idx="12"/>
          </p:nvPr>
        </p:nvSpPr>
        <p:spPr/>
        <p:txBody>
          <a:bodyPr/>
          <a:lstStyle/>
          <a:p>
            <a:fld id="{C1FF6DA9-008F-8B48-92A6-B652298478BF}" type="slidenum">
              <a:rPr lang="en-US" smtClean="0"/>
              <a:t>38</a:t>
            </a:fld>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0" i="0" u="none" strike="noStrike" dirty="0">
                <a:solidFill>
                  <a:srgbClr val="000000"/>
                </a:solidFill>
                <a:effectLst/>
                <a:latin typeface="-webkit-standard"/>
              </a:rPr>
              <a:t>Random Forest</a:t>
            </a:r>
            <a:endParaRPr dirty="0"/>
          </a:p>
        </p:txBody>
      </p:sp>
      <p:pic>
        <p:nvPicPr>
          <p:cNvPr id="7" name="Content Placeholder 6">
            <a:extLst>
              <a:ext uri="{FF2B5EF4-FFF2-40B4-BE49-F238E27FC236}">
                <a16:creationId xmlns:a16="http://schemas.microsoft.com/office/drawing/2014/main" id="{632DF19D-4628-D9A8-4D73-7798C8E13A09}"/>
              </a:ext>
            </a:extLst>
          </p:cNvPr>
          <p:cNvPicPr>
            <a:picLocks noGrp="1" noChangeAspect="1"/>
          </p:cNvPicPr>
          <p:nvPr>
            <p:ph idx="1"/>
          </p:nvPr>
        </p:nvPicPr>
        <p:blipFill>
          <a:blip r:embed="rId3"/>
          <a:stretch>
            <a:fillRect/>
          </a:stretch>
        </p:blipFill>
        <p:spPr>
          <a:xfrm>
            <a:off x="457200" y="1738692"/>
            <a:ext cx="8229600" cy="4248978"/>
          </a:xfrm>
          <a:prstGeom prst="rect">
            <a:avLst/>
          </a:prstGeom>
        </p:spPr>
      </p:pic>
      <p:sp>
        <p:nvSpPr>
          <p:cNvPr id="4" name="Footer Placeholder 3">
            <a:extLst>
              <a:ext uri="{FF2B5EF4-FFF2-40B4-BE49-F238E27FC236}">
                <a16:creationId xmlns:a16="http://schemas.microsoft.com/office/drawing/2014/main" id="{2CF5822F-F142-F2DC-5CFB-3B0EB066C217}"/>
              </a:ext>
            </a:extLst>
          </p:cNvPr>
          <p:cNvSpPr>
            <a:spLocks noGrp="1"/>
          </p:cNvSpPr>
          <p:nvPr>
            <p:ph type="ftr" sz="quarter" idx="11"/>
          </p:nvPr>
        </p:nvSpPr>
        <p:spPr/>
        <p:txBody>
          <a:bodyPr/>
          <a:lstStyle/>
          <a:p>
            <a:r>
              <a:rPr lang="en-GB" sz="1200" dirty="0">
                <a:effectLst/>
                <a:latin typeface="Poppins" pitchFamily="2" charset="77"/>
              </a:rPr>
              <a:t>May Zin Ko</a:t>
            </a:r>
            <a:endParaRPr lang="en-US" dirty="0"/>
          </a:p>
        </p:txBody>
      </p:sp>
      <p:sp>
        <p:nvSpPr>
          <p:cNvPr id="5" name="Slide Number Placeholder 4">
            <a:extLst>
              <a:ext uri="{FF2B5EF4-FFF2-40B4-BE49-F238E27FC236}">
                <a16:creationId xmlns:a16="http://schemas.microsoft.com/office/drawing/2014/main" id="{BB86A317-7142-F3DD-55C2-6B803F6E8D11}"/>
              </a:ext>
            </a:extLst>
          </p:cNvPr>
          <p:cNvSpPr>
            <a:spLocks noGrp="1"/>
          </p:cNvSpPr>
          <p:nvPr>
            <p:ph type="sldNum" sz="quarter" idx="12"/>
          </p:nvPr>
        </p:nvSpPr>
        <p:spPr/>
        <p:txBody>
          <a:bodyPr/>
          <a:lstStyle/>
          <a:p>
            <a:fld id="{C1FF6DA9-008F-8B48-92A6-B652298478BF}" type="slidenum">
              <a:rPr lang="en-US" smtClean="0"/>
              <a:t>39</a:t>
            </a:fld>
            <a:endParaRPr lang="en-US" dirty="0"/>
          </a:p>
        </p:txBody>
      </p:sp>
    </p:spTree>
    <p:extLst>
      <p:ext uri="{BB962C8B-B14F-4D97-AF65-F5344CB8AC3E}">
        <p14:creationId xmlns:p14="http://schemas.microsoft.com/office/powerpoint/2010/main" val="38639211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DEF65-7244-2B86-494D-571156997F78}"/>
              </a:ext>
            </a:extLst>
          </p:cNvPr>
          <p:cNvSpPr>
            <a:spLocks noGrp="1"/>
          </p:cNvSpPr>
          <p:nvPr>
            <p:ph type="title"/>
          </p:nvPr>
        </p:nvSpPr>
        <p:spPr/>
        <p:txBody>
          <a:bodyPr/>
          <a:lstStyle/>
          <a:p>
            <a:r>
              <a:rPr lang="en-DE" dirty="0"/>
              <a:t>Nashitah??</a:t>
            </a:r>
          </a:p>
        </p:txBody>
      </p:sp>
      <p:sp>
        <p:nvSpPr>
          <p:cNvPr id="3" name="Content Placeholder 2">
            <a:extLst>
              <a:ext uri="{FF2B5EF4-FFF2-40B4-BE49-F238E27FC236}">
                <a16:creationId xmlns:a16="http://schemas.microsoft.com/office/drawing/2014/main" id="{AFA9812A-EBE0-3F74-4A9C-983684C6ED6C}"/>
              </a:ext>
            </a:extLst>
          </p:cNvPr>
          <p:cNvSpPr>
            <a:spLocks noGrp="1"/>
          </p:cNvSpPr>
          <p:nvPr>
            <p:ph idx="1"/>
          </p:nvPr>
        </p:nvSpPr>
        <p:spPr/>
        <p:txBody>
          <a:bodyPr/>
          <a:lstStyle/>
          <a:p>
            <a:endParaRPr lang="en-DE"/>
          </a:p>
        </p:txBody>
      </p:sp>
      <p:sp>
        <p:nvSpPr>
          <p:cNvPr id="4" name="Footer Placeholder 3">
            <a:extLst>
              <a:ext uri="{FF2B5EF4-FFF2-40B4-BE49-F238E27FC236}">
                <a16:creationId xmlns:a16="http://schemas.microsoft.com/office/drawing/2014/main" id="{7994C4C7-4258-F229-058B-A4ED86CBBE9A}"/>
              </a:ext>
            </a:extLst>
          </p:cNvPr>
          <p:cNvSpPr>
            <a:spLocks noGrp="1"/>
          </p:cNvSpPr>
          <p:nvPr>
            <p:ph type="ftr" sz="quarter" idx="11"/>
          </p:nvPr>
        </p:nvSpPr>
        <p:spPr/>
        <p:txBody>
          <a:bodyPr/>
          <a:lstStyle/>
          <a:p>
            <a:r>
              <a:rPr lang="en-US" dirty="0" err="1"/>
              <a:t>Nashitah</a:t>
            </a:r>
            <a:endParaRPr lang="en-US" dirty="0"/>
          </a:p>
        </p:txBody>
      </p:sp>
      <p:sp>
        <p:nvSpPr>
          <p:cNvPr id="5" name="Slide Number Placeholder 4">
            <a:extLst>
              <a:ext uri="{FF2B5EF4-FFF2-40B4-BE49-F238E27FC236}">
                <a16:creationId xmlns:a16="http://schemas.microsoft.com/office/drawing/2014/main" id="{01E17B69-82FC-EEC6-EEC5-9D0F1939701F}"/>
              </a:ext>
            </a:extLst>
          </p:cNvPr>
          <p:cNvSpPr>
            <a:spLocks noGrp="1"/>
          </p:cNvSpPr>
          <p:nvPr>
            <p:ph type="sldNum" sz="quarter" idx="12"/>
          </p:nvPr>
        </p:nvSpPr>
        <p:spPr/>
        <p:txBody>
          <a:bodyPr/>
          <a:lstStyle/>
          <a:p>
            <a:fld id="{C1FF6DA9-008F-8B48-92A6-B652298478BF}" type="slidenum">
              <a:rPr lang="en-US" smtClean="0"/>
              <a:t>40</a:t>
            </a:fld>
            <a:endParaRPr lang="en-US"/>
          </a:p>
        </p:txBody>
      </p:sp>
    </p:spTree>
    <p:extLst>
      <p:ext uri="{BB962C8B-B14F-4D97-AF65-F5344CB8AC3E}">
        <p14:creationId xmlns:p14="http://schemas.microsoft.com/office/powerpoint/2010/main" val="3444627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34467-D7A1-C355-85EE-E9606658D29B}"/>
              </a:ext>
            </a:extLst>
          </p:cNvPr>
          <p:cNvSpPr>
            <a:spLocks noGrp="1"/>
          </p:cNvSpPr>
          <p:nvPr>
            <p:ph type="title"/>
          </p:nvPr>
        </p:nvSpPr>
        <p:spPr/>
        <p:txBody>
          <a:bodyPr>
            <a:normAutofit/>
          </a:bodyPr>
          <a:lstStyle/>
          <a:p>
            <a:r>
              <a:rPr lang="en-GB" sz="4400" dirty="0">
                <a:effectLst/>
                <a:latin typeface="Poppins" pitchFamily="2" charset="77"/>
              </a:rPr>
              <a:t>Louis </a:t>
            </a:r>
            <a:r>
              <a:rPr lang="en-GB" sz="4400" dirty="0" err="1">
                <a:effectLst/>
                <a:latin typeface="Poppins" pitchFamily="2" charset="77"/>
              </a:rPr>
              <a:t>Odinkemelu</a:t>
            </a:r>
            <a:r>
              <a:rPr lang="en-GB" sz="4400" dirty="0">
                <a:effectLst/>
                <a:latin typeface="Poppins" pitchFamily="2" charset="77"/>
              </a:rPr>
              <a:t> ??</a:t>
            </a:r>
            <a:endParaRPr lang="en-DE" dirty="0"/>
          </a:p>
        </p:txBody>
      </p:sp>
      <p:sp>
        <p:nvSpPr>
          <p:cNvPr id="3" name="Content Placeholder 2">
            <a:extLst>
              <a:ext uri="{FF2B5EF4-FFF2-40B4-BE49-F238E27FC236}">
                <a16:creationId xmlns:a16="http://schemas.microsoft.com/office/drawing/2014/main" id="{95E587AF-439F-6999-82AC-E0B3212A41CA}"/>
              </a:ext>
            </a:extLst>
          </p:cNvPr>
          <p:cNvSpPr>
            <a:spLocks noGrp="1"/>
          </p:cNvSpPr>
          <p:nvPr>
            <p:ph idx="1"/>
          </p:nvPr>
        </p:nvSpPr>
        <p:spPr/>
        <p:txBody>
          <a:bodyPr/>
          <a:lstStyle/>
          <a:p>
            <a:endParaRPr lang="en-DE" dirty="0"/>
          </a:p>
        </p:txBody>
      </p:sp>
      <p:sp>
        <p:nvSpPr>
          <p:cNvPr id="4" name="Footer Placeholder 3">
            <a:extLst>
              <a:ext uri="{FF2B5EF4-FFF2-40B4-BE49-F238E27FC236}">
                <a16:creationId xmlns:a16="http://schemas.microsoft.com/office/drawing/2014/main" id="{584FD27E-5AC2-0F31-BAFB-64BBFD356460}"/>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endParaRPr lang="en-US" dirty="0"/>
          </a:p>
        </p:txBody>
      </p:sp>
      <p:sp>
        <p:nvSpPr>
          <p:cNvPr id="5" name="Slide Number Placeholder 4">
            <a:extLst>
              <a:ext uri="{FF2B5EF4-FFF2-40B4-BE49-F238E27FC236}">
                <a16:creationId xmlns:a16="http://schemas.microsoft.com/office/drawing/2014/main" id="{41A11DA8-DC75-2A41-C3DA-A77F804117ED}"/>
              </a:ext>
            </a:extLst>
          </p:cNvPr>
          <p:cNvSpPr>
            <a:spLocks noGrp="1"/>
          </p:cNvSpPr>
          <p:nvPr>
            <p:ph type="sldNum" sz="quarter" idx="12"/>
          </p:nvPr>
        </p:nvSpPr>
        <p:spPr/>
        <p:txBody>
          <a:bodyPr/>
          <a:lstStyle/>
          <a:p>
            <a:fld id="{C1FF6DA9-008F-8B48-92A6-B652298478BF}" type="slidenum">
              <a:rPr lang="en-US" smtClean="0"/>
              <a:t>41</a:t>
            </a:fld>
            <a:endParaRPr lang="en-US"/>
          </a:p>
        </p:txBody>
      </p:sp>
    </p:spTree>
    <p:extLst>
      <p:ext uri="{BB962C8B-B14F-4D97-AF65-F5344CB8AC3E}">
        <p14:creationId xmlns:p14="http://schemas.microsoft.com/office/powerpoint/2010/main" val="14986779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Next Steps</a:t>
            </a:r>
          </a:p>
        </p:txBody>
      </p:sp>
      <p:sp>
        <p:nvSpPr>
          <p:cNvPr id="3" name="Footer Placeholder 2">
            <a:extLst>
              <a:ext uri="{FF2B5EF4-FFF2-40B4-BE49-F238E27FC236}">
                <a16:creationId xmlns:a16="http://schemas.microsoft.com/office/drawing/2014/main" id="{7DFE662F-C083-9B0E-1044-1107D6BADB3A}"/>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endParaRPr lang="en-US" dirty="0"/>
          </a:p>
        </p:txBody>
      </p:sp>
      <p:sp>
        <p:nvSpPr>
          <p:cNvPr id="4" name="Slide Number Placeholder 3">
            <a:extLst>
              <a:ext uri="{FF2B5EF4-FFF2-40B4-BE49-F238E27FC236}">
                <a16:creationId xmlns:a16="http://schemas.microsoft.com/office/drawing/2014/main" id="{12E154DC-8454-9AD6-3C46-B4C9A445ADDC}"/>
              </a:ext>
            </a:extLst>
          </p:cNvPr>
          <p:cNvSpPr>
            <a:spLocks noGrp="1"/>
          </p:cNvSpPr>
          <p:nvPr>
            <p:ph type="sldNum" sz="quarter" idx="12"/>
          </p:nvPr>
        </p:nvSpPr>
        <p:spPr/>
        <p:txBody>
          <a:bodyPr/>
          <a:lstStyle/>
          <a:p>
            <a:fld id="{C1FF6DA9-008F-8B48-92A6-B652298478BF}" type="slidenum">
              <a:rPr lang="en-US" smtClean="0"/>
              <a:t>42</a:t>
            </a:fld>
            <a:endParaRPr lang="en-US"/>
          </a:p>
        </p:txBody>
      </p:sp>
    </p:spTree>
    <p:extLst>
      <p:ext uri="{BB962C8B-B14F-4D97-AF65-F5344CB8AC3E}">
        <p14:creationId xmlns:p14="http://schemas.microsoft.com/office/powerpoint/2010/main" val="37877946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Next Steps</a:t>
            </a:r>
          </a:p>
        </p:txBody>
      </p:sp>
      <p:sp>
        <p:nvSpPr>
          <p:cNvPr id="3" name="Content Placeholder 2"/>
          <p:cNvSpPr>
            <a:spLocks noGrp="1"/>
          </p:cNvSpPr>
          <p:nvPr>
            <p:ph idx="1"/>
          </p:nvPr>
        </p:nvSpPr>
        <p:spPr/>
        <p:txBody>
          <a:bodyPr>
            <a:normAutofit/>
          </a:bodyPr>
          <a:lstStyle/>
          <a:p>
            <a:r>
              <a:rPr lang="en-GB" sz="2400" b="0" i="0" u="none" strike="noStrike" dirty="0">
                <a:solidFill>
                  <a:srgbClr val="000000"/>
                </a:solidFill>
                <a:effectLst/>
                <a:latin typeface="-webkit-standard"/>
              </a:rPr>
              <a:t>Short-Term (Next Phase)</a:t>
            </a:r>
          </a:p>
          <a:p>
            <a:pPr lvl="1"/>
            <a:r>
              <a:rPr lang="en-GB" sz="2400" dirty="0"/>
              <a:t>Apply advanced forecasting models</a:t>
            </a:r>
          </a:p>
          <a:p>
            <a:pPr lvl="1"/>
            <a:r>
              <a:rPr lang="en-GB" sz="2400" dirty="0"/>
              <a:t>Improve accuracy of demand prediction</a:t>
            </a:r>
            <a:endParaRPr lang="en-GB" sz="2400" b="0" i="0" u="none" strike="noStrike" dirty="0">
              <a:solidFill>
                <a:srgbClr val="000000"/>
              </a:solidFill>
              <a:effectLst/>
              <a:latin typeface="-webkit-standard"/>
            </a:endParaRPr>
          </a:p>
          <a:p>
            <a:r>
              <a:rPr lang="en-GB" sz="2400" b="0" i="0" u="none" strike="noStrike" dirty="0">
                <a:solidFill>
                  <a:srgbClr val="000000"/>
                </a:solidFill>
                <a:effectLst/>
                <a:latin typeface="-webkit-standard"/>
              </a:rPr>
              <a:t>Mid-Term</a:t>
            </a:r>
          </a:p>
          <a:p>
            <a:pPr lvl="1"/>
            <a:r>
              <a:rPr lang="en-GB" sz="2400" dirty="0"/>
              <a:t>Develop better inventory and replenishment strategies</a:t>
            </a:r>
          </a:p>
          <a:p>
            <a:pPr lvl="1"/>
            <a:r>
              <a:rPr lang="en-GB" sz="2400" dirty="0"/>
              <a:t>Optimize stock levels across warehouses</a:t>
            </a:r>
            <a:endParaRPr lang="en-GB" sz="2400" b="0" i="0" u="none" strike="noStrike" dirty="0">
              <a:solidFill>
                <a:srgbClr val="000000"/>
              </a:solidFill>
              <a:effectLst/>
              <a:latin typeface="-webkit-standard"/>
            </a:endParaRPr>
          </a:p>
          <a:p>
            <a:r>
              <a:rPr lang="en-GB" sz="2400" b="0" i="0" u="none" strike="noStrike" dirty="0">
                <a:solidFill>
                  <a:srgbClr val="000000"/>
                </a:solidFill>
                <a:effectLst/>
                <a:latin typeface="-webkit-standard"/>
              </a:rPr>
              <a:t>Long-Term</a:t>
            </a:r>
          </a:p>
          <a:p>
            <a:pPr lvl="1"/>
            <a:r>
              <a:rPr lang="en-GB" sz="2400" dirty="0"/>
              <a:t>Integrate real-time demand data</a:t>
            </a:r>
          </a:p>
          <a:p>
            <a:pPr lvl="1"/>
            <a:r>
              <a:rPr lang="en-GB" sz="2400" dirty="0"/>
              <a:t>Support continuous and data-driven decision making</a:t>
            </a:r>
            <a:endParaRPr lang="en-DE" sz="2400" dirty="0"/>
          </a:p>
        </p:txBody>
      </p:sp>
      <p:sp>
        <p:nvSpPr>
          <p:cNvPr id="4" name="Footer Placeholder 3">
            <a:extLst>
              <a:ext uri="{FF2B5EF4-FFF2-40B4-BE49-F238E27FC236}">
                <a16:creationId xmlns:a16="http://schemas.microsoft.com/office/drawing/2014/main" id="{0AADFA16-2F03-9171-7ABF-61F78C3B85D3}"/>
              </a:ext>
            </a:extLst>
          </p:cNvPr>
          <p:cNvSpPr>
            <a:spLocks noGrp="1"/>
          </p:cNvSpPr>
          <p:nvPr>
            <p:ph type="ftr" sz="quarter" idx="11"/>
          </p:nvPr>
        </p:nvSpPr>
        <p:spPr/>
        <p:txBody>
          <a:bodyPr/>
          <a:lstStyle/>
          <a:p>
            <a:r>
              <a:rPr lang="en-GB" sz="1200" dirty="0">
                <a:effectLst/>
                <a:latin typeface="Poppins" pitchFamily="2" charset="77"/>
              </a:rPr>
              <a:t>Louis </a:t>
            </a:r>
            <a:r>
              <a:rPr lang="en-GB" sz="1200" dirty="0" err="1">
                <a:effectLst/>
                <a:latin typeface="Poppins" pitchFamily="2" charset="77"/>
              </a:rPr>
              <a:t>Odinkemelu</a:t>
            </a:r>
            <a:endParaRPr lang="en-US" dirty="0"/>
          </a:p>
        </p:txBody>
      </p:sp>
      <p:sp>
        <p:nvSpPr>
          <p:cNvPr id="5" name="Slide Number Placeholder 4">
            <a:extLst>
              <a:ext uri="{FF2B5EF4-FFF2-40B4-BE49-F238E27FC236}">
                <a16:creationId xmlns:a16="http://schemas.microsoft.com/office/drawing/2014/main" id="{299DE208-9DDE-EF7F-065B-043C6C9777C8}"/>
              </a:ext>
            </a:extLst>
          </p:cNvPr>
          <p:cNvSpPr>
            <a:spLocks noGrp="1"/>
          </p:cNvSpPr>
          <p:nvPr>
            <p:ph type="sldNum" sz="quarter" idx="12"/>
          </p:nvPr>
        </p:nvSpPr>
        <p:spPr/>
        <p:txBody>
          <a:bodyPr/>
          <a:lstStyle/>
          <a:p>
            <a:fld id="{C1FF6DA9-008F-8B48-92A6-B652298478BF}" type="slidenum">
              <a:rPr lang="en-US" smtClean="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5A74C-A622-9811-3099-A43FEDB08C9E}"/>
              </a:ext>
            </a:extLst>
          </p:cNvPr>
          <p:cNvSpPr txBox="1"/>
          <p:nvPr/>
        </p:nvSpPr>
        <p:spPr>
          <a:xfrm>
            <a:off x="1753496" y="2967335"/>
            <a:ext cx="5637007" cy="923330"/>
          </a:xfrm>
          <a:prstGeom prst="rect">
            <a:avLst/>
          </a:prstGeom>
          <a:noFill/>
        </p:spPr>
        <p:txBody>
          <a:bodyPr wrap="square" rtlCol="0">
            <a:spAutoFit/>
          </a:bodyPr>
          <a:lstStyle/>
          <a:p>
            <a:pPr algn="ctr"/>
            <a:r>
              <a:rPr lang="en-DE" sz="5400" dirty="0"/>
              <a:t>Thank you.</a:t>
            </a:r>
          </a:p>
        </p:txBody>
      </p:sp>
      <p:sp>
        <p:nvSpPr>
          <p:cNvPr id="3" name="Footer Placeholder 2">
            <a:extLst>
              <a:ext uri="{FF2B5EF4-FFF2-40B4-BE49-F238E27FC236}">
                <a16:creationId xmlns:a16="http://schemas.microsoft.com/office/drawing/2014/main" id="{3674D8D7-2BBB-34A8-0C37-44AEBDE4BB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6286D1A-9227-5F0A-6083-AFB93F67A88B}"/>
              </a:ext>
            </a:extLst>
          </p:cNvPr>
          <p:cNvSpPr>
            <a:spLocks noGrp="1"/>
          </p:cNvSpPr>
          <p:nvPr>
            <p:ph type="sldNum" sz="quarter" idx="12"/>
          </p:nvPr>
        </p:nvSpPr>
        <p:spPr/>
        <p:txBody>
          <a:bodyPr/>
          <a:lstStyle/>
          <a:p>
            <a:fld id="{C1FF6DA9-008F-8B48-92A6-B652298478BF}" type="slidenum">
              <a:rPr lang="en-US" smtClean="0"/>
              <a:t>44</a:t>
            </a:fld>
            <a:endParaRPr lang="en-US"/>
          </a:p>
        </p:txBody>
      </p:sp>
    </p:spTree>
    <p:extLst>
      <p:ext uri="{BB962C8B-B14F-4D97-AF65-F5344CB8AC3E}">
        <p14:creationId xmlns:p14="http://schemas.microsoft.com/office/powerpoint/2010/main" val="32954820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2399</TotalTime>
  <Words>3448</Words>
  <Application>Microsoft Macintosh PowerPoint</Application>
  <PresentationFormat>On-screen Show (4:3)</PresentationFormat>
  <Paragraphs>379</Paragraphs>
  <Slides>44</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-webkit-standard</vt:lpstr>
      <vt:lpstr>Arial</vt:lpstr>
      <vt:lpstr>Calibri</vt:lpstr>
      <vt:lpstr>Poppins</vt:lpstr>
      <vt:lpstr>Wingdings</vt:lpstr>
      <vt:lpstr>Office Theme</vt:lpstr>
      <vt:lpstr>Demand Management Using Historical Product Demand Data</vt:lpstr>
      <vt:lpstr>Table of Contents</vt:lpstr>
      <vt:lpstr>PowerPoint Presentation</vt:lpstr>
      <vt:lpstr>IDEA &amp; Scope</vt:lpstr>
      <vt:lpstr>Objectives</vt:lpstr>
      <vt:lpstr>Tasks &amp; Milestones</vt:lpstr>
      <vt:lpstr>What are we deliver?</vt:lpstr>
      <vt:lpstr>PowerPoint Presentation</vt:lpstr>
      <vt:lpstr>Business Understanding</vt:lpstr>
      <vt:lpstr>Problem Statement</vt:lpstr>
      <vt:lpstr>Goal</vt:lpstr>
      <vt:lpstr>Why this Matters?</vt:lpstr>
      <vt:lpstr>Stakeholders</vt:lpstr>
      <vt:lpstr>Theoretical Background</vt:lpstr>
      <vt:lpstr>What is Demand Management?</vt:lpstr>
      <vt:lpstr>Importance of Demand Management</vt:lpstr>
      <vt:lpstr>Forecasting vs Demand Planning</vt:lpstr>
      <vt:lpstr>Intermittent Demand</vt:lpstr>
      <vt:lpstr>Characteristics of Intermittent Demand</vt:lpstr>
      <vt:lpstr>Time Series Data</vt:lpstr>
      <vt:lpstr>Trend and Seasonality</vt:lpstr>
      <vt:lpstr>Demand Variability</vt:lpstr>
      <vt:lpstr>Inventory Concepts: Safety Stock</vt:lpstr>
      <vt:lpstr>Inventory Concepts: Lead Time</vt:lpstr>
      <vt:lpstr>PowerPoint Presentation</vt:lpstr>
      <vt:lpstr>Dataset Overview</vt:lpstr>
      <vt:lpstr>Dataset Description</vt:lpstr>
      <vt:lpstr>Data Understanding</vt:lpstr>
      <vt:lpstr>Data Quality &amp; Structure</vt:lpstr>
      <vt:lpstr>Data Preparation: Cleaning</vt:lpstr>
      <vt:lpstr>Descriptive Analysis</vt:lpstr>
      <vt:lpstr>Analysis: Overall Demand Trend</vt:lpstr>
      <vt:lpstr>Analysis: Demand by Warehouse</vt:lpstr>
      <vt:lpstr>Analysis: Demand by Product Category</vt:lpstr>
      <vt:lpstr>Analysis: Stationarity Test (ADF)</vt:lpstr>
      <vt:lpstr>PowerPoint Presentation</vt:lpstr>
      <vt:lpstr>ML Algorithms (Overview)</vt:lpstr>
      <vt:lpstr>ML Algorithm: ARMA vs ARIMA</vt:lpstr>
      <vt:lpstr>Random Forest</vt:lpstr>
      <vt:lpstr>Nashitah??</vt:lpstr>
      <vt:lpstr>Louis Odinkemelu ??</vt:lpstr>
      <vt:lpstr>PowerPoint Presentation</vt:lpstr>
      <vt:lpstr>Next Steps</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Management for Spare Parts Using Historical Product Demand Data</dc:title>
  <dc:subject/>
  <dc:creator/>
  <cp:keywords/>
  <dc:description>generated using python-pptx</dc:description>
  <cp:lastModifiedBy>May Zin Ko</cp:lastModifiedBy>
  <cp:revision>38</cp:revision>
  <dcterms:created xsi:type="dcterms:W3CDTF">2013-01-27T09:14:16Z</dcterms:created>
  <dcterms:modified xsi:type="dcterms:W3CDTF">2026-05-06T17:10:37Z</dcterms:modified>
  <cp:category/>
</cp:coreProperties>
</file>