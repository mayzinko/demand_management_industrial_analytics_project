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75" r:id="rId2"/>
    <p:sldId id="298" r:id="rId3"/>
    <p:sldId id="299" r:id="rId4"/>
    <p:sldId id="306" r:id="rId5"/>
    <p:sldId id="258" r:id="rId6"/>
    <p:sldId id="259" r:id="rId7"/>
    <p:sldId id="260" r:id="rId8"/>
    <p:sldId id="300" r:id="rId9"/>
    <p:sldId id="261" r:id="rId10"/>
    <p:sldId id="262" r:id="rId11"/>
    <p:sldId id="277" r:id="rId12"/>
    <p:sldId id="278" r:id="rId13"/>
    <p:sldId id="263" r:id="rId14"/>
    <p:sldId id="305" r:id="rId15"/>
    <p:sldId id="264" r:id="rId16"/>
    <p:sldId id="279" r:id="rId17"/>
    <p:sldId id="280" r:id="rId18"/>
    <p:sldId id="265" r:id="rId19"/>
    <p:sldId id="281" r:id="rId20"/>
    <p:sldId id="282" r:id="rId21"/>
    <p:sldId id="283" r:id="rId22"/>
    <p:sldId id="284" r:id="rId23"/>
    <p:sldId id="285" r:id="rId24"/>
    <p:sldId id="286" r:id="rId25"/>
    <p:sldId id="301" r:id="rId26"/>
    <p:sldId id="266" r:id="rId27"/>
    <p:sldId id="289" r:id="rId28"/>
    <p:sldId id="307" r:id="rId29"/>
    <p:sldId id="288" r:id="rId30"/>
    <p:sldId id="268" r:id="rId31"/>
    <p:sldId id="290" r:id="rId32"/>
    <p:sldId id="291" r:id="rId33"/>
    <p:sldId id="269" r:id="rId34"/>
    <p:sldId id="292" r:id="rId35"/>
    <p:sldId id="293" r:id="rId36"/>
    <p:sldId id="294" r:id="rId37"/>
    <p:sldId id="295" r:id="rId38"/>
    <p:sldId id="302" r:id="rId39"/>
    <p:sldId id="270" r:id="rId40"/>
    <p:sldId id="271" r:id="rId41"/>
    <p:sldId id="296" r:id="rId42"/>
    <p:sldId id="297" r:id="rId43"/>
    <p:sldId id="303" r:id="rId44"/>
    <p:sldId id="272" r:id="rId45"/>
    <p:sldId id="304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32"/>
  </p:normalViewPr>
  <p:slideViewPr>
    <p:cSldViewPr snapToGrid="0" snapToObjects="1">
      <p:cViewPr varScale="1">
        <p:scale>
          <a:sx n="192" d="100"/>
          <a:sy n="192" d="100"/>
        </p:scale>
        <p:origin x="36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B8B0D-514F-4A49-987F-B3CEE64741CC}" type="datetimeFigureOut">
              <a:rPr lang="en-DE" smtClean="0"/>
              <a:t>10.04.26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8B4316-0571-C34A-907E-71E40496A91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1161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AD6E4-622A-6749-8F7D-E8B25786878A}" type="datetime1">
              <a:rPr lang="de-DE" smtClean="0"/>
              <a:t>10.04.26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0B7-3229-7845-B5D3-DB62C9EC7D75}" type="datetime1">
              <a:rPr lang="de-DE" smtClean="0"/>
              <a:t>10.04.26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4DE8-EDD7-4B4E-8CE5-695E4F632203}" type="datetime1">
              <a:rPr lang="de-DE" smtClean="0"/>
              <a:t>10.04.26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2E268-FC60-A647-8F49-4E9B43566E7F}" type="datetime1">
              <a:rPr lang="de-DE" smtClean="0"/>
              <a:t>10.04.26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C4B85-43B2-4041-A472-2B29188B9E0E}" type="datetime1">
              <a:rPr lang="de-DE" smtClean="0"/>
              <a:t>10.04.26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E4553-9163-E141-93D4-B48BCF202279}" type="datetime1">
              <a:rPr lang="de-DE" smtClean="0"/>
              <a:t>10.04.26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3ABE0-3C07-A749-883D-E9613ED5D8F3}" type="datetime1">
              <a:rPr lang="de-DE" smtClean="0"/>
              <a:t>10.04.26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3937-EA96-8848-A559-C94D69057A03}" type="datetime1">
              <a:rPr lang="de-DE" smtClean="0"/>
              <a:t>10.04.26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A443F-916E-CC48-BD63-13FC066034B6}" type="datetime1">
              <a:rPr lang="de-DE" smtClean="0"/>
              <a:t>10.04.26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E27F5-F84F-2640-86A4-6DA1DA163F34}" type="datetime1">
              <a:rPr lang="de-DE" smtClean="0"/>
              <a:t>10.04.26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B825-E9F6-D246-88C6-92C66F91EFE3}" type="datetime1">
              <a:rPr lang="de-DE" smtClean="0"/>
              <a:t>10.04.26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72FCA-2548-DA44-923C-33DFA38ED6B2}" type="datetime1">
              <a:rPr lang="de-DE" smtClean="0"/>
              <a:t>10.04.26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felixzhao/productdemandforecasting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82EB4-C05B-6C04-3074-E2597785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9955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Demand Management Using Historical Product Demand Data</a:t>
            </a:r>
            <a:endParaRPr lang="en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D92511-0CF3-8E62-E5C5-73988C69C989}"/>
              </a:ext>
            </a:extLst>
          </p:cNvPr>
          <p:cNvSpPr txBox="1"/>
          <p:nvPr/>
        </p:nvSpPr>
        <p:spPr>
          <a:xfrm>
            <a:off x="6153375" y="5142155"/>
            <a:ext cx="2743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Presented by: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800" dirty="0">
                <a:effectLst/>
              </a:rPr>
              <a:t>Louis </a:t>
            </a:r>
            <a:r>
              <a:rPr lang="en-GB" sz="1800" dirty="0" err="1">
                <a:effectLst/>
              </a:rPr>
              <a:t>Odinkemelu</a:t>
            </a:r>
            <a:r>
              <a:rPr lang="en-GB" sz="1800" dirty="0">
                <a:effectLst/>
              </a:rPr>
              <a:t> </a:t>
            </a:r>
            <a:endParaRPr lang="en-DE" dirty="0"/>
          </a:p>
          <a:p>
            <a:pPr marL="285750" indent="-285750">
              <a:buFont typeface="Wingdings" pitchFamily="2" charset="2"/>
              <a:buChar char="ü"/>
            </a:pPr>
            <a:r>
              <a:rPr lang="en-DE" dirty="0"/>
              <a:t>May Zin Ko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800" dirty="0">
                <a:effectLst/>
              </a:rPr>
              <a:t>Zainab </a:t>
            </a:r>
            <a:r>
              <a:rPr lang="en-GB" sz="1800" dirty="0" err="1">
                <a:effectLst/>
              </a:rPr>
              <a:t>Nashitah</a:t>
            </a:r>
            <a:r>
              <a:rPr lang="en-GB" sz="1800" dirty="0">
                <a:effectLst/>
              </a:rPr>
              <a:t> </a:t>
            </a:r>
            <a:endParaRPr lang="en-GB" dirty="0">
              <a:effectLst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5736D-B62A-05B7-1718-84C678677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May Zin Ko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433DC-7832-6977-D0FA-98AD8FF4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51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0D61-56EA-237B-99CD-6D83F1C4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BA450-6020-24A6-9F77-2D28D094AE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Introduction</a:t>
            </a:r>
          </a:p>
          <a:p>
            <a:pPr lvl="1"/>
            <a:r>
              <a:rPr lang="en-GB" dirty="0"/>
              <a:t>Objectives, Milestones, Deliverables </a:t>
            </a:r>
          </a:p>
          <a:p>
            <a:r>
              <a:rPr lang="en-GB" dirty="0"/>
              <a:t>Business Case</a:t>
            </a:r>
          </a:p>
          <a:p>
            <a:pPr lvl="1"/>
            <a:r>
              <a:rPr lang="en-GB" dirty="0"/>
              <a:t>Business Understanding</a:t>
            </a:r>
          </a:p>
          <a:p>
            <a:pPr lvl="1"/>
            <a:r>
              <a:rPr lang="en-GB" dirty="0"/>
              <a:t>Theoretical Background</a:t>
            </a:r>
          </a:p>
          <a:p>
            <a:r>
              <a:rPr lang="en-GB" dirty="0"/>
              <a:t>Dataset</a:t>
            </a:r>
          </a:p>
          <a:p>
            <a:pPr lvl="1"/>
            <a:r>
              <a:rPr lang="en-GB" dirty="0"/>
              <a:t>Overview, Description</a:t>
            </a:r>
          </a:p>
          <a:p>
            <a:pPr lvl="1"/>
            <a:r>
              <a:rPr lang="en-GB" dirty="0"/>
              <a:t>Understanding &amp; Preparation</a:t>
            </a:r>
          </a:p>
          <a:p>
            <a:pPr lvl="1"/>
            <a:r>
              <a:rPr lang="en-GB" dirty="0"/>
              <a:t>Analysis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003EB2-5CE1-3193-A7D0-1BE92779596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ML Algorithms</a:t>
            </a:r>
          </a:p>
          <a:p>
            <a:r>
              <a:rPr lang="en-GB" sz="2400" dirty="0"/>
              <a:t>Next Steps</a:t>
            </a:r>
            <a:endParaRPr lang="en-DE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B20F-CFEC-2031-1EDE-5E8FE42C0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May Zin Ko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F5731-E179-9CAF-D699-0C1AE29A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50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A74C-A622-9811-3099-A43FEDB08C9E}"/>
              </a:ext>
            </a:extLst>
          </p:cNvPr>
          <p:cNvSpPr txBox="1"/>
          <p:nvPr/>
        </p:nvSpPr>
        <p:spPr>
          <a:xfrm>
            <a:off x="1753496" y="2967335"/>
            <a:ext cx="5637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400" dirty="0"/>
              <a:t>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87299-4DFD-BB05-8035-A4EB7EC6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r>
              <a:rPr lang="en-GB" sz="1200" dirty="0">
                <a:effectLst/>
                <a:latin typeface="Poppins" pitchFamily="2" charset="77"/>
              </a:rPr>
              <a:t> 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9200C-5B3B-FFC0-634F-F5BECA08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37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88D6-13A1-3BC0-1ED1-BC7EC38B0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IDEA &amp;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EE75C-54E0-92A3-2128-C3E7ADDE2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are we trying to solve?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985BB-5A00-922B-386F-7610865BBA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How many products should we produce?</a:t>
            </a:r>
          </a:p>
          <a:p>
            <a:r>
              <a:rPr lang="en-US" sz="2400" dirty="0"/>
              <a:t>When should we stock them?</a:t>
            </a:r>
          </a:p>
          <a:p>
            <a:r>
              <a:rPr lang="en-US" sz="2400" dirty="0"/>
              <a:t>Where should we store them?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55DDBA-58F2-B609-A275-0F766E487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What is our scope?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BE2F6-CF3A-2C5C-9351-2F9A3C7C240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Demand analysis by product category across multiple warehouses to support inventory planning</a:t>
            </a:r>
            <a:endParaRPr lang="en-DE" dirty="0"/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80A398-326A-F780-348B-C28E3526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r>
              <a:rPr lang="en-GB" sz="1200" dirty="0">
                <a:effectLst/>
                <a:latin typeface="Poppins" pitchFamily="2" charset="77"/>
              </a:rPr>
              <a:t> </a:t>
            </a:r>
            <a:endParaRPr lang="en-D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5AEF3B-F60F-EB55-456F-D8CAB97A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0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Analyze </a:t>
            </a:r>
            <a:r>
              <a:rPr lang="en-US" sz="2400" dirty="0"/>
              <a:t>historical </a:t>
            </a:r>
            <a:r>
              <a:rPr sz="2400" dirty="0"/>
              <a:t>demand patterns</a:t>
            </a: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Identify intermittent demand </a:t>
            </a:r>
            <a:r>
              <a:rPr lang="en-GB" sz="2400" b="0" i="0" u="none" strike="noStrike" dirty="0" err="1">
                <a:solidFill>
                  <a:srgbClr val="000000"/>
                </a:solidFill>
                <a:effectLst/>
              </a:rPr>
              <a:t>behavior</a:t>
            </a:r>
            <a:endParaRPr lang="en-GB" sz="24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sz="2400" dirty="0"/>
              <a:t>Support better replenishment decisions</a:t>
            </a:r>
          </a:p>
          <a:p>
            <a:r>
              <a:rPr lang="en-US" sz="2400" dirty="0"/>
              <a:t>Improve inventory planning using demand insights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1D902-28CE-8E9E-31B6-C0FE4DF5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r>
              <a:rPr lang="en-GB" sz="1200" dirty="0">
                <a:effectLst/>
                <a:latin typeface="Poppins" pitchFamily="2" charset="77"/>
              </a:rPr>
              <a:t> </a:t>
            </a:r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6E7D4-5C7D-90F4-13C6-373C05CF4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Tasks &amp; Milestones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39C81-A327-9515-F0A8-BAA21D41F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0" y="1829811"/>
            <a:ext cx="8845099" cy="273313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4F2353-F333-56F4-64B5-9B2A7967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r>
              <a:rPr lang="en-GB" sz="1200" dirty="0">
                <a:effectLst/>
                <a:latin typeface="Poppins" pitchFamily="2" charset="77"/>
              </a:rPr>
              <a:t> 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F2A8A-7CD8-A441-EF3E-75E509C77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deliver?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Clean dataset</a:t>
            </a:r>
          </a:p>
          <a:p>
            <a:r>
              <a:rPr dirty="0"/>
              <a:t>Demand </a:t>
            </a:r>
            <a:r>
              <a:rPr lang="en-US" dirty="0"/>
              <a:t>analysis report</a:t>
            </a:r>
            <a:endParaRPr dirty="0"/>
          </a:p>
          <a:p>
            <a:r>
              <a:rPr lang="en-US" dirty="0"/>
              <a:t>Insights for inventory planning.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B3FA5-D495-B62A-CA81-91D0F5D9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r>
              <a:rPr lang="en-GB" sz="1200" dirty="0">
                <a:effectLst/>
                <a:latin typeface="Poppins" pitchFamily="2" charset="77"/>
              </a:rPr>
              <a:t> </a:t>
            </a:r>
            <a:endParaRPr lang="en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74637-CDE2-39A8-9245-B55D1625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A74C-A622-9811-3099-A43FEDB08C9E}"/>
              </a:ext>
            </a:extLst>
          </p:cNvPr>
          <p:cNvSpPr txBox="1"/>
          <p:nvPr/>
        </p:nvSpPr>
        <p:spPr>
          <a:xfrm>
            <a:off x="1753496" y="2967335"/>
            <a:ext cx="5637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400" dirty="0"/>
              <a:t>Business Case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2CE5F-C74F-14EF-B27D-7A44D6A45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6DFF8-17A1-0D08-50CB-505ECD80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0383"/>
            <a:ext cx="8229600" cy="2264803"/>
          </a:xfrm>
        </p:spPr>
        <p:txBody>
          <a:bodyPr>
            <a:noAutofit/>
          </a:bodyPr>
          <a:lstStyle/>
          <a:p>
            <a:r>
              <a:rPr lang="en-US" sz="2400" dirty="0"/>
              <a:t>Demand is Unpredictable</a:t>
            </a:r>
            <a:endParaRPr sz="2400" dirty="0"/>
          </a:p>
          <a:p>
            <a:r>
              <a:rPr lang="en-US" sz="2400" dirty="0"/>
              <a:t>Some rarely needed</a:t>
            </a:r>
            <a:endParaRPr sz="2400" dirty="0"/>
          </a:p>
          <a:p>
            <a:r>
              <a:rPr lang="en-US" sz="2400" dirty="0"/>
              <a:t>Some frequently requested</a:t>
            </a:r>
          </a:p>
          <a:p>
            <a:r>
              <a:rPr lang="en-US" sz="2400" dirty="0"/>
              <a:t>Demand varies across different warehouses</a:t>
            </a: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This creates challenges in balancing </a:t>
            </a:r>
            <a:r>
              <a:rPr lang="en-GB" sz="2400" i="0" u="none" strike="noStrike" dirty="0">
                <a:solidFill>
                  <a:srgbClr val="000000"/>
                </a:solidFill>
                <a:effectLst/>
              </a:rPr>
              <a:t>availability and cost</a:t>
            </a: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FDA8CA-CD5D-B709-D458-A9C92CD29717}"/>
              </a:ext>
            </a:extLst>
          </p:cNvPr>
          <p:cNvSpPr txBox="1"/>
          <p:nvPr/>
        </p:nvSpPr>
        <p:spPr>
          <a:xfrm>
            <a:off x="457200" y="1765426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400" b="1" dirty="0"/>
              <a:t>Real-World scenario: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08CEA-1635-AAF4-A315-5BF27C0AB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7C761-0C48-908C-D7CC-0A9710F8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Overstocking leads to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high inventory holding costs</a:t>
            </a: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Understocking leads to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stockouts and operational delays</a:t>
            </a: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Irregular (intermittent) demand makes planning difficult</a:t>
            </a: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Lack of demand insights results in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inefficient replenishment decisions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86E7A-3355-C519-BF45-8F6101A7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DCC4F7-10A7-E673-FDB5-F7FD2F12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07C6-6028-AD9E-5331-3E55349D2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893" y="2977384"/>
            <a:ext cx="1327731" cy="881715"/>
          </a:xfrm>
        </p:spPr>
        <p:txBody>
          <a:bodyPr/>
          <a:lstStyle/>
          <a:p>
            <a:pPr algn="l"/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Goal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887D5-E080-50E4-08A9-1314ADD6F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165" y="3117211"/>
            <a:ext cx="6400800" cy="6948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Improve demand understanding to support </a:t>
            </a:r>
            <a:r>
              <a:rPr lang="en-GB" sz="2400" b="1" i="0" u="none" strike="noStrike" dirty="0">
                <a:solidFill>
                  <a:srgbClr val="000000"/>
                </a:solidFill>
                <a:effectLst/>
              </a:rPr>
              <a:t>better inventory and replenishment planning</a:t>
            </a:r>
            <a:endParaRPr lang="en-D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02AE6-2777-D2D2-A825-F63BBF7B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CC9D5-7BFC-3FA7-FE88-96223EB8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08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901A-4754-8A05-E76C-DA8C4AE6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Why this Matters?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C91A-096B-65D6-E634-07C987242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Inventory cost reduction</a:t>
            </a:r>
          </a:p>
          <a:p>
            <a:r>
              <a:rPr lang="en-GB" dirty="0"/>
              <a:t>Improved service level</a:t>
            </a:r>
          </a:p>
          <a:p>
            <a:r>
              <a:rPr lang="en-GB" dirty="0"/>
              <a:t>Better operational efficiency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AB759-C956-5CF3-6DEA-4ADC6155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12A960-787D-BC6A-9B87-804868D4B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88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Inventory Managers</a:t>
            </a:r>
            <a:endParaRPr dirty="0"/>
          </a:p>
          <a:p>
            <a:r>
              <a:rPr lang="en-US" dirty="0"/>
              <a:t>Operations and production teams</a:t>
            </a:r>
            <a:endParaRPr dirty="0"/>
          </a:p>
          <a:p>
            <a:r>
              <a:rPr lang="en-US" dirty="0"/>
              <a:t>Sales Team</a:t>
            </a:r>
          </a:p>
          <a:p>
            <a:r>
              <a:rPr lang="en-US" dirty="0"/>
              <a:t>Management </a:t>
            </a:r>
            <a:r>
              <a:rPr lang="en-US"/>
              <a:t>and Decision-Makers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D87F8-BEC2-B802-50A2-E08721EDB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01A31-6092-7E92-14A6-2F7603EDC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B371-C704-AF96-F75D-DDA708F97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DE" dirty="0"/>
              <a:t>Theoretical Background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BA245-CDEC-9A14-1B08-B6F0C32A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2DE5AD-EB81-6365-5C8A-F9F06A11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72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Demand Management?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Demand Management is the process of </a:t>
            </a:r>
            <a:r>
              <a:rPr lang="en-GB" sz="2400" b="1" dirty="0" err="1"/>
              <a:t>analyzing</a:t>
            </a:r>
            <a:r>
              <a:rPr lang="en-GB" sz="2400" b="1" dirty="0"/>
              <a:t>, forecasting, and influencing demand</a:t>
            </a:r>
          </a:p>
          <a:p>
            <a:r>
              <a:rPr lang="en-GB" sz="2400" dirty="0"/>
              <a:t>It helps align </a:t>
            </a:r>
            <a:r>
              <a:rPr lang="en-GB" sz="2400" b="1" dirty="0"/>
              <a:t>supply with customer needs</a:t>
            </a:r>
          </a:p>
          <a:p>
            <a:r>
              <a:rPr lang="en-GB" sz="2400" dirty="0"/>
              <a:t>Goal: balance </a:t>
            </a:r>
            <a:r>
              <a:rPr lang="en-GB" sz="2400" b="1" dirty="0"/>
              <a:t>availability and cost</a:t>
            </a:r>
          </a:p>
          <a:p>
            <a:r>
              <a:rPr lang="en-GB" sz="2400" dirty="0"/>
              <a:t>Ensures the right product is available at the right time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49FD62-3401-66F2-A194-0C40F7F5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7EC0E-7CAE-1F8C-747E-06F8242F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Importance of Demand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Reduces </a:t>
            </a:r>
            <a:r>
              <a:rPr lang="en-GB" sz="2400" b="1" dirty="0"/>
              <a:t>stockouts and lost sales</a:t>
            </a:r>
          </a:p>
          <a:p>
            <a:r>
              <a:rPr lang="en-GB" sz="2400" dirty="0"/>
              <a:t>Minimizes </a:t>
            </a:r>
            <a:r>
              <a:rPr lang="en-GB" sz="2400" b="1" dirty="0"/>
              <a:t>excess inventory and holding costs</a:t>
            </a:r>
          </a:p>
          <a:p>
            <a:r>
              <a:rPr lang="en-GB" sz="2400" dirty="0"/>
              <a:t>Improves </a:t>
            </a:r>
            <a:r>
              <a:rPr lang="en-GB" sz="2400" b="1" dirty="0"/>
              <a:t>customer satisfaction</a:t>
            </a:r>
          </a:p>
          <a:p>
            <a:r>
              <a:rPr lang="en-GB" sz="2400" dirty="0"/>
              <a:t>Supports better </a:t>
            </a:r>
            <a:r>
              <a:rPr lang="en-GB" sz="2400" b="1" dirty="0"/>
              <a:t>production and inventory planning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57E18-FECA-F137-3B13-B9CFAE59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8398D-7F11-658B-3E4B-ACE7037F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Forecasting vs Demand Planning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Forecasting:</a:t>
            </a:r>
            <a:r>
              <a:rPr lang="en-GB" sz="2400" dirty="0"/>
              <a:t> Predict future demand based on historical data</a:t>
            </a:r>
          </a:p>
          <a:p>
            <a:r>
              <a:rPr lang="en-GB" sz="2400" b="1" dirty="0"/>
              <a:t>Demand Planning:</a:t>
            </a:r>
            <a:r>
              <a:rPr lang="en-GB" sz="2400" dirty="0"/>
              <a:t> Uses forecasts + business knowledge to make decisions</a:t>
            </a:r>
          </a:p>
          <a:p>
            <a:r>
              <a:rPr lang="en-GB" sz="2400" dirty="0"/>
              <a:t>Forecast = data-driven</a:t>
            </a:r>
          </a:p>
          <a:p>
            <a:r>
              <a:rPr lang="en-GB" sz="2400" dirty="0"/>
              <a:t>Planning = decision-making process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E9516-6118-7E6E-2696-E5E3BAF72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A1702-E62C-5AC3-CCAB-8E4D87C53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77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Intermittent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Demand occurs </a:t>
            </a:r>
            <a:r>
              <a:rPr lang="en-GB" sz="2400" b="1" dirty="0"/>
              <a:t>irregularly over time</a:t>
            </a:r>
          </a:p>
          <a:p>
            <a:r>
              <a:rPr lang="en-GB" sz="2400" dirty="0"/>
              <a:t>Many periods have </a:t>
            </a:r>
            <a:r>
              <a:rPr lang="en-GB" sz="2400" b="1" dirty="0"/>
              <a:t>zero demand</a:t>
            </a: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Common in products that are not ordered regularly</a:t>
            </a:r>
          </a:p>
          <a:p>
            <a:r>
              <a:rPr lang="en-GB" sz="2400" dirty="0"/>
              <a:t>Difficult to forecast using standard methods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16788-51C9-FC55-DEAB-7CC6AACD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A45CC-AD56-9BD4-DB68-44CEE7FA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Characteristics of Intermittent Demand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27356"/>
          </a:xfrm>
        </p:spPr>
        <p:txBody>
          <a:bodyPr>
            <a:normAutofit/>
          </a:bodyPr>
          <a:lstStyle/>
          <a:p>
            <a:r>
              <a:rPr lang="en-GB" sz="2400" dirty="0"/>
              <a:t>High number of </a:t>
            </a:r>
            <a:r>
              <a:rPr lang="en-GB" sz="2400" b="1" dirty="0"/>
              <a:t>zero-demand periods</a:t>
            </a:r>
          </a:p>
          <a:p>
            <a:r>
              <a:rPr lang="en-GB" sz="2400" dirty="0"/>
              <a:t>Sudden spikes in demand</a:t>
            </a:r>
          </a:p>
          <a:p>
            <a:r>
              <a:rPr lang="en-GB" sz="2400" dirty="0"/>
              <a:t>Unpredictable timing</a:t>
            </a:r>
          </a:p>
          <a:p>
            <a:r>
              <a:rPr lang="en-GB" sz="2400" dirty="0"/>
              <a:t>High variability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C4909B-5B2B-531A-E260-F4904C753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2D2CD-14B9-AD3E-0C67-419CBFA0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383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Time Series Data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27356"/>
          </a:xfrm>
        </p:spPr>
        <p:txBody>
          <a:bodyPr>
            <a:normAutofit/>
          </a:bodyPr>
          <a:lstStyle/>
          <a:p>
            <a:r>
              <a:rPr lang="en-GB" sz="2400" dirty="0"/>
              <a:t>Data collected </a:t>
            </a:r>
            <a:r>
              <a:rPr lang="en-GB" sz="2400" b="1" dirty="0"/>
              <a:t>over time intervals</a:t>
            </a:r>
          </a:p>
          <a:p>
            <a:r>
              <a:rPr lang="en-GB" sz="2400" dirty="0"/>
              <a:t>Example: daily or weekly demand</a:t>
            </a:r>
          </a:p>
          <a:p>
            <a:r>
              <a:rPr lang="en-GB" sz="2400" dirty="0"/>
              <a:t>Used to identify patterns and trends</a:t>
            </a:r>
          </a:p>
          <a:p>
            <a:r>
              <a:rPr lang="en-GB" sz="2400" dirty="0"/>
              <a:t>Important for demand analysis and forecasting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14597-1721-E5C2-F392-4839F0DCB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777D8-450E-C647-2B49-020293D8C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86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Trend and Seasonality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27356"/>
          </a:xfrm>
        </p:spPr>
        <p:txBody>
          <a:bodyPr>
            <a:normAutofit/>
          </a:bodyPr>
          <a:lstStyle/>
          <a:p>
            <a:r>
              <a:rPr lang="en-GB" sz="2400" b="1" dirty="0"/>
              <a:t>Trend:</a:t>
            </a:r>
            <a:r>
              <a:rPr lang="en-GB" sz="2400" dirty="0"/>
              <a:t> Long-term increase or decrease in demand</a:t>
            </a:r>
          </a:p>
          <a:p>
            <a:r>
              <a:rPr lang="en-GB" sz="2400" b="1" dirty="0"/>
              <a:t>Seasonality:</a:t>
            </a:r>
            <a:r>
              <a:rPr lang="en-GB" sz="2400" dirty="0"/>
              <a:t> Repeating patterns over time (e.g., weekly, yearly)</a:t>
            </a:r>
          </a:p>
          <a:p>
            <a:r>
              <a:rPr lang="en-GB" sz="2400" dirty="0"/>
              <a:t>Helps understand demand </a:t>
            </a:r>
            <a:r>
              <a:rPr lang="en-GB" sz="2400" dirty="0" err="1"/>
              <a:t>behavior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88F27C-84BF-E846-D355-CFBD36E6F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00EAE-57E6-1C07-136C-81B92ACA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87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Demand Variability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273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Demand does not stay constant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800" dirty="0"/>
              <a:t>Can change due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Customer </a:t>
            </a:r>
            <a:r>
              <a:rPr lang="en-GB" sz="2400" dirty="0" err="1"/>
              <a:t>behavior</a:t>
            </a:r>
            <a:endParaRPr lang="en-GB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400" dirty="0"/>
              <a:t>External factors (weather, economy)</a:t>
            </a:r>
          </a:p>
          <a:p>
            <a:r>
              <a:rPr lang="en-GB" sz="2800" dirty="0"/>
              <a:t>High variability increases planning difficulty</a:t>
            </a:r>
            <a:endParaRPr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B69296-4ABF-72DB-93E4-302005EB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41D50-59B5-4487-80D1-FE64274E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18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Inventory Concepts: Safety Stock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273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Extra inventory kept to avoid stockouts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Used when demand is uncertain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Helps maintain service 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Too much → high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Too little → risk of shortage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3D5D53-23EF-8915-99BA-3A407BC9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E9CE95-AFD7-D41F-1B44-CDA4B1FA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Inventory Concepts: Lead Time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273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Time between ordering and receiving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Includes production and delivery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Important for planning replenishment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Longer lead time = higher uncertainty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33435-3020-C9F2-5795-A2812F844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Zainab </a:t>
            </a:r>
            <a:r>
              <a:rPr lang="en-GB" sz="1200" dirty="0" err="1">
                <a:effectLst/>
                <a:latin typeface="Poppins" pitchFamily="2" charset="77"/>
              </a:rPr>
              <a:t>Nashitah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53ED1-A798-60DD-3B3E-495F1DC2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A74C-A622-9811-3099-A43FEDB08C9E}"/>
              </a:ext>
            </a:extLst>
          </p:cNvPr>
          <p:cNvSpPr txBox="1"/>
          <p:nvPr/>
        </p:nvSpPr>
        <p:spPr>
          <a:xfrm>
            <a:off x="1753496" y="2967335"/>
            <a:ext cx="5637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400" dirty="0"/>
              <a:t>Dataset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02D30-44C2-A318-FE70-EFA09F22D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71FA6-8B77-CB95-2E59-28957AF20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92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</a:t>
            </a:r>
            <a:r>
              <a:rPr lang="en-US" dirty="0"/>
              <a:t>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65630"/>
          </a:xfrm>
        </p:spPr>
        <p:txBody>
          <a:bodyPr>
            <a:normAutofit/>
          </a:bodyPr>
          <a:lstStyle/>
          <a:p>
            <a:pPr algn="l" fontAlgn="base"/>
            <a:r>
              <a:rPr lang="en-GB" sz="2400" b="1" i="0" u="none" strike="noStrike" dirty="0">
                <a:solidFill>
                  <a:srgbClr val="202124"/>
                </a:solidFill>
                <a:effectLst/>
              </a:rPr>
              <a:t>Title: </a:t>
            </a:r>
            <a:r>
              <a:rPr lang="en-GB" sz="2400" i="0" u="none" strike="noStrike" dirty="0">
                <a:solidFill>
                  <a:srgbClr val="202124"/>
                </a:solidFill>
                <a:effectLst/>
              </a:rPr>
              <a:t>Forecasts for Product Demand</a:t>
            </a:r>
          </a:p>
          <a:p>
            <a:r>
              <a:rPr lang="en-GB" sz="2400" b="1" dirty="0"/>
              <a:t>Source: </a:t>
            </a:r>
            <a:r>
              <a:rPr lang="en-GB" sz="2400" dirty="0">
                <a:hlinkClick r:id="rId2"/>
              </a:rPr>
              <a:t>https://www.kaggle.com/datasets/felixzhao/productdemandforecasting</a:t>
            </a:r>
            <a:endParaRPr lang="en-GB" sz="2400" dirty="0"/>
          </a:p>
          <a:p>
            <a:r>
              <a:rPr lang="en-GB" sz="2400" b="1" dirty="0"/>
              <a:t>Content: </a:t>
            </a:r>
            <a:r>
              <a:rPr lang="en-GB" sz="2400" i="0" u="none" strike="noStrike" dirty="0">
                <a:solidFill>
                  <a:srgbClr val="3C4043"/>
                </a:solidFill>
                <a:effectLst/>
              </a:rPr>
              <a:t>Historical Product </a:t>
            </a:r>
            <a:r>
              <a:rPr lang="en-GB" sz="2400" i="0" u="none" strike="noStrike" dirty="0" err="1">
                <a:solidFill>
                  <a:srgbClr val="3C4043"/>
                </a:solidFill>
                <a:effectLst/>
              </a:rPr>
              <a:t>Demand.csv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C11C2-810F-05D5-C489-78EEF682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0D455-5A3C-5994-7066-EFBFF5DC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</a:t>
            </a:r>
            <a:r>
              <a:rPr lang="en-US" dirty="0"/>
              <a:t>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77408"/>
          </a:xfrm>
        </p:spPr>
        <p:txBody>
          <a:bodyPr>
            <a:noAutofit/>
          </a:bodyPr>
          <a:lstStyle/>
          <a:p>
            <a:pPr algn="l" fontAlgn="base"/>
            <a:r>
              <a:rPr lang="en-GB" sz="2400" dirty="0"/>
              <a:t>Historical product demand from a global manufacturing company</a:t>
            </a:r>
          </a:p>
          <a:p>
            <a:pPr algn="l" fontAlgn="base"/>
            <a:r>
              <a:rPr lang="en-GB" sz="2400" dirty="0"/>
              <a:t>Thousands of products across multiple product categories</a:t>
            </a:r>
          </a:p>
          <a:p>
            <a:pPr algn="l" fontAlgn="base"/>
            <a:r>
              <a:rPr lang="en-GB" sz="2400" dirty="0"/>
              <a:t>Four central warehouses responsible for regional distribution</a:t>
            </a:r>
          </a:p>
          <a:p>
            <a:pPr algn="l" fontAlgn="base"/>
            <a:r>
              <a:rPr lang="en-GB" sz="2400" dirty="0"/>
              <a:t>Products are shipped globally with long lead times (over one month)</a:t>
            </a:r>
          </a:p>
          <a:p>
            <a:pPr algn="l" fontAlgn="base"/>
            <a:r>
              <a:rPr lang="en-GB" sz="2400" dirty="0"/>
              <a:t>Accurate demand forecasting helps improve planning and reduce costs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69E08-258B-D4A3-0382-48F7E219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DFD39-BCD5-D278-4BB3-01AEACB97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51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04E0-805F-7D5A-C489-A8DF6ED5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Data Understanding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9A7C7A-5BB8-7749-90B9-FFE2DCF8DE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B2F6C-1704-CC7B-8985-41F575127B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DE" dirty="0"/>
              <a:t>Product_Code</a:t>
            </a:r>
          </a:p>
          <a:p>
            <a:r>
              <a:rPr lang="en-DE" dirty="0"/>
              <a:t>Warehouse</a:t>
            </a:r>
          </a:p>
          <a:p>
            <a:r>
              <a:rPr lang="en-DE" dirty="0"/>
              <a:t>Product_Category</a:t>
            </a:r>
          </a:p>
          <a:p>
            <a:r>
              <a:rPr lang="en-DE" dirty="0"/>
              <a:t>Date</a:t>
            </a:r>
          </a:p>
          <a:p>
            <a:r>
              <a:rPr lang="en-DE" dirty="0"/>
              <a:t>Order_Demand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6D7260-C499-139F-D016-BAC68B41C1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Characteristics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17E6B-BEC7-DF19-BB82-3F2E6BCC30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Demand values show high variability</a:t>
            </a:r>
          </a:p>
          <a:p>
            <a:r>
              <a:rPr lang="en-DE" dirty="0"/>
              <a:t>High skewed</a:t>
            </a:r>
          </a:p>
          <a:p>
            <a:r>
              <a:rPr lang="en-DE" dirty="0"/>
              <a:t>Intermittent behaviors</a:t>
            </a:r>
          </a:p>
          <a:p>
            <a:pPr lvl="1"/>
            <a:r>
              <a:rPr lang="en-GB" dirty="0"/>
              <a:t>S</a:t>
            </a:r>
            <a:r>
              <a:rPr lang="en-DE" dirty="0"/>
              <a:t>udden spikes</a:t>
            </a:r>
          </a:p>
          <a:p>
            <a:r>
              <a:rPr lang="en-DE" dirty="0"/>
              <a:t>Demand differs across warehouses</a:t>
            </a:r>
          </a:p>
          <a:p>
            <a:pPr marL="457200" lvl="1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0840938-4A7E-C250-CE32-562E2A58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May Zin Ko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B4A26C-CA33-7B0F-0BE2-45D2D998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11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Data Quality &amp; Structure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143816"/>
          </a:xfrm>
        </p:spPr>
        <p:txBody>
          <a:bodyPr>
            <a:normAutofit/>
          </a:bodyPr>
          <a:lstStyle/>
          <a:p>
            <a:r>
              <a:rPr lang="en-GB" sz="2400" dirty="0"/>
              <a:t>Presence of missing values in some records</a:t>
            </a:r>
          </a:p>
          <a:p>
            <a:r>
              <a:rPr lang="en-GB" sz="2400" dirty="0"/>
              <a:t>Inconsistent formatting in demand values (e.g., spaces)</a:t>
            </a:r>
          </a:p>
          <a:p>
            <a:r>
              <a:rPr lang="en-GB" sz="2400" dirty="0"/>
              <a:t>Requires data cleaning and </a:t>
            </a:r>
            <a:r>
              <a:rPr lang="en-GB" sz="2400" dirty="0" err="1"/>
              <a:t>preprocessing</a:t>
            </a:r>
            <a:endParaRPr lang="en-GB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09364-AB87-8169-543C-193CC79E7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6BE53-6285-149A-4E3B-103D922F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331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Preparation</a:t>
            </a:r>
            <a:r>
              <a:rPr lang="en-US" dirty="0"/>
              <a:t>: Cleaning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589027"/>
          </a:xfrm>
        </p:spPr>
        <p:txBody>
          <a:bodyPr>
            <a:normAutofit/>
          </a:bodyPr>
          <a:lstStyle/>
          <a:p>
            <a:r>
              <a:rPr lang="en-GB" dirty="0"/>
              <a:t>Cleaning </a:t>
            </a:r>
            <a:r>
              <a:rPr lang="en-GB" dirty="0" err="1"/>
              <a:t>Order_Demand</a:t>
            </a:r>
            <a:r>
              <a:rPr lang="en-GB" dirty="0"/>
              <a:t> values</a:t>
            </a:r>
          </a:p>
          <a:p>
            <a:r>
              <a:rPr lang="en-GB" dirty="0"/>
              <a:t>Converted to numeric format if necessary</a:t>
            </a:r>
          </a:p>
          <a:p>
            <a:r>
              <a:rPr lang="en-GB" dirty="0"/>
              <a:t>Ensuring data consistency</a:t>
            </a:r>
          </a:p>
          <a:p>
            <a:r>
              <a:rPr lang="en-GB" dirty="0"/>
              <a:t>Remove duplications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12ADE1-19B3-90EA-B3DC-A324662DE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1C747-ED77-7556-CBC7-99C77634B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Preparation</a:t>
            </a:r>
            <a:r>
              <a:rPr lang="en-US" dirty="0"/>
              <a:t>: Date Format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20774"/>
          </a:xfrm>
        </p:spPr>
        <p:txBody>
          <a:bodyPr>
            <a:normAutofit/>
          </a:bodyPr>
          <a:lstStyle/>
          <a:p>
            <a:r>
              <a:rPr lang="en-GB" sz="2400" dirty="0"/>
              <a:t>Converted </a:t>
            </a:r>
            <a:r>
              <a:rPr lang="en-GB" sz="2400" b="1" dirty="0"/>
              <a:t>Date</a:t>
            </a:r>
            <a:r>
              <a:rPr lang="en-GB" sz="2400" dirty="0"/>
              <a:t> column to proper datetime format</a:t>
            </a:r>
          </a:p>
          <a:p>
            <a:r>
              <a:rPr lang="en-GB" sz="2400" dirty="0"/>
              <a:t>Standardized date format for analysis</a:t>
            </a:r>
          </a:p>
          <a:p>
            <a:r>
              <a:rPr lang="en-GB" sz="2400" dirty="0"/>
              <a:t>Enabled time-based analysis (trend, patterns)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59D9F-D74B-0FAA-9D39-1CE89C49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0F1AD-4DEB-DA9E-23C7-C5A1C29C7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43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Preparation</a:t>
            </a:r>
            <a:r>
              <a:rPr lang="en-US" dirty="0"/>
              <a:t>: Missing Values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20774"/>
          </a:xfrm>
        </p:spPr>
        <p:txBody>
          <a:bodyPr>
            <a:normAutofit/>
          </a:bodyPr>
          <a:lstStyle/>
          <a:p>
            <a:r>
              <a:rPr lang="en-GB" sz="2400" dirty="0"/>
              <a:t>Identified missing values in dataset</a:t>
            </a:r>
          </a:p>
          <a:p>
            <a:r>
              <a:rPr lang="en-GB" sz="2400" dirty="0"/>
              <a:t>Removed or handled incomplete records</a:t>
            </a:r>
          </a:p>
          <a:p>
            <a:r>
              <a:rPr lang="en-GB" sz="2400" dirty="0"/>
              <a:t>Ensured dataset is clean and usable for analysis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551C30-69DF-3003-7DC5-33ADDDE3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AFD491-0CFB-6611-D3CA-E87AB107E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467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Descriptive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Overall Demand Trend</a:t>
            </a:r>
            <a:endParaRPr dirty="0"/>
          </a:p>
          <a:p>
            <a:r>
              <a:rPr lang="en-US" dirty="0"/>
              <a:t>Demand by Product Category</a:t>
            </a:r>
            <a:endParaRPr dirty="0"/>
          </a:p>
          <a:p>
            <a:r>
              <a:rPr lang="en-US" dirty="0"/>
              <a:t>Demand by Warehouse</a:t>
            </a:r>
          </a:p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Intermittent Demand Pattern</a:t>
            </a:r>
          </a:p>
          <a:p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D9D5D-560E-5DE2-6E0A-3F4F99E7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25F62-DB59-6607-408B-59C5B10E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Analysis: </a:t>
            </a:r>
            <a:r>
              <a:rPr lang="en-US" dirty="0"/>
              <a:t>Overall Demand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Total demand </a:t>
            </a:r>
            <a:r>
              <a:rPr lang="en-GB" sz="2400" dirty="0" err="1"/>
              <a:t>analyzed</a:t>
            </a:r>
            <a:r>
              <a:rPr lang="en-GB" sz="2400" dirty="0"/>
              <a:t> over time</a:t>
            </a:r>
          </a:p>
          <a:p>
            <a:r>
              <a:rPr lang="en-GB" sz="2400" dirty="0"/>
              <a:t>Fluctuations observed across different periods</a:t>
            </a:r>
          </a:p>
          <a:p>
            <a:r>
              <a:rPr lang="en-GB" sz="2400" dirty="0"/>
              <a:t>No consistent upward or downward trend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4BC9DE-2971-8605-462E-266EEA7B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FCAEC-2015-4544-635E-831171A8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869BE3-99FE-AB21-F71A-B7503C06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856" y="3033159"/>
            <a:ext cx="5752213" cy="327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77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Analysis: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Demand by Product Category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6528391" cy="1143001"/>
          </a:xfrm>
        </p:spPr>
        <p:txBody>
          <a:bodyPr>
            <a:normAutofit/>
          </a:bodyPr>
          <a:lstStyle/>
          <a:p>
            <a:r>
              <a:rPr lang="en-GB" sz="2000" dirty="0"/>
              <a:t>Significant differences in demand across product category</a:t>
            </a:r>
          </a:p>
          <a:p>
            <a:r>
              <a:rPr lang="en-GB" sz="2000" dirty="0"/>
              <a:t>Some have consistently high demand</a:t>
            </a:r>
          </a:p>
          <a:p>
            <a:r>
              <a:rPr lang="en-GB" sz="2000" dirty="0"/>
              <a:t>Others show very low or irregular demand</a:t>
            </a:r>
            <a:endParaRPr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64D47-090A-19C2-5CCD-116C3F61D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3CA6-DB49-28CF-93F5-C6875FC8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EE702-1DF3-E035-6C7A-EE397A3AC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75" y="2849527"/>
            <a:ext cx="6528391" cy="31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Demand by Warehouse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Demand distribution differs across warehouses</a:t>
            </a:r>
          </a:p>
          <a:p>
            <a:r>
              <a:rPr lang="en-GB" sz="2400" dirty="0"/>
              <a:t>Some warehouses handle higher demand volumes</a:t>
            </a:r>
          </a:p>
          <a:p>
            <a:r>
              <a:rPr lang="en-GB" sz="2400" dirty="0"/>
              <a:t>Indicates location-based demand variation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65B29-5DBD-E88C-D2B8-0E2FD80B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1DDEDE-8290-07EC-1FE7-AC5A7826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692DF8-69BD-7D31-18D7-C44BF0570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930853"/>
            <a:ext cx="5239488" cy="331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365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Analysis: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Intermittent Demand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Sudden spikes occur occasionally</a:t>
            </a:r>
          </a:p>
          <a:p>
            <a:r>
              <a:rPr lang="en-GB" sz="2400" dirty="0"/>
              <a:t>Demand is continuous </a:t>
            </a:r>
            <a:r>
              <a:rPr lang="en-GB" sz="2400"/>
              <a:t>warehouse level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8AD3A-D707-00A2-53EC-B34DD3F7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DE" dirty="0"/>
              <a:t>May Zin Ko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3ECEF-AE2F-2F4F-C8D0-D715E1817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E637B1-88FD-9251-563B-019FDA87E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44" y="2916127"/>
            <a:ext cx="6831210" cy="321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93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A74C-A622-9811-3099-A43FEDB08C9E}"/>
              </a:ext>
            </a:extLst>
          </p:cNvPr>
          <p:cNvSpPr txBox="1"/>
          <p:nvPr/>
        </p:nvSpPr>
        <p:spPr>
          <a:xfrm>
            <a:off x="1753496" y="2967335"/>
            <a:ext cx="5637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400" dirty="0"/>
              <a:t>ML Algorithms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4207F9-6FF9-751E-D26D-F4B3A7D5D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C57A6-3A0B-600E-319A-657E3CBA5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8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ML Algorithms (Overview)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Moving Average Models</a:t>
            </a:r>
          </a:p>
          <a:p>
            <a:r>
              <a:rPr lang="en-US" dirty="0"/>
              <a:t>Trend Analysis</a:t>
            </a:r>
          </a:p>
          <a:p>
            <a:r>
              <a:rPr lang="en-US" dirty="0"/>
              <a:t>Forecasting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9C039-DD3D-E5B2-33D5-CA03FDAF6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DC97A-F6AF-9754-B7E3-605888B52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Moving Average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Calculates average demand over a selected time window</a:t>
            </a:r>
          </a:p>
          <a:p>
            <a:r>
              <a:rPr lang="en-GB" sz="2400" dirty="0"/>
              <a:t>Smooths short-term fluctuations in demand</a:t>
            </a:r>
          </a:p>
          <a:p>
            <a:r>
              <a:rPr lang="en-GB" sz="2400" dirty="0"/>
              <a:t>Helps identify underlying patterns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46E1FB-AF3F-86D4-E28C-91E4F88F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7CAD5-0BF2-0F56-CEF9-3D238AC2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Trend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Examines long-term movement in demand</a:t>
            </a:r>
          </a:p>
          <a:p>
            <a:r>
              <a:rPr lang="en-GB" sz="2400" dirty="0"/>
              <a:t>Identifies increasing or decreasing patterns</a:t>
            </a:r>
          </a:p>
          <a:p>
            <a:r>
              <a:rPr lang="en-GB" sz="2400" dirty="0"/>
              <a:t>Supports better understanding of demand </a:t>
            </a:r>
            <a:r>
              <a:rPr lang="en-GB" sz="2400" dirty="0" err="1"/>
              <a:t>behavior</a:t>
            </a:r>
            <a:endParaRPr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5822F-F142-F2DC-5CFB-3B0EB066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86A317-7142-F3DD-55C2-6B803F6E8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211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Forecasting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Uses historical demand to estimate future demand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Based on simple methods (e.g., average, trends)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</a:rPr>
              <a:t>Provides initial insights for planning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75329-3ACB-0800-B7DC-A2055814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BC63F-081F-86B3-DFCE-DEB594DC3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74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A74C-A622-9811-3099-A43FEDB08C9E}"/>
              </a:ext>
            </a:extLst>
          </p:cNvPr>
          <p:cNvSpPr txBox="1"/>
          <p:nvPr/>
        </p:nvSpPr>
        <p:spPr>
          <a:xfrm>
            <a:off x="1753496" y="2967335"/>
            <a:ext cx="5637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400" dirty="0"/>
              <a:t>Next Steps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E662F-C083-9B0E-1044-1107D6BA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154DC-8454-9AD6-3C46-B4C9A445A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946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Short-Term (Next Phase)</a:t>
            </a:r>
          </a:p>
          <a:p>
            <a:pPr lvl="1"/>
            <a:r>
              <a:rPr lang="en-GB" sz="2400" dirty="0"/>
              <a:t>Apply advanced forecasting models</a:t>
            </a:r>
          </a:p>
          <a:p>
            <a:pPr lvl="1"/>
            <a:r>
              <a:rPr lang="en-GB" sz="2400" dirty="0"/>
              <a:t>Improve accuracy of demand prediction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Mid-Term</a:t>
            </a:r>
          </a:p>
          <a:p>
            <a:pPr lvl="1"/>
            <a:r>
              <a:rPr lang="en-GB" sz="2400" dirty="0"/>
              <a:t>Develop better inventory and replenishment strategies</a:t>
            </a:r>
          </a:p>
          <a:p>
            <a:pPr lvl="1"/>
            <a:r>
              <a:rPr lang="en-GB" sz="2400" dirty="0"/>
              <a:t>Optimize stock levels across warehouses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Long-Term</a:t>
            </a:r>
          </a:p>
          <a:p>
            <a:pPr lvl="1"/>
            <a:r>
              <a:rPr lang="en-GB" sz="2400" dirty="0"/>
              <a:t>Integrate real-time demand data</a:t>
            </a:r>
          </a:p>
          <a:p>
            <a:pPr lvl="1"/>
            <a:r>
              <a:rPr lang="en-GB" sz="2400" dirty="0"/>
              <a:t>Support continuous and data-driven decision making</a:t>
            </a:r>
            <a:endParaRPr lang="en-DE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ADFA16-2F03-9171-7ABF-61F78C3B8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effectLst/>
                <a:latin typeface="Poppins" pitchFamily="2" charset="77"/>
              </a:rPr>
              <a:t>Louis </a:t>
            </a:r>
            <a:r>
              <a:rPr lang="en-GB" sz="1200" dirty="0" err="1">
                <a:effectLst/>
                <a:latin typeface="Poppins" pitchFamily="2" charset="77"/>
              </a:rPr>
              <a:t>Odinkemelu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DE208-9DDE-EF7F-065B-043C6C977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5A74C-A622-9811-3099-A43FEDB08C9E}"/>
              </a:ext>
            </a:extLst>
          </p:cNvPr>
          <p:cNvSpPr txBox="1"/>
          <p:nvPr/>
        </p:nvSpPr>
        <p:spPr>
          <a:xfrm>
            <a:off x="1753496" y="2967335"/>
            <a:ext cx="56370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5400" dirty="0"/>
              <a:t>Thank you.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74D8D7-2BBB-34A8-0C37-44AEBDE4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86D1A-9227-5F0A-6083-AFB93F67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82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1073</Words>
  <Application>Microsoft Macintosh PowerPoint</Application>
  <PresentationFormat>On-screen Show (4:3)</PresentationFormat>
  <Paragraphs>290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-webkit-standard</vt:lpstr>
      <vt:lpstr>Arial</vt:lpstr>
      <vt:lpstr>Calibri</vt:lpstr>
      <vt:lpstr>Poppins</vt:lpstr>
      <vt:lpstr>Wingdings</vt:lpstr>
      <vt:lpstr>Office Theme</vt:lpstr>
      <vt:lpstr>Demand Management Using Historical Product Demand Data</vt:lpstr>
      <vt:lpstr>Table of Contents</vt:lpstr>
      <vt:lpstr>PowerPoint Presentation</vt:lpstr>
      <vt:lpstr>IDEA &amp; Scope</vt:lpstr>
      <vt:lpstr>Objectives</vt:lpstr>
      <vt:lpstr>Tasks &amp; Milestones</vt:lpstr>
      <vt:lpstr>What are we deliver?</vt:lpstr>
      <vt:lpstr>PowerPoint Presentation</vt:lpstr>
      <vt:lpstr>Business Understanding</vt:lpstr>
      <vt:lpstr>Problem Statement</vt:lpstr>
      <vt:lpstr>Goal</vt:lpstr>
      <vt:lpstr>Why this Matters?</vt:lpstr>
      <vt:lpstr>Stakeholders</vt:lpstr>
      <vt:lpstr>Theoretical Background</vt:lpstr>
      <vt:lpstr>What is Demand Management?</vt:lpstr>
      <vt:lpstr>Importance of Demand Management</vt:lpstr>
      <vt:lpstr>Forecasting vs Demand Planning</vt:lpstr>
      <vt:lpstr>Intermittent Demand</vt:lpstr>
      <vt:lpstr>Characteristics of Intermittent Demand</vt:lpstr>
      <vt:lpstr>Time Series Data</vt:lpstr>
      <vt:lpstr>Trend and Seasonality</vt:lpstr>
      <vt:lpstr>Demand Variability</vt:lpstr>
      <vt:lpstr>Inventory Concepts: Safety Stock</vt:lpstr>
      <vt:lpstr>Inventory Concepts: Lead Time</vt:lpstr>
      <vt:lpstr>PowerPoint Presentation</vt:lpstr>
      <vt:lpstr>Dataset Overview</vt:lpstr>
      <vt:lpstr>Dataset Description</vt:lpstr>
      <vt:lpstr>Data Understanding</vt:lpstr>
      <vt:lpstr>Data Quality &amp; Structure</vt:lpstr>
      <vt:lpstr>Data Preparation: Cleaning</vt:lpstr>
      <vt:lpstr>Data Preparation: Date Format</vt:lpstr>
      <vt:lpstr>Data Preparation: Missing Values</vt:lpstr>
      <vt:lpstr>Descriptive Analysis</vt:lpstr>
      <vt:lpstr>Analysis: Overall Demand Trend</vt:lpstr>
      <vt:lpstr>Analysis: Demand by Product Category</vt:lpstr>
      <vt:lpstr>Analysis: Demand by Warehouse</vt:lpstr>
      <vt:lpstr>Analysis: Intermittent Demand Pattern</vt:lpstr>
      <vt:lpstr>PowerPoint Presentation</vt:lpstr>
      <vt:lpstr>ML Algorithms (Overview)</vt:lpstr>
      <vt:lpstr>Moving Average</vt:lpstr>
      <vt:lpstr>Trend Analysis</vt:lpstr>
      <vt:lpstr>Forecasting</vt:lpstr>
      <vt:lpstr>PowerPoint Presentation</vt:lpstr>
      <vt:lpstr>Next Steps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Management for Spare Parts Using Historical Product Demand Data</dc:title>
  <dc:subject/>
  <dc:creator/>
  <cp:keywords/>
  <dc:description>generated using python-pptx</dc:description>
  <cp:lastModifiedBy>May Zin Ko</cp:lastModifiedBy>
  <cp:revision>28</cp:revision>
  <dcterms:created xsi:type="dcterms:W3CDTF">2013-01-27T09:14:16Z</dcterms:created>
  <dcterms:modified xsi:type="dcterms:W3CDTF">2026-04-11T18:41:26Z</dcterms:modified>
  <cp:category/>
</cp:coreProperties>
</file>